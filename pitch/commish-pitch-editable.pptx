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Bryan, and this is Commish. When a creator sends a buyer to a shop, the commission they earn is a promise in the brand's spreadsheet. Commish turns it into money locked on Solana the moment the sale is recorded, and paid out in USDC when the refund window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biggest affiliate program there is. Amazon pays commission about sixty days after the end of the month it was earned [S1]. A sale on January 2nd becomes money around the end of March. And until the brand pays, the creator has nothing but the brand's word that it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Brands don't wait to be difficult. About nineteen percent of online sales in the US come back [S2], and nobody wants to pay commission on a refund. So the hold is fair. What's missing is a guarantee: during that hold, the money is still the brand's to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changes. A brand funds a campaign vault in USDC. When a referred order is paid, the brand's server records it, and the program sets aside the creator's cut in its own account. From then on the brand can withdraw everything except what it owes. A refund inside the window cancels the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The attestor records the sale, and the program computes the cut, not the caller. The commission sits through the refund window. Then anyone can release it, the creator or a bot, and the money can only land in the payee's own USDC account. If this website went offline tomorrow, creators could still collect.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pending commission is money owed on a known date, so it can be sold. Here the creator sells a twenty-five dollar commission for 24.25 and is paid right away. The buyer becomes the payee, collects the full amount at release, and takes over the refund risk. It all settles in one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it is one Solana program written with Pinocchio: 9,296 bytes, small enough that deploying it to mainnet costs under 0.05 SOL. Each rule here is checked on-chain, and the test suite has an attack for each one that has to fail. A transaction's base fee is 5,000 lamports per signature [S6], cheap enough to run for every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checked before building. Colosseum's project search turns up eight earlier Solana affiliate or referral projects, and none placed [S7]. Three of them promised instant payouts, which no brand accepts while one online order in five comes back. Commish keeps the refund window brands already use, and guarantees the money inside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 affiliate spend alone is forecast at about fourteen billion dollars this year [S3], and Goldman Sachs counts fifty million creators worldwide [S4]. Our own plan is a one percent fee on each payout. If one percent of US affiliate spend settled through Commish, that's about 1.4 million dollars a year. Dollar stablecoins have had a US law behind them since July 2025 [S5].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Bryan Kwandou. I built Commish on my own: the program, the app in four languages and the tests, across five days of public commits. I also publish open-source tools for decks, writing and video editing. The code is the proof, and all of it is on GitHub. The next step is real campaigns.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plan. The program and the app are done. Next is the mainnet deploy and a first live campaign, then ten pilots with Solana apps that already pay creators and hold USDC. After that, an audit and a Shopify integration through order webhooks. If you run an affiliate program, try it at getcommish.vercel.app.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E"/>
        </a:solidFill>
      </p:bgPr>
    </p:bg>
    <p:spTree>
      <p:nvGrpSpPr>
        <p:cNvPr id="1" name=""/>
        <p:cNvGrpSpPr/>
        <p:nvPr/>
      </p:nvGrpSpPr>
      <p:grpSpPr>
        <a:xfrm>
          <a:off x="0" y="0"/>
          <a:ext cx="0" cy="0"/>
          <a:chOff x="0" y="0"/>
          <a:chExt cx="0" cy="0"/>
        </a:xfrm>
      </p:grpSpPr>
      <p:pic>
        <p:nvPicPr>
          <p:cNvPr id="2" name="Image 0" descr="/home/user/commish/pitch/pptx/slides/imgs/mark.png">    </p:cNvPr>
          <p:cNvPicPr>
            <a:picLocks noChangeAspect="1"/>
          </p:cNvPicPr>
          <p:nvPr/>
        </p:nvPicPr>
        <p:blipFill>
          <a:blip r:embed="rId1"/>
          <a:stretch>
            <a:fillRect/>
          </a:stretch>
        </p:blipFill>
        <p:spPr>
          <a:xfrm>
            <a:off x="3730752" y="960120"/>
            <a:ext cx="457200" cy="457200"/>
          </a:xfrm>
          <a:prstGeom prst="rect">
            <a:avLst/>
          </a:prstGeom>
        </p:spPr>
      </p:pic>
      <p:sp>
        <p:nvSpPr>
          <p:cNvPr id="3" name="Text 0"/>
          <p:cNvSpPr/>
          <p:nvPr/>
        </p:nvSpPr>
        <p:spPr>
          <a:xfrm>
            <a:off x="4279392" y="960120"/>
            <a:ext cx="1463040" cy="457200"/>
          </a:xfrm>
          <a:prstGeom prst="rect">
            <a:avLst/>
          </a:prstGeom>
          <a:noFill/>
          <a:ln/>
        </p:spPr>
        <p:txBody>
          <a:bodyPr wrap="square" lIns="0" tIns="0" rIns="0" bIns="0" rtlCol="0" anchor="ctr"/>
          <a:lstStyle/>
          <a:p>
            <a:pPr indent="0" marL="0">
              <a:buNone/>
            </a:pPr>
            <a:r>
              <a:rPr lang="en-US" sz="2200" b="1" dirty="0">
                <a:solidFill>
                  <a:srgbClr val="F4F4F5"/>
                </a:solidFill>
                <a:latin typeface="Arial" pitchFamily="34" charset="0"/>
                <a:ea typeface="Arial" pitchFamily="34" charset="-122"/>
                <a:cs typeface="Arial" pitchFamily="34" charset="-120"/>
              </a:rPr>
              <a:t>commish</a:t>
            </a:r>
            <a:endParaRPr lang="en-US" sz="2200" dirty="0"/>
          </a:p>
        </p:txBody>
      </p:sp>
      <p:sp>
        <p:nvSpPr>
          <p:cNvPr id="4" name="Text 1"/>
          <p:cNvSpPr/>
          <p:nvPr/>
        </p:nvSpPr>
        <p:spPr>
          <a:xfrm>
            <a:off x="914400" y="1572768"/>
            <a:ext cx="7315200" cy="1463040"/>
          </a:xfrm>
          <a:prstGeom prst="rect">
            <a:avLst/>
          </a:prstGeom>
          <a:noFill/>
          <a:ln/>
        </p:spPr>
        <p:txBody>
          <a:bodyPr wrap="square" lIns="0" tIns="0" rIns="0" bIns="0" rtlCol="0" anchor="ctr">
            <a:normAutofit/>
          </a:bodyPr>
          <a:lstStyle/>
          <a:p>
            <a:pPr algn="ctr" indent="0" marL="0">
              <a:buNone/>
            </a:pPr>
            <a:r>
              <a:rPr lang="en-US" sz="3600" b="1" dirty="0">
                <a:solidFill>
                  <a:srgbClr val="F4F4F5"/>
                </a:solidFill>
                <a:latin typeface="Arial" pitchFamily="34" charset="0"/>
                <a:ea typeface="Arial" pitchFamily="34" charset="-122"/>
                <a:cs typeface="Arial" pitchFamily="34" charset="-120"/>
              </a:rPr>
              <a:t>Affiliate commissions</a:t>
            </a:r>
            <a:endParaRPr lang="en-US" sz="3600" dirty="0"/>
          </a:p>
          <a:p>
            <a:pPr algn="ctr" indent="0" marL="0">
              <a:buNone/>
            </a:pPr>
            <a:r>
              <a:rPr lang="en-US" sz="3600" b="1" dirty="0">
                <a:solidFill>
                  <a:srgbClr val="F4F4F5"/>
                </a:solidFill>
                <a:latin typeface="Arial" pitchFamily="34" charset="0"/>
                <a:ea typeface="Arial" pitchFamily="34" charset="-122"/>
                <a:cs typeface="Arial" pitchFamily="34" charset="-120"/>
              </a:rPr>
              <a:t>that pay themselves,</a:t>
            </a:r>
            <a:endParaRPr lang="en-US" sz="3600" dirty="0"/>
          </a:p>
          <a:p>
            <a:pPr algn="ctr" indent="0" marL="0">
              <a:buNone/>
            </a:pPr>
            <a:r>
              <a:rPr lang="en-US" sz="3600" b="1" dirty="0">
                <a:solidFill>
                  <a:srgbClr val="F4F4F5"/>
                </a:solidFill>
                <a:latin typeface="Arial" pitchFamily="34" charset="0"/>
                <a:ea typeface="Arial" pitchFamily="34" charset="-122"/>
                <a:cs typeface="Arial" pitchFamily="34" charset="-120"/>
              </a:rPr>
              <a:t>settled in USDC on Solana.</a:t>
            </a:r>
            <a:endParaRPr lang="en-US" sz="3600" dirty="0"/>
          </a:p>
        </p:txBody>
      </p:sp>
      <p:sp>
        <p:nvSpPr>
          <p:cNvPr id="5" name="Text 2"/>
          <p:cNvSpPr/>
          <p:nvPr/>
        </p:nvSpPr>
        <p:spPr>
          <a:xfrm>
            <a:off x="914400" y="3127248"/>
            <a:ext cx="7315200" cy="320040"/>
          </a:xfrm>
          <a:prstGeom prst="rect">
            <a:avLst/>
          </a:prstGeom>
          <a:noFill/>
          <a:ln/>
        </p:spPr>
        <p:txBody>
          <a:bodyPr wrap="square" lIns="0" tIns="0" rIns="0" bIns="0" rtlCol="0" anchor="ctr"/>
          <a:lstStyle/>
          <a:p>
            <a:pPr algn="ctr" indent="0" marL="0">
              <a:buNone/>
            </a:pPr>
            <a:r>
              <a:rPr lang="en-US" sz="1300" dirty="0">
                <a:solidFill>
                  <a:srgbClr val="A1A1AA"/>
                </a:solidFill>
                <a:latin typeface="Arial" pitchFamily="34" charset="0"/>
                <a:ea typeface="Arial" pitchFamily="34" charset="-122"/>
                <a:cs typeface="Arial" pitchFamily="34" charset="-120"/>
              </a:rPr>
              <a:t>Bryan Kwandou, founder · Colosseum Crypto World's Fair</a:t>
            </a:r>
            <a:endParaRPr lang="en-US" sz="1300" dirty="0"/>
          </a:p>
        </p:txBody>
      </p:sp>
      <p:sp>
        <p:nvSpPr>
          <p:cNvPr id="6" name="Shape 3"/>
          <p:cNvSpPr/>
          <p:nvPr/>
        </p:nvSpPr>
        <p:spPr>
          <a:xfrm>
            <a:off x="2857500" y="3611880"/>
            <a:ext cx="1051560" cy="329184"/>
          </a:xfrm>
          <a:prstGeom prst="roundRect">
            <a:avLst>
              <a:gd name="adj" fmla="val 50000"/>
            </a:avLst>
          </a:prstGeom>
          <a:solidFill>
            <a:srgbClr val="0B0B0E"/>
          </a:solidFill>
          <a:ln w="12700">
            <a:solidFill>
              <a:srgbClr val="A1A1AA"/>
            </a:solidFill>
            <a:prstDash val="solid"/>
          </a:ln>
        </p:spPr>
      </p:sp>
      <p:sp>
        <p:nvSpPr>
          <p:cNvPr id="7" name="Text 4"/>
          <p:cNvSpPr/>
          <p:nvPr/>
        </p:nvSpPr>
        <p:spPr>
          <a:xfrm>
            <a:off x="2857500" y="3611880"/>
            <a:ext cx="1051560" cy="329184"/>
          </a:xfrm>
          <a:prstGeom prst="rect">
            <a:avLst/>
          </a:prstGeom>
          <a:noFill/>
          <a:ln/>
        </p:spPr>
        <p:txBody>
          <a:bodyPr wrap="square" lIns="0" tIns="0" rIns="0" bIns="0" rtlCol="0" anchor="ctr"/>
          <a:lstStyle/>
          <a:p>
            <a:pPr algn="ctr" indent="0" marL="0">
              <a:buNone/>
            </a:pPr>
            <a:r>
              <a:rPr lang="en-US" sz="1100" b="1" dirty="0">
                <a:solidFill>
                  <a:srgbClr val="A1A1AA"/>
                </a:solidFill>
                <a:latin typeface="Arial" pitchFamily="34" charset="0"/>
                <a:ea typeface="Arial" pitchFamily="34" charset="-122"/>
                <a:cs typeface="Arial" pitchFamily="34" charset="-120"/>
              </a:rPr>
              <a:t>Recorded</a:t>
            </a:r>
            <a:endParaRPr lang="en-US" sz="1100" dirty="0"/>
          </a:p>
        </p:txBody>
      </p:sp>
      <p:sp>
        <p:nvSpPr>
          <p:cNvPr id="8" name="Shape 5"/>
          <p:cNvSpPr/>
          <p:nvPr/>
        </p:nvSpPr>
        <p:spPr>
          <a:xfrm>
            <a:off x="4046220" y="3611880"/>
            <a:ext cx="1051560" cy="329184"/>
          </a:xfrm>
          <a:prstGeom prst="roundRect">
            <a:avLst>
              <a:gd name="adj" fmla="val 50000"/>
            </a:avLst>
          </a:prstGeom>
          <a:solidFill>
            <a:srgbClr val="0B0B0E"/>
          </a:solidFill>
          <a:ln w="12700">
            <a:solidFill>
              <a:srgbClr val="F5B544"/>
            </a:solidFill>
            <a:prstDash val="solid"/>
          </a:ln>
        </p:spPr>
      </p:sp>
      <p:sp>
        <p:nvSpPr>
          <p:cNvPr id="9" name="Text 6"/>
          <p:cNvSpPr/>
          <p:nvPr/>
        </p:nvSpPr>
        <p:spPr>
          <a:xfrm>
            <a:off x="4046220" y="3611880"/>
            <a:ext cx="1051560" cy="329184"/>
          </a:xfrm>
          <a:prstGeom prst="rect">
            <a:avLst/>
          </a:prstGeom>
          <a:noFill/>
          <a:ln/>
        </p:spPr>
        <p:txBody>
          <a:bodyPr wrap="square" lIns="0" tIns="0" rIns="0" bIns="0" rtlCol="0" anchor="ctr"/>
          <a:lstStyle/>
          <a:p>
            <a:pPr algn="ctr" indent="0" marL="0">
              <a:buNone/>
            </a:pPr>
            <a:r>
              <a:rPr lang="en-US" sz="1100" b="1" dirty="0">
                <a:solidFill>
                  <a:srgbClr val="F5B544"/>
                </a:solidFill>
                <a:latin typeface="Arial" pitchFamily="34" charset="0"/>
                <a:ea typeface="Arial" pitchFamily="34" charset="-122"/>
                <a:cs typeface="Arial" pitchFamily="34" charset="-120"/>
              </a:rPr>
              <a:t>Held</a:t>
            </a:r>
            <a:endParaRPr lang="en-US" sz="1100" dirty="0"/>
          </a:p>
        </p:txBody>
      </p:sp>
      <p:sp>
        <p:nvSpPr>
          <p:cNvPr id="10" name="Shape 7"/>
          <p:cNvSpPr/>
          <p:nvPr/>
        </p:nvSpPr>
        <p:spPr>
          <a:xfrm>
            <a:off x="5234940" y="3611880"/>
            <a:ext cx="1051560" cy="329184"/>
          </a:xfrm>
          <a:prstGeom prst="roundRect">
            <a:avLst>
              <a:gd name="adj" fmla="val 50000"/>
            </a:avLst>
          </a:prstGeom>
          <a:solidFill>
            <a:srgbClr val="0B0B0E"/>
          </a:solidFill>
          <a:ln w="12700">
            <a:solidFill>
              <a:srgbClr val="3DDC97"/>
            </a:solidFill>
            <a:prstDash val="solid"/>
          </a:ln>
        </p:spPr>
      </p:sp>
      <p:sp>
        <p:nvSpPr>
          <p:cNvPr id="11" name="Text 8"/>
          <p:cNvSpPr/>
          <p:nvPr/>
        </p:nvSpPr>
        <p:spPr>
          <a:xfrm>
            <a:off x="5234940" y="3611880"/>
            <a:ext cx="1051560" cy="329184"/>
          </a:xfrm>
          <a:prstGeom prst="rect">
            <a:avLst/>
          </a:prstGeom>
          <a:noFill/>
          <a:ln/>
        </p:spPr>
        <p:txBody>
          <a:bodyPr wrap="square" lIns="0" tIns="0" rIns="0" bIns="0" rtlCol="0" anchor="ctr"/>
          <a:lstStyle/>
          <a:p>
            <a:pPr algn="ctr" indent="0" marL="0">
              <a:buNone/>
            </a:pPr>
            <a:r>
              <a:rPr lang="en-US" sz="1100" b="1" dirty="0">
                <a:solidFill>
                  <a:srgbClr val="3DDC97"/>
                </a:solidFill>
                <a:latin typeface="Arial" pitchFamily="34" charset="0"/>
                <a:ea typeface="Arial" pitchFamily="34" charset="-122"/>
                <a:cs typeface="Arial" pitchFamily="34" charset="-120"/>
              </a:rPr>
              <a:t>Paid</a:t>
            </a:r>
            <a:endParaRPr lang="en-US" sz="1100" dirty="0"/>
          </a:p>
        </p:txBody>
      </p:sp>
      <p:sp>
        <p:nvSpPr>
          <p:cNvPr id="12" name="Text 9"/>
          <p:cNvSpPr/>
          <p:nvPr/>
        </p:nvSpPr>
        <p:spPr>
          <a:xfrm>
            <a:off x="914400" y="4526280"/>
            <a:ext cx="7315200" cy="274320"/>
          </a:xfrm>
          <a:prstGeom prst="rect">
            <a:avLst/>
          </a:prstGeom>
          <a:noFill/>
          <a:ln/>
        </p:spPr>
        <p:txBody>
          <a:bodyPr wrap="square" lIns="0" tIns="0" rIns="0" bIns="0" rtlCol="0" anchor="ctr"/>
          <a:lstStyle/>
          <a:p>
            <a:pPr algn="ctr" indent="0" marL="0">
              <a:buNone/>
            </a:pPr>
            <a:r>
              <a:rPr lang="en-US" sz="1000" dirty="0">
                <a:solidFill>
                  <a:srgbClr val="71717A"/>
                </a:solidFill>
                <a:latin typeface="Consolas" pitchFamily="34" charset="0"/>
                <a:ea typeface="Consolas" pitchFamily="34" charset="-122"/>
                <a:cs typeface="Consolas" pitchFamily="34" charset="-120"/>
              </a:rPr>
              <a:t>getcommish.vercel.app  ·  github.com/bryankwandou/commish</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E"/>
        </a:solidFill>
      </p:bgPr>
    </p:bg>
    <p:spTree>
      <p:nvGrpSpPr>
        <p:cNvPr id="1" name=""/>
        <p:cNvGrpSpPr/>
        <p:nvPr/>
      </p:nvGrpSpPr>
      <p:grpSpPr>
        <a:xfrm>
          <a:off x="0" y="0"/>
          <a:ext cx="0" cy="0"/>
          <a:chOff x="0" y="0"/>
          <a:chExt cx="0" cy="0"/>
        </a:xfrm>
      </p:grpSpPr>
      <p:sp>
        <p:nvSpPr>
          <p:cNvPr id="2" name="Text 0"/>
          <p:cNvSpPr/>
          <p:nvPr/>
        </p:nvSpPr>
        <p:spPr>
          <a:xfrm>
            <a:off x="548640" y="384048"/>
            <a:ext cx="5486400" cy="256032"/>
          </a:xfrm>
          <a:prstGeom prst="rect">
            <a:avLst/>
          </a:prstGeom>
          <a:noFill/>
          <a:ln/>
        </p:spPr>
        <p:txBody>
          <a:bodyPr wrap="square" lIns="0" tIns="0" rIns="0" bIns="0" rtlCol="0" anchor="ctr"/>
          <a:lstStyle/>
          <a:p>
            <a:pPr indent="0" marL="0">
              <a:buNone/>
            </a:pPr>
            <a:r>
              <a:rPr lang="en-US" sz="1000" b="1" spc="200" kern="0" dirty="0">
                <a:solidFill>
                  <a:srgbClr val="A1A1AA"/>
                </a:solidFill>
                <a:latin typeface="Arial" pitchFamily="34" charset="0"/>
                <a:ea typeface="Arial" pitchFamily="34" charset="-122"/>
                <a:cs typeface="Arial" pitchFamily="34" charset="-120"/>
              </a:rPr>
              <a:t>PROBLEM</a:t>
            </a:r>
            <a:endParaRPr lang="en-US" sz="1000" dirty="0"/>
          </a:p>
        </p:txBody>
      </p:sp>
      <p:sp>
        <p:nvSpPr>
          <p:cNvPr id="3" name="Text 1"/>
          <p:cNvSpPr/>
          <p:nvPr/>
        </p:nvSpPr>
        <p:spPr>
          <a:xfrm>
            <a:off x="548640" y="676656"/>
            <a:ext cx="7498080" cy="914400"/>
          </a:xfrm>
          <a:prstGeom prst="rect">
            <a:avLst/>
          </a:prstGeom>
          <a:noFill/>
          <a:ln/>
        </p:spPr>
        <p:txBody>
          <a:bodyPr wrap="square" lIns="0" tIns="0" rIns="0" bIns="0" rtlCol="0" anchor="t">
            <a:normAutofit/>
          </a:bodyPr>
          <a:lstStyle/>
          <a:p>
            <a:pPr indent="0" marL="0">
              <a:buNone/>
            </a:pPr>
            <a:r>
              <a:rPr lang="en-US" sz="2800" b="1" dirty="0">
                <a:solidFill>
                  <a:srgbClr val="F4F4F5"/>
                </a:solidFill>
                <a:latin typeface="Arial" pitchFamily="34" charset="0"/>
                <a:ea typeface="Arial" pitchFamily="34" charset="-122"/>
                <a:cs typeface="Arial" pitchFamily="34" charset="-120"/>
              </a:rPr>
              <a:t>Amazon pays its affiliates about 60 days after the month closes.</a:t>
            </a:r>
            <a:endParaRPr lang="en-US" sz="2800" dirty="0"/>
          </a:p>
        </p:txBody>
      </p:sp>
      <p:sp>
        <p:nvSpPr>
          <p:cNvPr id="4" name="Shape 2"/>
          <p:cNvSpPr/>
          <p:nvPr/>
        </p:nvSpPr>
        <p:spPr>
          <a:xfrm>
            <a:off x="8321040" y="4709160"/>
            <a:ext cx="548640" cy="274320"/>
          </a:xfrm>
          <a:prstGeom prst="roundRect">
            <a:avLst>
              <a:gd name="adj" fmla="val 50000"/>
            </a:avLst>
          </a:prstGeom>
          <a:solidFill>
            <a:srgbClr val="27272A"/>
          </a:solidFill>
          <a:ln/>
        </p:spPr>
      </p:sp>
      <p:sp>
        <p:nvSpPr>
          <p:cNvPr id="5" name="Text 3"/>
          <p:cNvSpPr/>
          <p:nvPr/>
        </p:nvSpPr>
        <p:spPr>
          <a:xfrm>
            <a:off x="8321040" y="4709160"/>
            <a:ext cx="548640" cy="274320"/>
          </a:xfrm>
          <a:prstGeom prst="rect">
            <a:avLst/>
          </a:prstGeom>
          <a:noFill/>
          <a:ln/>
        </p:spPr>
        <p:txBody>
          <a:bodyPr wrap="square" lIns="0" tIns="0" rIns="0" bIns="0" rtlCol="0" anchor="ctr"/>
          <a:lstStyle/>
          <a:p>
            <a:pPr algn="ctr" indent="0" marL="0">
              <a:buNone/>
            </a:pPr>
            <a:r>
              <a:rPr lang="en-US" sz="1000" b="1" dirty="0">
                <a:solidFill>
                  <a:srgbClr val="A1A1AA"/>
                </a:solidFill>
                <a:latin typeface="Consolas" pitchFamily="34" charset="0"/>
                <a:ea typeface="Consolas" pitchFamily="34" charset="-122"/>
                <a:cs typeface="Consolas" pitchFamily="34" charset="-120"/>
              </a:rPr>
              <a:t>02</a:t>
            </a:r>
            <a:endParaRPr lang="en-US" sz="1000" dirty="0"/>
          </a:p>
        </p:txBody>
      </p:sp>
      <p:sp>
        <p:nvSpPr>
          <p:cNvPr id="6" name="Text 4"/>
          <p:cNvSpPr/>
          <p:nvPr/>
        </p:nvSpPr>
        <p:spPr>
          <a:xfrm>
            <a:off x="548640" y="1828800"/>
            <a:ext cx="4754880" cy="1554480"/>
          </a:xfrm>
          <a:prstGeom prst="rect">
            <a:avLst/>
          </a:prstGeom>
          <a:noFill/>
          <a:ln/>
        </p:spPr>
        <p:txBody>
          <a:bodyPr wrap="square" lIns="0" tIns="0" rIns="0" bIns="0" rtlCol="0" anchor="ctr"/>
          <a:lstStyle/>
          <a:p>
            <a:pPr indent="0" marL="0">
              <a:buNone/>
            </a:pPr>
            <a:r>
              <a:rPr lang="en-US" sz="10000" b="1" dirty="0">
                <a:solidFill>
                  <a:srgbClr val="3DDC97"/>
                </a:solidFill>
                <a:latin typeface="Arial" pitchFamily="34" charset="0"/>
                <a:ea typeface="Arial" pitchFamily="34" charset="-122"/>
                <a:cs typeface="Arial" pitchFamily="34" charset="-120"/>
              </a:rPr>
              <a:t>60 days</a:t>
            </a:r>
            <a:endParaRPr lang="en-US" sz="10000" dirty="0"/>
          </a:p>
        </p:txBody>
      </p:sp>
      <p:sp>
        <p:nvSpPr>
          <p:cNvPr id="7" name="Shape 5"/>
          <p:cNvSpPr/>
          <p:nvPr/>
        </p:nvSpPr>
        <p:spPr>
          <a:xfrm>
            <a:off x="5989320" y="2011680"/>
            <a:ext cx="0" cy="2011680"/>
          </a:xfrm>
          <a:prstGeom prst="line">
            <a:avLst/>
          </a:prstGeom>
          <a:noFill/>
          <a:ln w="25400">
            <a:solidFill>
              <a:srgbClr val="27272A"/>
            </a:solidFill>
            <a:prstDash val="solid"/>
          </a:ln>
        </p:spPr>
      </p:sp>
      <p:sp>
        <p:nvSpPr>
          <p:cNvPr id="8" name="Shape 6"/>
          <p:cNvSpPr/>
          <p:nvPr/>
        </p:nvSpPr>
        <p:spPr>
          <a:xfrm>
            <a:off x="5888736" y="1947672"/>
            <a:ext cx="201168" cy="201168"/>
          </a:xfrm>
          <a:prstGeom prst="ellipse">
            <a:avLst/>
          </a:prstGeom>
          <a:solidFill>
            <a:srgbClr val="0B0B0E"/>
          </a:solidFill>
          <a:ln w="19050">
            <a:solidFill>
              <a:srgbClr val="A1A1AA"/>
            </a:solidFill>
            <a:prstDash val="solid"/>
          </a:ln>
        </p:spPr>
      </p:sp>
      <p:sp>
        <p:nvSpPr>
          <p:cNvPr id="9" name="Text 7"/>
          <p:cNvSpPr/>
          <p:nvPr/>
        </p:nvSpPr>
        <p:spPr>
          <a:xfrm>
            <a:off x="6309360" y="1874520"/>
            <a:ext cx="2286000" cy="329184"/>
          </a:xfrm>
          <a:prstGeom prst="rect">
            <a:avLst/>
          </a:prstGeom>
          <a:noFill/>
          <a:ln/>
        </p:spPr>
        <p:txBody>
          <a:bodyPr wrap="square" lIns="0" tIns="0" rIns="0" bIns="0" rtlCol="0" anchor="ctr"/>
          <a:lstStyle/>
          <a:p>
            <a:pPr indent="0" marL="0">
              <a:buNone/>
            </a:pPr>
            <a:r>
              <a:rPr lang="en-US" sz="1600" b="1" dirty="0">
                <a:solidFill>
                  <a:srgbClr val="F4F4F5"/>
                </a:solidFill>
                <a:latin typeface="Arial" pitchFamily="34" charset="0"/>
                <a:ea typeface="Arial" pitchFamily="34" charset="-122"/>
                <a:cs typeface="Arial" pitchFamily="34" charset="-120"/>
              </a:rPr>
              <a:t>Jan 2</a:t>
            </a:r>
            <a:endParaRPr lang="en-US" sz="1600" dirty="0"/>
          </a:p>
        </p:txBody>
      </p:sp>
      <p:sp>
        <p:nvSpPr>
          <p:cNvPr id="10" name="Text 8"/>
          <p:cNvSpPr/>
          <p:nvPr/>
        </p:nvSpPr>
        <p:spPr>
          <a:xfrm>
            <a:off x="6309360" y="2203704"/>
            <a:ext cx="2286000" cy="274320"/>
          </a:xfrm>
          <a:prstGeom prst="rect">
            <a:avLst/>
          </a:prstGeom>
          <a:noFill/>
          <a:ln/>
        </p:spPr>
        <p:txBody>
          <a:bodyPr wrap="square" lIns="0" tIns="0" rIns="0" bIns="0" rtlCol="0" anchor="ctr"/>
          <a:lstStyle/>
          <a:p>
            <a:pPr indent="0" marL="0">
              <a:buNone/>
            </a:pPr>
            <a:r>
              <a:rPr lang="en-US" sz="1200" dirty="0">
                <a:solidFill>
                  <a:srgbClr val="A1A1AA"/>
                </a:solidFill>
                <a:latin typeface="Arial" pitchFamily="34" charset="0"/>
                <a:ea typeface="Arial" pitchFamily="34" charset="-122"/>
                <a:cs typeface="Arial" pitchFamily="34" charset="-120"/>
              </a:rPr>
              <a:t>Sale made</a:t>
            </a:r>
            <a:endParaRPr lang="en-US" sz="1200" dirty="0"/>
          </a:p>
        </p:txBody>
      </p:sp>
      <p:sp>
        <p:nvSpPr>
          <p:cNvPr id="11" name="Shape 9"/>
          <p:cNvSpPr/>
          <p:nvPr/>
        </p:nvSpPr>
        <p:spPr>
          <a:xfrm>
            <a:off x="5888736" y="2935224"/>
            <a:ext cx="201168" cy="201168"/>
          </a:xfrm>
          <a:prstGeom prst="ellipse">
            <a:avLst/>
          </a:prstGeom>
          <a:solidFill>
            <a:srgbClr val="0B0B0E"/>
          </a:solidFill>
          <a:ln w="19050">
            <a:solidFill>
              <a:srgbClr val="A1A1AA"/>
            </a:solidFill>
            <a:prstDash val="solid"/>
          </a:ln>
        </p:spPr>
      </p:sp>
      <p:sp>
        <p:nvSpPr>
          <p:cNvPr id="12" name="Text 10"/>
          <p:cNvSpPr/>
          <p:nvPr/>
        </p:nvSpPr>
        <p:spPr>
          <a:xfrm>
            <a:off x="6309360" y="2862072"/>
            <a:ext cx="2286000" cy="329184"/>
          </a:xfrm>
          <a:prstGeom prst="rect">
            <a:avLst/>
          </a:prstGeom>
          <a:noFill/>
          <a:ln/>
        </p:spPr>
        <p:txBody>
          <a:bodyPr wrap="square" lIns="0" tIns="0" rIns="0" bIns="0" rtlCol="0" anchor="ctr"/>
          <a:lstStyle/>
          <a:p>
            <a:pPr indent="0" marL="0">
              <a:buNone/>
            </a:pPr>
            <a:r>
              <a:rPr lang="en-US" sz="1600" b="1" dirty="0">
                <a:solidFill>
                  <a:srgbClr val="F4F4F5"/>
                </a:solidFill>
                <a:latin typeface="Arial" pitchFamily="34" charset="0"/>
                <a:ea typeface="Arial" pitchFamily="34" charset="-122"/>
                <a:cs typeface="Arial" pitchFamily="34" charset="-120"/>
              </a:rPr>
              <a:t>Jan 31</a:t>
            </a:r>
            <a:endParaRPr lang="en-US" sz="1600" dirty="0"/>
          </a:p>
        </p:txBody>
      </p:sp>
      <p:sp>
        <p:nvSpPr>
          <p:cNvPr id="13" name="Text 11"/>
          <p:cNvSpPr/>
          <p:nvPr/>
        </p:nvSpPr>
        <p:spPr>
          <a:xfrm>
            <a:off x="6309360" y="3191256"/>
            <a:ext cx="2286000" cy="274320"/>
          </a:xfrm>
          <a:prstGeom prst="rect">
            <a:avLst/>
          </a:prstGeom>
          <a:noFill/>
          <a:ln/>
        </p:spPr>
        <p:txBody>
          <a:bodyPr wrap="square" lIns="0" tIns="0" rIns="0" bIns="0" rtlCol="0" anchor="ctr"/>
          <a:lstStyle/>
          <a:p>
            <a:pPr indent="0" marL="0">
              <a:buNone/>
            </a:pPr>
            <a:r>
              <a:rPr lang="en-US" sz="1200" dirty="0">
                <a:solidFill>
                  <a:srgbClr val="A1A1AA"/>
                </a:solidFill>
                <a:latin typeface="Arial" pitchFamily="34" charset="0"/>
                <a:ea typeface="Arial" pitchFamily="34" charset="-122"/>
                <a:cs typeface="Arial" pitchFamily="34" charset="-120"/>
              </a:rPr>
              <a:t>Month closes</a:t>
            </a:r>
            <a:endParaRPr lang="en-US" sz="1200" dirty="0"/>
          </a:p>
        </p:txBody>
      </p:sp>
      <p:sp>
        <p:nvSpPr>
          <p:cNvPr id="14" name="Shape 12"/>
          <p:cNvSpPr/>
          <p:nvPr/>
        </p:nvSpPr>
        <p:spPr>
          <a:xfrm>
            <a:off x="5888736" y="3922776"/>
            <a:ext cx="201168" cy="201168"/>
          </a:xfrm>
          <a:prstGeom prst="ellipse">
            <a:avLst/>
          </a:prstGeom>
          <a:solidFill>
            <a:srgbClr val="3DDC97"/>
          </a:solidFill>
          <a:ln w="19050">
            <a:solidFill>
              <a:srgbClr val="3DDC97"/>
            </a:solidFill>
            <a:prstDash val="solid"/>
          </a:ln>
        </p:spPr>
      </p:sp>
      <p:sp>
        <p:nvSpPr>
          <p:cNvPr id="15" name="Text 13"/>
          <p:cNvSpPr/>
          <p:nvPr/>
        </p:nvSpPr>
        <p:spPr>
          <a:xfrm>
            <a:off x="6309360" y="3849624"/>
            <a:ext cx="2286000" cy="329184"/>
          </a:xfrm>
          <a:prstGeom prst="rect">
            <a:avLst/>
          </a:prstGeom>
          <a:noFill/>
          <a:ln/>
        </p:spPr>
        <p:txBody>
          <a:bodyPr wrap="square" lIns="0" tIns="0" rIns="0" bIns="0" rtlCol="0" anchor="ctr"/>
          <a:lstStyle/>
          <a:p>
            <a:pPr indent="0" marL="0">
              <a:buNone/>
            </a:pPr>
            <a:r>
              <a:rPr lang="en-US" sz="1600" b="1" dirty="0">
                <a:solidFill>
                  <a:srgbClr val="3DDC97"/>
                </a:solidFill>
                <a:latin typeface="Arial" pitchFamily="34" charset="0"/>
                <a:ea typeface="Arial" pitchFamily="34" charset="-122"/>
                <a:cs typeface="Arial" pitchFamily="34" charset="-120"/>
              </a:rPr>
              <a:t>+60 days</a:t>
            </a:r>
            <a:endParaRPr lang="en-US" sz="1600" dirty="0"/>
          </a:p>
        </p:txBody>
      </p:sp>
      <p:sp>
        <p:nvSpPr>
          <p:cNvPr id="16" name="Text 14"/>
          <p:cNvSpPr/>
          <p:nvPr/>
        </p:nvSpPr>
        <p:spPr>
          <a:xfrm>
            <a:off x="6309360" y="4178808"/>
            <a:ext cx="2286000" cy="274320"/>
          </a:xfrm>
          <a:prstGeom prst="rect">
            <a:avLst/>
          </a:prstGeom>
          <a:noFill/>
          <a:ln/>
        </p:spPr>
        <p:txBody>
          <a:bodyPr wrap="square" lIns="0" tIns="0" rIns="0" bIns="0" rtlCol="0" anchor="ctr"/>
          <a:lstStyle/>
          <a:p>
            <a:pPr indent="0" marL="0">
              <a:buNone/>
            </a:pPr>
            <a:r>
              <a:rPr lang="en-US" sz="1200" dirty="0">
                <a:solidFill>
                  <a:srgbClr val="A1A1AA"/>
                </a:solidFill>
                <a:latin typeface="Arial" pitchFamily="34" charset="0"/>
                <a:ea typeface="Arial" pitchFamily="34" charset="-122"/>
                <a:cs typeface="Arial" pitchFamily="34" charset="-120"/>
              </a:rPr>
              <a:t>Commission paid</a:t>
            </a:r>
            <a:endParaRPr lang="en-US" sz="1200" dirty="0"/>
          </a:p>
        </p:txBody>
      </p:sp>
      <p:sp>
        <p:nvSpPr>
          <p:cNvPr id="17" name="Text 15"/>
          <p:cNvSpPr/>
          <p:nvPr/>
        </p:nvSpPr>
        <p:spPr>
          <a:xfrm>
            <a:off x="548640" y="4681728"/>
            <a:ext cx="7589520" cy="274320"/>
          </a:xfrm>
          <a:prstGeom prst="rect">
            <a:avLst/>
          </a:prstGeom>
          <a:noFill/>
          <a:ln/>
        </p:spPr>
        <p:txBody>
          <a:bodyPr wrap="square" lIns="0" tIns="0" rIns="0" bIns="0" rtlCol="0" anchor="ctr"/>
          <a:lstStyle/>
          <a:p>
            <a:pPr indent="0" marL="0">
              <a:buNone/>
            </a:pPr>
            <a:r>
              <a:rPr lang="en-US" sz="900" dirty="0">
                <a:solidFill>
                  <a:srgbClr val="71717A"/>
                </a:solidFill>
                <a:latin typeface="Arial" pitchFamily="34" charset="0"/>
                <a:ea typeface="Arial" pitchFamily="34" charset="-122"/>
                <a:cs typeface="Arial" pitchFamily="34" charset="-120"/>
              </a:rPr>
              <a:t>Source: Amazon Associates Central, payment help page [S1]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E"/>
        </a:solidFill>
      </p:bgPr>
    </p:bg>
    <p:spTree>
      <p:nvGrpSpPr>
        <p:cNvPr id="1" name=""/>
        <p:cNvGrpSpPr/>
        <p:nvPr/>
      </p:nvGrpSpPr>
      <p:grpSpPr>
        <a:xfrm>
          <a:off x="0" y="0"/>
          <a:ext cx="0" cy="0"/>
          <a:chOff x="0" y="0"/>
          <a:chExt cx="0" cy="0"/>
        </a:xfrm>
      </p:grpSpPr>
      <p:sp>
        <p:nvSpPr>
          <p:cNvPr id="2" name="Text 0"/>
          <p:cNvSpPr/>
          <p:nvPr/>
        </p:nvSpPr>
        <p:spPr>
          <a:xfrm>
            <a:off x="548640" y="384048"/>
            <a:ext cx="5486400" cy="256032"/>
          </a:xfrm>
          <a:prstGeom prst="rect">
            <a:avLst/>
          </a:prstGeom>
          <a:noFill/>
          <a:ln/>
        </p:spPr>
        <p:txBody>
          <a:bodyPr wrap="square" lIns="0" tIns="0" rIns="0" bIns="0" rtlCol="0" anchor="ctr"/>
          <a:lstStyle/>
          <a:p>
            <a:pPr indent="0" marL="0">
              <a:buNone/>
            </a:pPr>
            <a:r>
              <a:rPr lang="en-US" sz="1000" b="1" spc="200" kern="0" dirty="0">
                <a:solidFill>
                  <a:srgbClr val="A1A1AA"/>
                </a:solidFill>
                <a:latin typeface="Arial" pitchFamily="34" charset="0"/>
                <a:ea typeface="Arial" pitchFamily="34" charset="-122"/>
                <a:cs typeface="Arial" pitchFamily="34" charset="-120"/>
              </a:rPr>
              <a:t>WHY BRANDS WAIT</a:t>
            </a:r>
            <a:endParaRPr lang="en-US" sz="1000" dirty="0"/>
          </a:p>
        </p:txBody>
      </p:sp>
      <p:sp>
        <p:nvSpPr>
          <p:cNvPr id="3" name="Text 1"/>
          <p:cNvSpPr/>
          <p:nvPr/>
        </p:nvSpPr>
        <p:spPr>
          <a:xfrm>
            <a:off x="548640" y="676656"/>
            <a:ext cx="7498080" cy="914400"/>
          </a:xfrm>
          <a:prstGeom prst="rect">
            <a:avLst/>
          </a:prstGeom>
          <a:noFill/>
          <a:ln/>
        </p:spPr>
        <p:txBody>
          <a:bodyPr wrap="square" lIns="0" tIns="0" rIns="0" bIns="0" rtlCol="0" anchor="t">
            <a:normAutofit/>
          </a:bodyPr>
          <a:lstStyle/>
          <a:p>
            <a:pPr indent="0" marL="0">
              <a:buNone/>
            </a:pPr>
            <a:r>
              <a:rPr lang="en-US" sz="2800" b="1" dirty="0">
                <a:solidFill>
                  <a:srgbClr val="F4F4F5"/>
                </a:solidFill>
                <a:latin typeface="Arial" pitchFamily="34" charset="0"/>
                <a:ea typeface="Arial" pitchFamily="34" charset="-122"/>
                <a:cs typeface="Arial" pitchFamily="34" charset="-120"/>
              </a:rPr>
              <a:t>Brands hold commissions because one in five online orders comes back.</a:t>
            </a:r>
            <a:endParaRPr lang="en-US" sz="2800" dirty="0"/>
          </a:p>
        </p:txBody>
      </p:sp>
      <p:sp>
        <p:nvSpPr>
          <p:cNvPr id="4" name="Shape 2"/>
          <p:cNvSpPr/>
          <p:nvPr/>
        </p:nvSpPr>
        <p:spPr>
          <a:xfrm>
            <a:off x="8321040" y="4709160"/>
            <a:ext cx="548640" cy="274320"/>
          </a:xfrm>
          <a:prstGeom prst="roundRect">
            <a:avLst>
              <a:gd name="adj" fmla="val 50000"/>
            </a:avLst>
          </a:prstGeom>
          <a:solidFill>
            <a:srgbClr val="27272A"/>
          </a:solidFill>
          <a:ln/>
        </p:spPr>
      </p:sp>
      <p:sp>
        <p:nvSpPr>
          <p:cNvPr id="5" name="Text 3"/>
          <p:cNvSpPr/>
          <p:nvPr/>
        </p:nvSpPr>
        <p:spPr>
          <a:xfrm>
            <a:off x="8321040" y="4709160"/>
            <a:ext cx="548640" cy="274320"/>
          </a:xfrm>
          <a:prstGeom prst="rect">
            <a:avLst/>
          </a:prstGeom>
          <a:noFill/>
          <a:ln/>
        </p:spPr>
        <p:txBody>
          <a:bodyPr wrap="square" lIns="0" tIns="0" rIns="0" bIns="0" rtlCol="0" anchor="ctr"/>
          <a:lstStyle/>
          <a:p>
            <a:pPr algn="ctr" indent="0" marL="0">
              <a:buNone/>
            </a:pPr>
            <a:r>
              <a:rPr lang="en-US" sz="1000" b="1" dirty="0">
                <a:solidFill>
                  <a:srgbClr val="A1A1AA"/>
                </a:solidFill>
                <a:latin typeface="Consolas" pitchFamily="34" charset="0"/>
                <a:ea typeface="Consolas" pitchFamily="34" charset="-122"/>
                <a:cs typeface="Consolas" pitchFamily="34" charset="-120"/>
              </a:rPr>
              <a:t>03</a:t>
            </a:r>
            <a:endParaRPr lang="en-US" sz="1000" dirty="0"/>
          </a:p>
        </p:txBody>
      </p:sp>
      <p:sp>
        <p:nvSpPr>
          <p:cNvPr id="6" name="Text 4"/>
          <p:cNvSpPr/>
          <p:nvPr/>
        </p:nvSpPr>
        <p:spPr>
          <a:xfrm>
            <a:off x="548640" y="1783080"/>
            <a:ext cx="4389120" cy="1463040"/>
          </a:xfrm>
          <a:prstGeom prst="rect">
            <a:avLst/>
          </a:prstGeom>
          <a:noFill/>
          <a:ln/>
        </p:spPr>
        <p:txBody>
          <a:bodyPr wrap="square" lIns="0" tIns="0" rIns="0" bIns="0" rtlCol="0" anchor="ctr"/>
          <a:lstStyle/>
          <a:p>
            <a:pPr indent="0" marL="0">
              <a:buNone/>
            </a:pPr>
            <a:r>
              <a:rPr lang="en-US" sz="10000" b="1" dirty="0">
                <a:solidFill>
                  <a:srgbClr val="3DDC97"/>
                </a:solidFill>
                <a:latin typeface="Arial" pitchFamily="34" charset="0"/>
                <a:ea typeface="Arial" pitchFamily="34" charset="-122"/>
                <a:cs typeface="Arial" pitchFamily="34" charset="-120"/>
              </a:rPr>
              <a:t>19.3%</a:t>
            </a:r>
            <a:endParaRPr lang="en-US" sz="10000" dirty="0"/>
          </a:p>
        </p:txBody>
      </p:sp>
      <p:sp>
        <p:nvSpPr>
          <p:cNvPr id="7" name="Text 5"/>
          <p:cNvSpPr/>
          <p:nvPr/>
        </p:nvSpPr>
        <p:spPr>
          <a:xfrm>
            <a:off x="548640" y="3291840"/>
            <a:ext cx="4480560" cy="548640"/>
          </a:xfrm>
          <a:prstGeom prst="rect">
            <a:avLst/>
          </a:prstGeom>
          <a:noFill/>
          <a:ln/>
        </p:spPr>
        <p:txBody>
          <a:bodyPr wrap="square" lIns="0" tIns="0" rIns="0" bIns="0" rtlCol="0" anchor="t"/>
          <a:lstStyle/>
          <a:p>
            <a:pPr indent="0" marL="0">
              <a:buNone/>
            </a:pPr>
            <a:r>
              <a:rPr lang="en-US" sz="1400" dirty="0">
                <a:solidFill>
                  <a:srgbClr val="A1A1AA"/>
                </a:solidFill>
                <a:latin typeface="Arial" pitchFamily="34" charset="0"/>
                <a:ea typeface="Arial" pitchFamily="34" charset="-122"/>
                <a:cs typeface="Arial" pitchFamily="34" charset="-120"/>
              </a:rPr>
              <a:t>of US online sales were expected to be returned in 2025</a:t>
            </a:r>
            <a:endParaRPr lang="en-US" sz="1400" dirty="0"/>
          </a:p>
        </p:txBody>
      </p:sp>
      <p:sp>
        <p:nvSpPr>
          <p:cNvPr id="8" name="Shape 6"/>
          <p:cNvSpPr/>
          <p:nvPr/>
        </p:nvSpPr>
        <p:spPr>
          <a:xfrm>
            <a:off x="5257800" y="2240280"/>
            <a:ext cx="512064" cy="512064"/>
          </a:xfrm>
          <a:prstGeom prst="roundRect">
            <a:avLst>
              <a:gd name="adj" fmla="val 14286"/>
            </a:avLst>
          </a:prstGeom>
          <a:solidFill>
            <a:srgbClr val="27272A"/>
          </a:solidFill>
          <a:ln/>
        </p:spPr>
      </p:sp>
      <p:sp>
        <p:nvSpPr>
          <p:cNvPr id="9" name="Text 7"/>
          <p:cNvSpPr/>
          <p:nvPr/>
        </p:nvSpPr>
        <p:spPr>
          <a:xfrm>
            <a:off x="5166360" y="2816352"/>
            <a:ext cx="694944" cy="237744"/>
          </a:xfrm>
          <a:prstGeom prst="rect">
            <a:avLst/>
          </a:prstGeom>
          <a:noFill/>
          <a:ln/>
        </p:spPr>
        <p:txBody>
          <a:bodyPr wrap="square" lIns="0" tIns="0" rIns="0" bIns="0" rtlCol="0" anchor="ctr"/>
          <a:lstStyle/>
          <a:p>
            <a:pPr algn="ctr" indent="0" marL="0">
              <a:buNone/>
            </a:pPr>
            <a:r>
              <a:rPr lang="en-US" sz="1000" dirty="0">
                <a:solidFill>
                  <a:srgbClr val="A1A1AA"/>
                </a:solidFill>
                <a:latin typeface="Consolas" pitchFamily="34" charset="0"/>
                <a:ea typeface="Consolas" pitchFamily="34" charset="-122"/>
                <a:cs typeface="Consolas" pitchFamily="34" charset="-120"/>
              </a:rPr>
              <a:t>kept</a:t>
            </a:r>
            <a:endParaRPr lang="en-US" sz="1000" dirty="0"/>
          </a:p>
        </p:txBody>
      </p:sp>
      <p:sp>
        <p:nvSpPr>
          <p:cNvPr id="10" name="Shape 8"/>
          <p:cNvSpPr/>
          <p:nvPr/>
        </p:nvSpPr>
        <p:spPr>
          <a:xfrm>
            <a:off x="5916168" y="2240280"/>
            <a:ext cx="512064" cy="512064"/>
          </a:xfrm>
          <a:prstGeom prst="roundRect">
            <a:avLst>
              <a:gd name="adj" fmla="val 14286"/>
            </a:avLst>
          </a:prstGeom>
          <a:solidFill>
            <a:srgbClr val="27272A"/>
          </a:solidFill>
          <a:ln/>
        </p:spPr>
      </p:sp>
      <p:sp>
        <p:nvSpPr>
          <p:cNvPr id="11" name="Text 9"/>
          <p:cNvSpPr/>
          <p:nvPr/>
        </p:nvSpPr>
        <p:spPr>
          <a:xfrm>
            <a:off x="5824728" y="2816352"/>
            <a:ext cx="694944" cy="237744"/>
          </a:xfrm>
          <a:prstGeom prst="rect">
            <a:avLst/>
          </a:prstGeom>
          <a:noFill/>
          <a:ln/>
        </p:spPr>
        <p:txBody>
          <a:bodyPr wrap="square" lIns="0" tIns="0" rIns="0" bIns="0" rtlCol="0" anchor="ctr"/>
          <a:lstStyle/>
          <a:p>
            <a:pPr algn="ctr" indent="0" marL="0">
              <a:buNone/>
            </a:pPr>
            <a:r>
              <a:rPr lang="en-US" sz="1000" dirty="0">
                <a:solidFill>
                  <a:srgbClr val="A1A1AA"/>
                </a:solidFill>
                <a:latin typeface="Consolas" pitchFamily="34" charset="0"/>
                <a:ea typeface="Consolas" pitchFamily="34" charset="-122"/>
                <a:cs typeface="Consolas" pitchFamily="34" charset="-120"/>
              </a:rPr>
              <a:t>kept</a:t>
            </a:r>
            <a:endParaRPr lang="en-US" sz="1000" dirty="0"/>
          </a:p>
        </p:txBody>
      </p:sp>
      <p:sp>
        <p:nvSpPr>
          <p:cNvPr id="12" name="Shape 10"/>
          <p:cNvSpPr/>
          <p:nvPr/>
        </p:nvSpPr>
        <p:spPr>
          <a:xfrm>
            <a:off x="6574536" y="2240280"/>
            <a:ext cx="512064" cy="512064"/>
          </a:xfrm>
          <a:prstGeom prst="roundRect">
            <a:avLst>
              <a:gd name="adj" fmla="val 14286"/>
            </a:avLst>
          </a:prstGeom>
          <a:solidFill>
            <a:srgbClr val="27272A"/>
          </a:solidFill>
          <a:ln/>
        </p:spPr>
      </p:sp>
      <p:sp>
        <p:nvSpPr>
          <p:cNvPr id="13" name="Text 11"/>
          <p:cNvSpPr/>
          <p:nvPr/>
        </p:nvSpPr>
        <p:spPr>
          <a:xfrm>
            <a:off x="6483096" y="2816352"/>
            <a:ext cx="694944" cy="237744"/>
          </a:xfrm>
          <a:prstGeom prst="rect">
            <a:avLst/>
          </a:prstGeom>
          <a:noFill/>
          <a:ln/>
        </p:spPr>
        <p:txBody>
          <a:bodyPr wrap="square" lIns="0" tIns="0" rIns="0" bIns="0" rtlCol="0" anchor="ctr"/>
          <a:lstStyle/>
          <a:p>
            <a:pPr algn="ctr" indent="0" marL="0">
              <a:buNone/>
            </a:pPr>
            <a:r>
              <a:rPr lang="en-US" sz="1000" dirty="0">
                <a:solidFill>
                  <a:srgbClr val="A1A1AA"/>
                </a:solidFill>
                <a:latin typeface="Consolas" pitchFamily="34" charset="0"/>
                <a:ea typeface="Consolas" pitchFamily="34" charset="-122"/>
                <a:cs typeface="Consolas" pitchFamily="34" charset="-120"/>
              </a:rPr>
              <a:t>kept</a:t>
            </a:r>
            <a:endParaRPr lang="en-US" sz="1000" dirty="0"/>
          </a:p>
        </p:txBody>
      </p:sp>
      <p:sp>
        <p:nvSpPr>
          <p:cNvPr id="14" name="Shape 12"/>
          <p:cNvSpPr/>
          <p:nvPr/>
        </p:nvSpPr>
        <p:spPr>
          <a:xfrm>
            <a:off x="7232904" y="2240280"/>
            <a:ext cx="512064" cy="512064"/>
          </a:xfrm>
          <a:prstGeom prst="roundRect">
            <a:avLst>
              <a:gd name="adj" fmla="val 14286"/>
            </a:avLst>
          </a:prstGeom>
          <a:solidFill>
            <a:srgbClr val="27272A"/>
          </a:solidFill>
          <a:ln/>
        </p:spPr>
      </p:sp>
      <p:sp>
        <p:nvSpPr>
          <p:cNvPr id="15" name="Text 13"/>
          <p:cNvSpPr/>
          <p:nvPr/>
        </p:nvSpPr>
        <p:spPr>
          <a:xfrm>
            <a:off x="7141464" y="2816352"/>
            <a:ext cx="694944" cy="237744"/>
          </a:xfrm>
          <a:prstGeom prst="rect">
            <a:avLst/>
          </a:prstGeom>
          <a:noFill/>
          <a:ln/>
        </p:spPr>
        <p:txBody>
          <a:bodyPr wrap="square" lIns="0" tIns="0" rIns="0" bIns="0" rtlCol="0" anchor="ctr"/>
          <a:lstStyle/>
          <a:p>
            <a:pPr algn="ctr" indent="0" marL="0">
              <a:buNone/>
            </a:pPr>
            <a:r>
              <a:rPr lang="en-US" sz="1000" dirty="0">
                <a:solidFill>
                  <a:srgbClr val="A1A1AA"/>
                </a:solidFill>
                <a:latin typeface="Consolas" pitchFamily="34" charset="0"/>
                <a:ea typeface="Consolas" pitchFamily="34" charset="-122"/>
                <a:cs typeface="Consolas" pitchFamily="34" charset="-120"/>
              </a:rPr>
              <a:t>kept</a:t>
            </a:r>
            <a:endParaRPr lang="en-US" sz="1000" dirty="0"/>
          </a:p>
        </p:txBody>
      </p:sp>
      <p:sp>
        <p:nvSpPr>
          <p:cNvPr id="16" name="Shape 14"/>
          <p:cNvSpPr/>
          <p:nvPr/>
        </p:nvSpPr>
        <p:spPr>
          <a:xfrm>
            <a:off x="7891272" y="2240280"/>
            <a:ext cx="512064" cy="512064"/>
          </a:xfrm>
          <a:prstGeom prst="roundRect">
            <a:avLst>
              <a:gd name="adj" fmla="val 14286"/>
            </a:avLst>
          </a:prstGeom>
          <a:solidFill>
            <a:srgbClr val="F5B544"/>
          </a:solidFill>
          <a:ln/>
        </p:spPr>
      </p:sp>
      <p:sp>
        <p:nvSpPr>
          <p:cNvPr id="17" name="Text 15"/>
          <p:cNvSpPr/>
          <p:nvPr/>
        </p:nvSpPr>
        <p:spPr>
          <a:xfrm>
            <a:off x="7799832" y="2816352"/>
            <a:ext cx="694944" cy="237744"/>
          </a:xfrm>
          <a:prstGeom prst="rect">
            <a:avLst/>
          </a:prstGeom>
          <a:noFill/>
          <a:ln/>
        </p:spPr>
        <p:txBody>
          <a:bodyPr wrap="square" lIns="0" tIns="0" rIns="0" bIns="0" rtlCol="0" anchor="ctr"/>
          <a:lstStyle/>
          <a:p>
            <a:pPr algn="ctr" indent="0" marL="0">
              <a:buNone/>
            </a:pPr>
            <a:r>
              <a:rPr lang="en-US" sz="1000" dirty="0">
                <a:solidFill>
                  <a:srgbClr val="F5B544"/>
                </a:solidFill>
                <a:latin typeface="Consolas" pitchFamily="34" charset="0"/>
                <a:ea typeface="Consolas" pitchFamily="34" charset="-122"/>
                <a:cs typeface="Consolas" pitchFamily="34" charset="-120"/>
              </a:rPr>
              <a:t>back</a:t>
            </a:r>
            <a:endParaRPr lang="en-US" sz="1000" dirty="0"/>
          </a:p>
        </p:txBody>
      </p:sp>
      <p:sp>
        <p:nvSpPr>
          <p:cNvPr id="18" name="Text 16"/>
          <p:cNvSpPr/>
          <p:nvPr/>
        </p:nvSpPr>
        <p:spPr>
          <a:xfrm>
            <a:off x="5257800" y="3291840"/>
            <a:ext cx="3200400" cy="548640"/>
          </a:xfrm>
          <a:prstGeom prst="rect">
            <a:avLst/>
          </a:prstGeom>
          <a:noFill/>
          <a:ln/>
        </p:spPr>
        <p:txBody>
          <a:bodyPr wrap="square" lIns="0" tIns="0" rIns="0" bIns="0" rtlCol="0" anchor="t"/>
          <a:lstStyle/>
          <a:p>
            <a:pPr indent="0" marL="0">
              <a:buNone/>
            </a:pPr>
            <a:r>
              <a:rPr lang="en-US" sz="1200" dirty="0">
                <a:solidFill>
                  <a:srgbClr val="A1A1AA"/>
                </a:solidFill>
                <a:latin typeface="Arial" pitchFamily="34" charset="0"/>
                <a:ea typeface="Arial" pitchFamily="34" charset="-122"/>
                <a:cs typeface="Arial" pitchFamily="34" charset="-120"/>
              </a:rPr>
              <a:t>Commission paid on a returned order is money the brand does not get back.</a:t>
            </a:r>
            <a:endParaRPr lang="en-US" sz="1200" dirty="0"/>
          </a:p>
        </p:txBody>
      </p:sp>
      <p:sp>
        <p:nvSpPr>
          <p:cNvPr id="19" name="Text 17"/>
          <p:cNvSpPr/>
          <p:nvPr/>
        </p:nvSpPr>
        <p:spPr>
          <a:xfrm>
            <a:off x="548640" y="4681728"/>
            <a:ext cx="7589520" cy="274320"/>
          </a:xfrm>
          <a:prstGeom prst="rect">
            <a:avLst/>
          </a:prstGeom>
          <a:noFill/>
          <a:ln/>
        </p:spPr>
        <p:txBody>
          <a:bodyPr wrap="square" lIns="0" tIns="0" rIns="0" bIns="0" rtlCol="0" anchor="ctr"/>
          <a:lstStyle/>
          <a:p>
            <a:pPr indent="0" marL="0">
              <a:buNone/>
            </a:pPr>
            <a:r>
              <a:rPr lang="en-US" sz="900" dirty="0">
                <a:solidFill>
                  <a:srgbClr val="71717A"/>
                </a:solidFill>
                <a:latin typeface="Arial" pitchFamily="34" charset="0"/>
                <a:ea typeface="Arial" pitchFamily="34" charset="-122"/>
                <a:cs typeface="Arial" pitchFamily="34" charset="-120"/>
              </a:rPr>
              <a:t>Source: National Retail Federation, 2025 returns report [S2]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E"/>
        </a:solidFill>
      </p:bgPr>
    </p:bg>
    <p:spTree>
      <p:nvGrpSpPr>
        <p:cNvPr id="1" name=""/>
        <p:cNvGrpSpPr/>
        <p:nvPr/>
      </p:nvGrpSpPr>
      <p:grpSpPr>
        <a:xfrm>
          <a:off x="0" y="0"/>
          <a:ext cx="0" cy="0"/>
          <a:chOff x="0" y="0"/>
          <a:chExt cx="0" cy="0"/>
        </a:xfrm>
      </p:grpSpPr>
      <p:sp>
        <p:nvSpPr>
          <p:cNvPr id="2" name="Text 0"/>
          <p:cNvSpPr/>
          <p:nvPr/>
        </p:nvSpPr>
        <p:spPr>
          <a:xfrm>
            <a:off x="548640" y="384048"/>
            <a:ext cx="5486400" cy="256032"/>
          </a:xfrm>
          <a:prstGeom prst="rect">
            <a:avLst/>
          </a:prstGeom>
          <a:noFill/>
          <a:ln/>
        </p:spPr>
        <p:txBody>
          <a:bodyPr wrap="square" lIns="0" tIns="0" rIns="0" bIns="0" rtlCol="0" anchor="ctr"/>
          <a:lstStyle/>
          <a:p>
            <a:pPr indent="0" marL="0">
              <a:buNone/>
            </a:pPr>
            <a:r>
              <a:rPr lang="en-US" sz="1000" b="1" spc="200" kern="0" dirty="0">
                <a:solidFill>
                  <a:srgbClr val="A1A1AA"/>
                </a:solidFill>
                <a:latin typeface="Arial" pitchFamily="34" charset="0"/>
                <a:ea typeface="Arial" pitchFamily="34" charset="-122"/>
                <a:cs typeface="Arial" pitchFamily="34" charset="-120"/>
              </a:rPr>
              <a:t>PRODUCT</a:t>
            </a:r>
            <a:endParaRPr lang="en-US" sz="1000" dirty="0"/>
          </a:p>
        </p:txBody>
      </p:sp>
      <p:sp>
        <p:nvSpPr>
          <p:cNvPr id="3" name="Text 1"/>
          <p:cNvSpPr/>
          <p:nvPr/>
        </p:nvSpPr>
        <p:spPr>
          <a:xfrm>
            <a:off x="548640" y="676656"/>
            <a:ext cx="7498080" cy="914400"/>
          </a:xfrm>
          <a:prstGeom prst="rect">
            <a:avLst/>
          </a:prstGeom>
          <a:noFill/>
          <a:ln/>
        </p:spPr>
        <p:txBody>
          <a:bodyPr wrap="square" lIns="0" tIns="0" rIns="0" bIns="0" rtlCol="0" anchor="t">
            <a:normAutofit/>
          </a:bodyPr>
          <a:lstStyle/>
          <a:p>
            <a:pPr indent="0" marL="0">
              <a:buNone/>
            </a:pPr>
            <a:r>
              <a:rPr lang="en-US" sz="2800" b="1" dirty="0">
                <a:solidFill>
                  <a:srgbClr val="F4F4F5"/>
                </a:solidFill>
                <a:latin typeface="Arial" pitchFamily="34" charset="0"/>
                <a:ea typeface="Arial" pitchFamily="34" charset="-122"/>
                <a:cs typeface="Arial" pitchFamily="34" charset="-120"/>
              </a:rPr>
              <a:t>Each sale reserves the creator's cut where the brand can't spend it.</a:t>
            </a:r>
            <a:endParaRPr lang="en-US" sz="2800" dirty="0"/>
          </a:p>
        </p:txBody>
      </p:sp>
      <p:sp>
        <p:nvSpPr>
          <p:cNvPr id="4" name="Shape 2"/>
          <p:cNvSpPr/>
          <p:nvPr/>
        </p:nvSpPr>
        <p:spPr>
          <a:xfrm>
            <a:off x="8321040" y="4709160"/>
            <a:ext cx="548640" cy="274320"/>
          </a:xfrm>
          <a:prstGeom prst="roundRect">
            <a:avLst>
              <a:gd name="adj" fmla="val 50000"/>
            </a:avLst>
          </a:prstGeom>
          <a:solidFill>
            <a:srgbClr val="27272A"/>
          </a:solidFill>
          <a:ln/>
        </p:spPr>
      </p:sp>
      <p:sp>
        <p:nvSpPr>
          <p:cNvPr id="5" name="Text 3"/>
          <p:cNvSpPr/>
          <p:nvPr/>
        </p:nvSpPr>
        <p:spPr>
          <a:xfrm>
            <a:off x="8321040" y="4709160"/>
            <a:ext cx="548640" cy="274320"/>
          </a:xfrm>
          <a:prstGeom prst="rect">
            <a:avLst/>
          </a:prstGeom>
          <a:noFill/>
          <a:ln/>
        </p:spPr>
        <p:txBody>
          <a:bodyPr wrap="square" lIns="0" tIns="0" rIns="0" bIns="0" rtlCol="0" anchor="ctr"/>
          <a:lstStyle/>
          <a:p>
            <a:pPr algn="ctr" indent="0" marL="0">
              <a:buNone/>
            </a:pPr>
            <a:r>
              <a:rPr lang="en-US" sz="1000" b="1" dirty="0">
                <a:solidFill>
                  <a:srgbClr val="A1A1AA"/>
                </a:solidFill>
                <a:latin typeface="Consolas" pitchFamily="34" charset="0"/>
                <a:ea typeface="Consolas" pitchFamily="34" charset="-122"/>
                <a:cs typeface="Consolas" pitchFamily="34" charset="-120"/>
              </a:rPr>
              <a:t>04</a:t>
            </a:r>
            <a:endParaRPr lang="en-US" sz="1000" dirty="0"/>
          </a:p>
        </p:txBody>
      </p:sp>
      <p:pic>
        <p:nvPicPr>
          <p:cNvPr id="6" name="Image 0" descr="/home/user/commish/pitch/pptx/slides/imgs/commission-held.png">    </p:cNvPr>
          <p:cNvPicPr>
            <a:picLocks noChangeAspect="1"/>
          </p:cNvPicPr>
          <p:nvPr/>
        </p:nvPicPr>
        <p:blipFill>
          <a:blip r:embed="rId1"/>
          <a:stretch>
            <a:fillRect/>
          </a:stretch>
        </p:blipFill>
        <p:spPr>
          <a:xfrm>
            <a:off x="548640" y="1783080"/>
            <a:ext cx="3136392" cy="2743200"/>
          </a:xfrm>
          <a:prstGeom prst="rect">
            <a:avLst/>
          </a:prstGeom>
        </p:spPr>
      </p:pic>
      <p:sp>
        <p:nvSpPr>
          <p:cNvPr id="7" name="Text 4"/>
          <p:cNvSpPr/>
          <p:nvPr/>
        </p:nvSpPr>
        <p:spPr>
          <a:xfrm>
            <a:off x="4206240" y="2011680"/>
            <a:ext cx="4114800" cy="256032"/>
          </a:xfrm>
          <a:prstGeom prst="rect">
            <a:avLst/>
          </a:prstGeom>
          <a:noFill/>
          <a:ln/>
        </p:spPr>
        <p:txBody>
          <a:bodyPr wrap="square" lIns="0" tIns="0" rIns="0" bIns="0" rtlCol="0" anchor="ctr"/>
          <a:lstStyle/>
          <a:p>
            <a:pPr indent="0" marL="0">
              <a:buNone/>
            </a:pPr>
            <a:r>
              <a:rPr lang="en-US" sz="1000" b="1" spc="100" kern="0" dirty="0">
                <a:solidFill>
                  <a:srgbClr val="F5B544"/>
                </a:solidFill>
                <a:latin typeface="Consolas" pitchFamily="34" charset="0"/>
                <a:ea typeface="Consolas" pitchFamily="34" charset="-122"/>
                <a:cs typeface="Consolas" pitchFamily="34" charset="-120"/>
              </a:rPr>
              <a:t>RESERVED</a:t>
            </a:r>
            <a:endParaRPr lang="en-US" sz="1000" dirty="0"/>
          </a:p>
        </p:txBody>
      </p:sp>
      <p:sp>
        <p:nvSpPr>
          <p:cNvPr id="8" name="Text 5"/>
          <p:cNvSpPr/>
          <p:nvPr/>
        </p:nvSpPr>
        <p:spPr>
          <a:xfrm>
            <a:off x="4206240" y="2304288"/>
            <a:ext cx="4114800" cy="685800"/>
          </a:xfrm>
          <a:prstGeom prst="rect">
            <a:avLst/>
          </a:prstGeom>
          <a:noFill/>
          <a:ln/>
        </p:spPr>
        <p:txBody>
          <a:bodyPr wrap="square" lIns="0" tIns="0" rIns="0" bIns="0" rtlCol="0" anchor="t"/>
          <a:lstStyle/>
          <a:p>
            <a:pPr indent="0" marL="0">
              <a:buNone/>
            </a:pPr>
            <a:r>
              <a:rPr lang="en-US" sz="1500" dirty="0">
                <a:solidFill>
                  <a:srgbClr val="F4F4F5"/>
                </a:solidFill>
                <a:latin typeface="Arial" pitchFamily="34" charset="0"/>
                <a:ea typeface="Arial" pitchFamily="34" charset="-122"/>
                <a:cs typeface="Arial" pitchFamily="34" charset="-120"/>
              </a:rPr>
              <a:t>The cut sits in its own account. Withdrawals stop at the reserved amount.</a:t>
            </a:r>
            <a:endParaRPr lang="en-US" sz="1500" dirty="0"/>
          </a:p>
        </p:txBody>
      </p:sp>
      <p:sp>
        <p:nvSpPr>
          <p:cNvPr id="9" name="Text 6"/>
          <p:cNvSpPr/>
          <p:nvPr/>
        </p:nvSpPr>
        <p:spPr>
          <a:xfrm>
            <a:off x="4206240" y="3200400"/>
            <a:ext cx="4114800" cy="256032"/>
          </a:xfrm>
          <a:prstGeom prst="rect">
            <a:avLst/>
          </a:prstGeom>
          <a:noFill/>
          <a:ln/>
        </p:spPr>
        <p:txBody>
          <a:bodyPr wrap="square" lIns="0" tIns="0" rIns="0" bIns="0" rtlCol="0" anchor="ctr"/>
          <a:lstStyle/>
          <a:p>
            <a:pPr indent="0" marL="0">
              <a:buNone/>
            </a:pPr>
            <a:r>
              <a:rPr lang="en-US" sz="1000" b="1" spc="100" kern="0" dirty="0">
                <a:solidFill>
                  <a:srgbClr val="3DDC97"/>
                </a:solidFill>
                <a:latin typeface="Consolas" pitchFamily="34" charset="0"/>
                <a:ea typeface="Consolas" pitchFamily="34" charset="-122"/>
                <a:cs typeface="Consolas" pitchFamily="34" charset="-120"/>
              </a:rPr>
              <a:t>THEN</a:t>
            </a:r>
            <a:endParaRPr lang="en-US" sz="1000" dirty="0"/>
          </a:p>
        </p:txBody>
      </p:sp>
      <p:sp>
        <p:nvSpPr>
          <p:cNvPr id="10" name="Text 7"/>
          <p:cNvSpPr/>
          <p:nvPr/>
        </p:nvSpPr>
        <p:spPr>
          <a:xfrm>
            <a:off x="4206240" y="3493008"/>
            <a:ext cx="4114800" cy="685800"/>
          </a:xfrm>
          <a:prstGeom prst="rect">
            <a:avLst/>
          </a:prstGeom>
          <a:noFill/>
          <a:ln/>
        </p:spPr>
        <p:txBody>
          <a:bodyPr wrap="square" lIns="0" tIns="0" rIns="0" bIns="0" rtlCol="0" anchor="t"/>
          <a:lstStyle/>
          <a:p>
            <a:pPr indent="0" marL="0">
              <a:buNone/>
            </a:pPr>
            <a:r>
              <a:rPr lang="en-US" sz="1500" dirty="0">
                <a:solidFill>
                  <a:srgbClr val="F4F4F5"/>
                </a:solidFill>
                <a:latin typeface="Arial" pitchFamily="34" charset="0"/>
                <a:ea typeface="Arial" pitchFamily="34" charset="-122"/>
                <a:cs typeface="Arial" pitchFamily="34" charset="-120"/>
              </a:rPr>
              <a:t>A refund inside the window cancels it. After the window it can only be paid.</a:t>
            </a:r>
            <a:endParaRPr lang="en-US" sz="1500" dirty="0"/>
          </a:p>
        </p:txBody>
      </p:sp>
      <p:sp>
        <p:nvSpPr>
          <p:cNvPr id="11" name="Text 8"/>
          <p:cNvSpPr/>
          <p:nvPr/>
        </p:nvSpPr>
        <p:spPr>
          <a:xfrm>
            <a:off x="548640" y="4681728"/>
            <a:ext cx="7589520" cy="274320"/>
          </a:xfrm>
          <a:prstGeom prst="rect">
            <a:avLst/>
          </a:prstGeom>
          <a:noFill/>
          <a:ln/>
        </p:spPr>
        <p:txBody>
          <a:bodyPr wrap="square" lIns="0" tIns="0" rIns="0" bIns="0" rtlCol="0" anchor="ctr"/>
          <a:lstStyle/>
          <a:p>
            <a:pPr indent="0" marL="0">
              <a:buNone/>
            </a:pPr>
            <a:r>
              <a:rPr lang="en-US" sz="900" dirty="0">
                <a:solidFill>
                  <a:srgbClr val="71717A"/>
                </a:solidFill>
                <a:latin typeface="Arial" pitchFamily="34" charset="0"/>
                <a:ea typeface="Arial" pitchFamily="34" charset="-122"/>
                <a:cs typeface="Arial" pitchFamily="34" charset="-120"/>
              </a:rPr>
              <a:t>The commission card on getcommish.vercel.app, held inside the refund window</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0E"/>
        </a:solidFill>
      </p:bgPr>
    </p:bg>
    <p:spTree>
      <p:nvGrpSpPr>
        <p:cNvPr id="1" name=""/>
        <p:cNvGrpSpPr/>
        <p:nvPr/>
      </p:nvGrpSpPr>
      <p:grpSpPr>
        <a:xfrm>
          <a:off x="0" y="0"/>
          <a:ext cx="0" cy="0"/>
          <a:chOff x="0" y="0"/>
          <a:chExt cx="0" cy="0"/>
        </a:xfrm>
      </p:grpSpPr>
      <p:sp>
        <p:nvSpPr>
          <p:cNvPr id="2" name="Text 0"/>
          <p:cNvSpPr/>
          <p:nvPr/>
        </p:nvSpPr>
        <p:spPr>
          <a:xfrm>
            <a:off x="548640" y="384048"/>
            <a:ext cx="5486400" cy="256032"/>
          </a:xfrm>
          <a:prstGeom prst="rect">
            <a:avLst/>
          </a:prstGeom>
          <a:noFill/>
          <a:ln/>
        </p:spPr>
        <p:txBody>
          <a:bodyPr wrap="square" lIns="0" tIns="0" rIns="0" bIns="0" rtlCol="0" anchor="ctr"/>
          <a:lstStyle/>
          <a:p>
            <a:pPr indent="0" marL="0">
              <a:buNone/>
            </a:pPr>
            <a:r>
              <a:rPr lang="en-US" sz="1000" b="1" spc="200" kern="0" dirty="0">
                <a:solidFill>
                  <a:srgbClr val="A1A1AA"/>
                </a:solidFill>
                <a:latin typeface="Arial" pitchFamily="34" charset="0"/>
                <a:ea typeface="Arial" pitchFamily="34" charset="-122"/>
                <a:cs typeface="Arial" pitchFamily="34" charset="-120"/>
              </a:rPr>
              <a:t>IN USE</a:t>
            </a:r>
            <a:endParaRPr lang="en-US" sz="1000" dirty="0"/>
          </a:p>
        </p:txBody>
      </p:sp>
      <p:sp>
        <p:nvSpPr>
          <p:cNvPr id="3" name="Text 1"/>
          <p:cNvSpPr/>
          <p:nvPr/>
        </p:nvSpPr>
        <p:spPr>
          <a:xfrm>
            <a:off x="548640" y="676656"/>
            <a:ext cx="7498080" cy="914400"/>
          </a:xfrm>
          <a:prstGeom prst="rect">
            <a:avLst/>
          </a:prstGeom>
          <a:noFill/>
          <a:ln/>
        </p:spPr>
        <p:txBody>
          <a:bodyPr wrap="square" lIns="0" tIns="0" rIns="0" bIns="0" rtlCol="0" anchor="t">
            <a:normAutofit/>
          </a:bodyPr>
          <a:lstStyle/>
          <a:p>
            <a:pPr indent="0" marL="0">
              <a:buNone/>
            </a:pPr>
            <a:r>
              <a:rPr lang="en-US" sz="2800" b="1" dirty="0">
                <a:solidFill>
                  <a:srgbClr val="F4F4F5"/>
                </a:solidFill>
                <a:latin typeface="Arial" pitchFamily="34" charset="0"/>
                <a:ea typeface="Arial" pitchFamily="34" charset="-122"/>
                <a:cs typeface="Arial" pitchFamily="34" charset="-120"/>
              </a:rPr>
              <a:t>Record the sale, hold it through the window, then release.</a:t>
            </a:r>
            <a:endParaRPr lang="en-US" sz="2800" dirty="0"/>
          </a:p>
        </p:txBody>
      </p:sp>
      <p:sp>
        <p:nvSpPr>
          <p:cNvPr id="4" name="Shape 2"/>
          <p:cNvSpPr/>
          <p:nvPr/>
        </p:nvSpPr>
        <p:spPr>
          <a:xfrm>
            <a:off x="8321040" y="4709160"/>
            <a:ext cx="548640" cy="274320"/>
          </a:xfrm>
          <a:prstGeom prst="roundRect">
            <a:avLst>
              <a:gd name="adj" fmla="val 50000"/>
            </a:avLst>
          </a:prstGeom>
          <a:solidFill>
            <a:srgbClr val="27272A"/>
          </a:solidFill>
          <a:ln/>
        </p:spPr>
      </p:sp>
      <p:sp>
        <p:nvSpPr>
          <p:cNvPr id="5" name="Text 3"/>
          <p:cNvSpPr/>
          <p:nvPr/>
        </p:nvSpPr>
        <p:spPr>
          <a:xfrm>
            <a:off x="8321040" y="4709160"/>
            <a:ext cx="548640" cy="274320"/>
          </a:xfrm>
          <a:prstGeom prst="rect">
            <a:avLst/>
          </a:prstGeom>
          <a:noFill/>
          <a:ln/>
        </p:spPr>
        <p:txBody>
          <a:bodyPr wrap="square" lIns="0" tIns="0" rIns="0" bIns="0" rtlCol="0" anchor="ctr"/>
          <a:lstStyle/>
          <a:p>
            <a:pPr algn="ctr" indent="0" marL="0">
              <a:buNone/>
            </a:pPr>
            <a:r>
              <a:rPr lang="en-US" sz="1000" b="1" dirty="0">
                <a:solidFill>
                  <a:srgbClr val="A1A1AA"/>
                </a:solidFill>
                <a:latin typeface="Consolas" pitchFamily="34" charset="0"/>
                <a:ea typeface="Consolas" pitchFamily="34" charset="-122"/>
                <a:cs typeface="Consolas" pitchFamily="34" charset="-120"/>
              </a:rPr>
              <a:t>05</a:t>
            </a:r>
            <a:endParaRPr lang="en-US" sz="1000" dirty="0"/>
          </a:p>
        </p:txBody>
      </p:sp>
      <p:sp>
        <p:nvSpPr>
          <p:cNvPr id="6" name="Shape 4"/>
          <p:cNvSpPr/>
          <p:nvPr/>
        </p:nvSpPr>
        <p:spPr>
          <a:xfrm>
            <a:off x="548640" y="1965960"/>
            <a:ext cx="2377440" cy="2057400"/>
          </a:xfrm>
          <a:prstGeom prst="roundRect">
            <a:avLst>
              <a:gd name="adj" fmla="val 4444"/>
            </a:avLst>
          </a:prstGeom>
          <a:solidFill>
            <a:srgbClr val="141417"/>
          </a:solidFill>
          <a:ln w="12700">
            <a:solidFill>
              <a:srgbClr val="27272A"/>
            </a:solidFill>
            <a:prstDash val="solid"/>
          </a:ln>
        </p:spPr>
      </p:sp>
      <p:sp>
        <p:nvSpPr>
          <p:cNvPr id="7" name="Text 5"/>
          <p:cNvSpPr/>
          <p:nvPr/>
        </p:nvSpPr>
        <p:spPr>
          <a:xfrm>
            <a:off x="777240" y="2148840"/>
            <a:ext cx="914400" cy="256032"/>
          </a:xfrm>
          <a:prstGeom prst="rect">
            <a:avLst/>
          </a:prstGeom>
          <a:noFill/>
          <a:ln/>
        </p:spPr>
        <p:txBody>
          <a:bodyPr wrap="square" lIns="0" tIns="0" rIns="0" bIns="0" rtlCol="0" anchor="ctr"/>
          <a:lstStyle/>
          <a:p>
            <a:pPr indent="0" marL="0">
              <a:buNone/>
            </a:pPr>
            <a:r>
              <a:rPr lang="en-US" sz="1000" dirty="0">
                <a:solidFill>
                  <a:srgbClr val="A1A1AA"/>
                </a:solidFill>
                <a:latin typeface="Consolas" pitchFamily="34" charset="0"/>
                <a:ea typeface="Consolas" pitchFamily="34" charset="-122"/>
                <a:cs typeface="Consolas" pitchFamily="34" charset="-120"/>
              </a:rPr>
              <a:t>01</a:t>
            </a:r>
            <a:endParaRPr lang="en-US" sz="1000" dirty="0"/>
          </a:p>
        </p:txBody>
      </p:sp>
      <p:sp>
        <p:nvSpPr>
          <p:cNvPr id="8" name="Text 6"/>
          <p:cNvSpPr/>
          <p:nvPr/>
        </p:nvSpPr>
        <p:spPr>
          <a:xfrm>
            <a:off x="777240" y="2468880"/>
            <a:ext cx="1920240" cy="384048"/>
          </a:xfrm>
          <a:prstGeom prst="rect">
            <a:avLst/>
          </a:prstGeom>
          <a:noFill/>
          <a:ln/>
        </p:spPr>
        <p:txBody>
          <a:bodyPr wrap="square" lIns="0" tIns="0" rIns="0" bIns="0" rtlCol="0" anchor="ctr"/>
          <a:lstStyle/>
          <a:p>
            <a:pPr indent="0" marL="0">
              <a:buNone/>
            </a:pPr>
            <a:r>
              <a:rPr lang="en-US" sz="2000" b="1" dirty="0">
                <a:solidFill>
                  <a:srgbClr val="F4F4F5"/>
                </a:solidFill>
                <a:latin typeface="Arial" pitchFamily="34" charset="0"/>
                <a:ea typeface="Arial" pitchFamily="34" charset="-122"/>
                <a:cs typeface="Arial" pitchFamily="34" charset="-120"/>
              </a:rPr>
              <a:t>Record</a:t>
            </a:r>
            <a:endParaRPr lang="en-US" sz="2000" dirty="0"/>
          </a:p>
        </p:txBody>
      </p:sp>
      <p:sp>
        <p:nvSpPr>
          <p:cNvPr id="9" name="Text 7"/>
          <p:cNvSpPr/>
          <p:nvPr/>
        </p:nvSpPr>
        <p:spPr>
          <a:xfrm>
            <a:off x="777240" y="2926080"/>
            <a:ext cx="1965960" cy="960120"/>
          </a:xfrm>
          <a:prstGeom prst="rect">
            <a:avLst/>
          </a:prstGeom>
          <a:noFill/>
          <a:ln/>
        </p:spPr>
        <p:txBody>
          <a:bodyPr wrap="square" lIns="0" tIns="0" rIns="0" bIns="0" rtlCol="0" anchor="t"/>
          <a:lstStyle/>
          <a:p>
            <a:pPr indent="0" marL="0">
              <a:buNone/>
            </a:pPr>
            <a:r>
              <a:rPr lang="en-US" sz="1200" dirty="0">
                <a:solidFill>
                  <a:srgbClr val="A1A1AA"/>
                </a:solidFill>
                <a:latin typeface="Arial" pitchFamily="34" charset="0"/>
                <a:ea typeface="Arial" pitchFamily="34" charset="-122"/>
                <a:cs typeface="Arial" pitchFamily="34" charset="-120"/>
              </a:rPr>
              <a:t>The brand's server signs it. The program sets the cut from the campaign rate.</a:t>
            </a:r>
            <a:endParaRPr lang="en-US" sz="1200" dirty="0"/>
          </a:p>
        </p:txBody>
      </p:sp>
      <p:sp>
        <p:nvSpPr>
          <p:cNvPr id="10" name="Text 8"/>
          <p:cNvSpPr/>
          <p:nvPr/>
        </p:nvSpPr>
        <p:spPr>
          <a:xfrm>
            <a:off x="2926080" y="2743200"/>
            <a:ext cx="365760" cy="457200"/>
          </a:xfrm>
          <a:prstGeom prst="rect">
            <a:avLst/>
          </a:prstGeom>
          <a:noFill/>
          <a:ln/>
        </p:spPr>
        <p:txBody>
          <a:bodyPr wrap="square" lIns="0" tIns="0" rIns="0" bIns="0" rtlCol="0" anchor="ctr"/>
          <a:lstStyle/>
          <a:p>
            <a:pPr algn="ctr" indent="0" marL="0">
              <a:buNone/>
            </a:pPr>
            <a:r>
              <a:rPr lang="en-US" sz="2000" dirty="0">
                <a:solidFill>
                  <a:srgbClr val="A1A1AA"/>
                </a:solidFill>
                <a:latin typeface="Arial" pitchFamily="34" charset="0"/>
                <a:ea typeface="Arial" pitchFamily="34" charset="-122"/>
                <a:cs typeface="Arial" pitchFamily="34" charset="-120"/>
              </a:rPr>
              <a:t>→</a:t>
            </a:r>
            <a:endParaRPr lang="en-US" sz="2000" dirty="0"/>
          </a:p>
        </p:txBody>
      </p:sp>
      <p:sp>
        <p:nvSpPr>
          <p:cNvPr id="11" name="Shape 9"/>
          <p:cNvSpPr/>
          <p:nvPr/>
        </p:nvSpPr>
        <p:spPr>
          <a:xfrm>
            <a:off x="3291840" y="1965960"/>
            <a:ext cx="2377440" cy="2057400"/>
          </a:xfrm>
          <a:prstGeom prst="roundRect">
            <a:avLst>
              <a:gd name="adj" fmla="val 4444"/>
            </a:avLst>
          </a:prstGeom>
          <a:solidFill>
            <a:srgbClr val="141417"/>
          </a:solidFill>
          <a:ln w="12700">
            <a:solidFill>
              <a:srgbClr val="27272A"/>
            </a:solidFill>
            <a:prstDash val="solid"/>
          </a:ln>
        </p:spPr>
      </p:sp>
      <p:sp>
        <p:nvSpPr>
          <p:cNvPr id="12" name="Text 10"/>
          <p:cNvSpPr/>
          <p:nvPr/>
        </p:nvSpPr>
        <p:spPr>
          <a:xfrm>
            <a:off x="3520440" y="2148840"/>
            <a:ext cx="914400" cy="256032"/>
          </a:xfrm>
          <a:prstGeom prst="rect">
            <a:avLst/>
          </a:prstGeom>
          <a:noFill/>
          <a:ln/>
        </p:spPr>
        <p:txBody>
          <a:bodyPr wrap="square" lIns="0" tIns="0" rIns="0" bIns="0" rtlCol="0" anchor="ctr"/>
          <a:lstStyle/>
          <a:p>
            <a:pPr indent="0" marL="0">
              <a:buNone/>
            </a:pPr>
            <a:r>
              <a:rPr lang="en-US" sz="1000" dirty="0">
                <a:solidFill>
                  <a:srgbClr val="A1A1AA"/>
                </a:solidFill>
                <a:latin typeface="Consolas" pitchFamily="34" charset="0"/>
                <a:ea typeface="Consolas" pitchFamily="34" charset="-122"/>
                <a:cs typeface="Consolas" pitchFamily="34" charset="-120"/>
              </a:rPr>
              <a:t>02</a:t>
            </a:r>
            <a:endParaRPr lang="en-US" sz="1000" dirty="0"/>
          </a:p>
        </p:txBody>
      </p:sp>
      <p:sp>
        <p:nvSpPr>
          <p:cNvPr id="13" name="Text 11"/>
          <p:cNvSpPr/>
          <p:nvPr/>
        </p:nvSpPr>
        <p:spPr>
          <a:xfrm>
            <a:off x="3520440" y="2468880"/>
            <a:ext cx="1920240" cy="384048"/>
          </a:xfrm>
          <a:prstGeom prst="rect">
            <a:avLst/>
          </a:prstGeom>
          <a:noFill/>
          <a:ln/>
        </p:spPr>
        <p:txBody>
          <a:bodyPr wrap="square" lIns="0" tIns="0" rIns="0" bIns="0" rtlCol="0" anchor="ctr"/>
          <a:lstStyle/>
          <a:p>
            <a:pPr indent="0" marL="0">
              <a:buNone/>
            </a:pPr>
            <a:r>
              <a:rPr lang="en-US" sz="2000" b="1" dirty="0">
                <a:solidFill>
                  <a:srgbClr val="F5B544"/>
                </a:solidFill>
                <a:latin typeface="Arial" pitchFamily="34" charset="0"/>
                <a:ea typeface="Arial" pitchFamily="34" charset="-122"/>
                <a:cs typeface="Arial" pitchFamily="34" charset="-120"/>
              </a:rPr>
              <a:t>Hold</a:t>
            </a:r>
            <a:endParaRPr lang="en-US" sz="2000" dirty="0"/>
          </a:p>
        </p:txBody>
      </p:sp>
      <p:sp>
        <p:nvSpPr>
          <p:cNvPr id="14" name="Text 12"/>
          <p:cNvSpPr/>
          <p:nvPr/>
        </p:nvSpPr>
        <p:spPr>
          <a:xfrm>
            <a:off x="3520440" y="2926080"/>
            <a:ext cx="1965960" cy="960120"/>
          </a:xfrm>
          <a:prstGeom prst="rect">
            <a:avLst/>
          </a:prstGeom>
          <a:noFill/>
          <a:ln/>
        </p:spPr>
        <p:txBody>
          <a:bodyPr wrap="square" lIns="0" tIns="0" rIns="0" bIns="0" rtlCol="0" anchor="t"/>
          <a:lstStyle/>
          <a:p>
            <a:pPr indent="0" marL="0">
              <a:buNone/>
            </a:pPr>
            <a:r>
              <a:rPr lang="en-US" sz="1200" dirty="0">
                <a:solidFill>
                  <a:srgbClr val="A1A1AA"/>
                </a:solidFill>
                <a:latin typeface="Arial" pitchFamily="34" charset="0"/>
                <a:ea typeface="Arial" pitchFamily="34" charset="-122"/>
                <a:cs typeface="Arial" pitchFamily="34" charset="-120"/>
              </a:rPr>
              <a:t>A refund inside the window cancels it.</a:t>
            </a:r>
            <a:endParaRPr lang="en-US" sz="1200" dirty="0"/>
          </a:p>
        </p:txBody>
      </p:sp>
      <p:sp>
        <p:nvSpPr>
          <p:cNvPr id="15" name="Text 13"/>
          <p:cNvSpPr/>
          <p:nvPr/>
        </p:nvSpPr>
        <p:spPr>
          <a:xfrm>
            <a:off x="5669280" y="2743200"/>
            <a:ext cx="365760" cy="457200"/>
          </a:xfrm>
          <a:prstGeom prst="rect">
            <a:avLst/>
          </a:prstGeom>
          <a:noFill/>
          <a:ln/>
        </p:spPr>
        <p:txBody>
          <a:bodyPr wrap="square" lIns="0" tIns="0" rIns="0" bIns="0" rtlCol="0" anchor="ctr"/>
          <a:lstStyle/>
          <a:p>
            <a:pPr algn="ctr" indent="0" marL="0">
              <a:buNone/>
            </a:pPr>
            <a:r>
              <a:rPr lang="en-US" sz="2000" dirty="0">
                <a:solidFill>
                  <a:srgbClr val="A1A1AA"/>
                </a:solidFill>
                <a:latin typeface="Arial" pitchFamily="34" charset="0"/>
                <a:ea typeface="Arial" pitchFamily="34" charset="-122"/>
                <a:cs typeface="Arial" pitchFamily="34" charset="-120"/>
              </a:rPr>
              <a:t>→</a:t>
            </a:r>
            <a:endParaRPr lang="en-US" sz="2000" dirty="0"/>
          </a:p>
        </p:txBody>
      </p:sp>
      <p:sp>
        <p:nvSpPr>
          <p:cNvPr id="16" name="Shape 14"/>
          <p:cNvSpPr/>
          <p:nvPr/>
        </p:nvSpPr>
        <p:spPr>
          <a:xfrm>
            <a:off x="6035040" y="1965960"/>
            <a:ext cx="2377440" cy="2057400"/>
          </a:xfrm>
          <a:prstGeom prst="roundRect">
            <a:avLst>
              <a:gd name="adj" fmla="val 4444"/>
            </a:avLst>
          </a:prstGeom>
          <a:solidFill>
            <a:srgbClr val="141417"/>
          </a:solidFill>
          <a:ln w="19050">
            <a:solidFill>
              <a:srgbClr val="3DDC97"/>
            </a:solidFill>
            <a:prstDash val="solid"/>
          </a:ln>
        </p:spPr>
      </p:sp>
      <p:sp>
        <p:nvSpPr>
          <p:cNvPr id="17" name="Text 15"/>
          <p:cNvSpPr/>
          <p:nvPr/>
        </p:nvSpPr>
        <p:spPr>
          <a:xfrm>
            <a:off x="6263640" y="2148840"/>
            <a:ext cx="914400" cy="256032"/>
          </a:xfrm>
          <a:prstGeom prst="rect">
            <a:avLst/>
          </a:prstGeom>
          <a:noFill/>
          <a:ln/>
        </p:spPr>
        <p:txBody>
          <a:bodyPr wrap="square" lIns="0" tIns="0" rIns="0" bIns="0" rtlCol="0" anchor="ctr"/>
          <a:lstStyle/>
          <a:p>
            <a:pPr indent="0" marL="0">
              <a:buNone/>
            </a:pPr>
            <a:r>
              <a:rPr lang="en-US" sz="1000" dirty="0">
                <a:solidFill>
                  <a:srgbClr val="A1A1AA"/>
                </a:solidFill>
                <a:latin typeface="Consolas" pitchFamily="34" charset="0"/>
                <a:ea typeface="Consolas" pitchFamily="34" charset="-122"/>
                <a:cs typeface="Consolas" pitchFamily="34" charset="-120"/>
              </a:rPr>
              <a:t>03</a:t>
            </a:r>
            <a:endParaRPr lang="en-US" sz="1000" dirty="0"/>
          </a:p>
        </p:txBody>
      </p:sp>
      <p:sp>
        <p:nvSpPr>
          <p:cNvPr id="18" name="Text 16"/>
          <p:cNvSpPr/>
          <p:nvPr/>
        </p:nvSpPr>
        <p:spPr>
          <a:xfrm>
            <a:off x="6263640" y="2468880"/>
            <a:ext cx="1920240" cy="384048"/>
          </a:xfrm>
          <a:prstGeom prst="rect">
            <a:avLst/>
          </a:prstGeom>
          <a:noFill/>
          <a:ln/>
        </p:spPr>
        <p:txBody>
          <a:bodyPr wrap="square" lIns="0" tIns="0" rIns="0" bIns="0" rtlCol="0" anchor="ctr"/>
          <a:lstStyle/>
          <a:p>
            <a:pPr indent="0" marL="0">
              <a:buNone/>
            </a:pPr>
            <a:r>
              <a:rPr lang="en-US" sz="2000" b="1" dirty="0">
                <a:solidFill>
                  <a:srgbClr val="3DDC97"/>
                </a:solidFill>
                <a:latin typeface="Arial" pitchFamily="34" charset="0"/>
                <a:ea typeface="Arial" pitchFamily="34" charset="-122"/>
                <a:cs typeface="Arial" pitchFamily="34" charset="-120"/>
              </a:rPr>
              <a:t>Release</a:t>
            </a:r>
            <a:endParaRPr lang="en-US" sz="2000" dirty="0"/>
          </a:p>
        </p:txBody>
      </p:sp>
      <p:sp>
        <p:nvSpPr>
          <p:cNvPr id="19" name="Text 17"/>
          <p:cNvSpPr/>
          <p:nvPr/>
        </p:nvSpPr>
        <p:spPr>
          <a:xfrm>
            <a:off x="6263640" y="2926080"/>
            <a:ext cx="1965960" cy="960120"/>
          </a:xfrm>
          <a:prstGeom prst="rect">
            <a:avLst/>
          </a:prstGeom>
          <a:noFill/>
          <a:ln/>
        </p:spPr>
        <p:txBody>
          <a:bodyPr wrap="square" lIns="0" tIns="0" rIns="0" bIns="0" rtlCol="0" anchor="t"/>
          <a:lstStyle/>
          <a:p>
            <a:pPr indent="0" marL="0">
              <a:buNone/>
            </a:pPr>
            <a:r>
              <a:rPr lang="en-US" sz="1200" dirty="0">
                <a:solidFill>
                  <a:srgbClr val="A1A1AA"/>
                </a:solidFill>
                <a:latin typeface="Arial" pitchFamily="34" charset="0"/>
                <a:ea typeface="Arial" pitchFamily="34" charset="-122"/>
                <a:cs typeface="Arial" pitchFamily="34" charset="-120"/>
              </a:rPr>
              <a:t>Anyone can trigger it. USDC goes only to the payee.</a:t>
            </a:r>
            <a:endParaRPr lang="en-US" sz="1200" dirty="0"/>
          </a:p>
        </p:txBody>
      </p:sp>
      <p:sp>
        <p:nvSpPr>
          <p:cNvPr id="20" name="Text 18"/>
          <p:cNvSpPr/>
          <p:nvPr/>
        </p:nvSpPr>
        <p:spPr>
          <a:xfrm>
            <a:off x="548640" y="4206240"/>
            <a:ext cx="7680960" cy="274320"/>
          </a:xfrm>
          <a:prstGeom prst="rect">
            <a:avLst/>
          </a:prstGeom>
          <a:noFill/>
          <a:ln/>
        </p:spPr>
        <p:txBody>
          <a:bodyPr wrap="square" lIns="0" tIns="0" rIns="0" bIns="0" rtlCol="0" anchor="ctr"/>
          <a:lstStyle/>
          <a:p>
            <a:pPr indent="0" marL="0">
              <a:buNone/>
            </a:pPr>
            <a:r>
              <a:rPr lang="en-US" sz="1000" dirty="0">
                <a:solidFill>
                  <a:srgbClr val="71717A"/>
                </a:solidFill>
                <a:latin typeface="Consolas" pitchFamily="34" charset="0"/>
                <a:ea typeface="Consolas" pitchFamily="34" charset="-122"/>
                <a:cs typeface="Consolas" pitchFamily="34" charset="-120"/>
              </a:rPr>
              <a:t>record_sale  ·  cancel  ·  release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E"/>
        </a:solidFill>
      </p:bgPr>
    </p:bg>
    <p:spTree>
      <p:nvGrpSpPr>
        <p:cNvPr id="1" name=""/>
        <p:cNvGrpSpPr/>
        <p:nvPr/>
      </p:nvGrpSpPr>
      <p:grpSpPr>
        <a:xfrm>
          <a:off x="0" y="0"/>
          <a:ext cx="0" cy="0"/>
          <a:chOff x="0" y="0"/>
          <a:chExt cx="0" cy="0"/>
        </a:xfrm>
      </p:grpSpPr>
      <p:sp>
        <p:nvSpPr>
          <p:cNvPr id="2" name="Text 0"/>
          <p:cNvSpPr/>
          <p:nvPr/>
        </p:nvSpPr>
        <p:spPr>
          <a:xfrm>
            <a:off x="548640" y="384048"/>
            <a:ext cx="5486400" cy="256032"/>
          </a:xfrm>
          <a:prstGeom prst="rect">
            <a:avLst/>
          </a:prstGeom>
          <a:noFill/>
          <a:ln/>
        </p:spPr>
        <p:txBody>
          <a:bodyPr wrap="square" lIns="0" tIns="0" rIns="0" bIns="0" rtlCol="0" anchor="ctr"/>
          <a:lstStyle/>
          <a:p>
            <a:pPr indent="0" marL="0">
              <a:buNone/>
            </a:pPr>
            <a:r>
              <a:rPr lang="en-US" sz="1000" b="1" spc="200" kern="0" dirty="0">
                <a:solidFill>
                  <a:srgbClr val="A1A1AA"/>
                </a:solidFill>
                <a:latin typeface="Arial" pitchFamily="34" charset="0"/>
                <a:ea typeface="Arial" pitchFamily="34" charset="-122"/>
                <a:cs typeface="Arial" pitchFamily="34" charset="-120"/>
              </a:rPr>
              <a:t>EARLY PAYOUT</a:t>
            </a:r>
            <a:endParaRPr lang="en-US" sz="1000" dirty="0"/>
          </a:p>
        </p:txBody>
      </p:sp>
      <p:sp>
        <p:nvSpPr>
          <p:cNvPr id="3" name="Text 1"/>
          <p:cNvSpPr/>
          <p:nvPr/>
        </p:nvSpPr>
        <p:spPr>
          <a:xfrm>
            <a:off x="548640" y="676656"/>
            <a:ext cx="7498080" cy="914400"/>
          </a:xfrm>
          <a:prstGeom prst="rect">
            <a:avLst/>
          </a:prstGeom>
          <a:noFill/>
          <a:ln/>
        </p:spPr>
        <p:txBody>
          <a:bodyPr wrap="square" lIns="0" tIns="0" rIns="0" bIns="0" rtlCol="0" anchor="t">
            <a:normAutofit/>
          </a:bodyPr>
          <a:lstStyle/>
          <a:p>
            <a:pPr indent="0" marL="0">
              <a:buNone/>
            </a:pPr>
            <a:r>
              <a:rPr lang="en-US" sz="2800" b="1" dirty="0">
                <a:solidFill>
                  <a:srgbClr val="F4F4F5"/>
                </a:solidFill>
                <a:latin typeface="Arial" pitchFamily="34" charset="0"/>
                <a:ea typeface="Arial" pitchFamily="34" charset="-122"/>
                <a:cs typeface="Arial" pitchFamily="34" charset="-120"/>
              </a:rPr>
              <a:t>A creator who can't wait sells the commission for cash today.</a:t>
            </a:r>
            <a:endParaRPr lang="en-US" sz="2800" dirty="0"/>
          </a:p>
        </p:txBody>
      </p:sp>
      <p:sp>
        <p:nvSpPr>
          <p:cNvPr id="4" name="Shape 2"/>
          <p:cNvSpPr/>
          <p:nvPr/>
        </p:nvSpPr>
        <p:spPr>
          <a:xfrm>
            <a:off x="8321040" y="4709160"/>
            <a:ext cx="548640" cy="274320"/>
          </a:xfrm>
          <a:prstGeom prst="roundRect">
            <a:avLst>
              <a:gd name="adj" fmla="val 50000"/>
            </a:avLst>
          </a:prstGeom>
          <a:solidFill>
            <a:srgbClr val="27272A"/>
          </a:solidFill>
          <a:ln/>
        </p:spPr>
      </p:sp>
      <p:sp>
        <p:nvSpPr>
          <p:cNvPr id="5" name="Text 3"/>
          <p:cNvSpPr/>
          <p:nvPr/>
        </p:nvSpPr>
        <p:spPr>
          <a:xfrm>
            <a:off x="8321040" y="4709160"/>
            <a:ext cx="548640" cy="274320"/>
          </a:xfrm>
          <a:prstGeom prst="rect">
            <a:avLst/>
          </a:prstGeom>
          <a:noFill/>
          <a:ln/>
        </p:spPr>
        <p:txBody>
          <a:bodyPr wrap="square" lIns="0" tIns="0" rIns="0" bIns="0" rtlCol="0" anchor="ctr"/>
          <a:lstStyle/>
          <a:p>
            <a:pPr algn="ctr" indent="0" marL="0">
              <a:buNone/>
            </a:pPr>
            <a:r>
              <a:rPr lang="en-US" sz="1000" b="1" dirty="0">
                <a:solidFill>
                  <a:srgbClr val="A1A1AA"/>
                </a:solidFill>
                <a:latin typeface="Consolas" pitchFamily="34" charset="0"/>
                <a:ea typeface="Consolas" pitchFamily="34" charset="-122"/>
                <a:cs typeface="Consolas" pitchFamily="34" charset="-120"/>
              </a:rPr>
              <a:t>06</a:t>
            </a:r>
            <a:endParaRPr lang="en-US" sz="1000" dirty="0"/>
          </a:p>
        </p:txBody>
      </p:sp>
      <p:sp>
        <p:nvSpPr>
          <p:cNvPr id="6" name="Text 4"/>
          <p:cNvSpPr/>
          <p:nvPr/>
        </p:nvSpPr>
        <p:spPr>
          <a:xfrm>
            <a:off x="548640" y="2240280"/>
            <a:ext cx="2103120" cy="384048"/>
          </a:xfrm>
          <a:prstGeom prst="rect">
            <a:avLst/>
          </a:prstGeom>
          <a:noFill/>
          <a:ln/>
        </p:spPr>
        <p:txBody>
          <a:bodyPr wrap="square" lIns="0" tIns="0" rIns="0" bIns="0" rtlCol="0" anchor="ctr"/>
          <a:lstStyle/>
          <a:p>
            <a:pPr indent="0" marL="0">
              <a:buNone/>
            </a:pPr>
            <a:r>
              <a:rPr lang="en-US" sz="1400" dirty="0">
                <a:solidFill>
                  <a:srgbClr val="F4F4F5"/>
                </a:solidFill>
                <a:latin typeface="Arial" pitchFamily="34" charset="0"/>
                <a:ea typeface="Arial" pitchFamily="34" charset="-122"/>
                <a:cs typeface="Arial" pitchFamily="34" charset="-120"/>
              </a:rPr>
              <a:t>Creator, paid today</a:t>
            </a:r>
            <a:endParaRPr lang="en-US" sz="1400" dirty="0"/>
          </a:p>
        </p:txBody>
      </p:sp>
      <p:sp>
        <p:nvSpPr>
          <p:cNvPr id="7" name="Shape 5"/>
          <p:cNvSpPr/>
          <p:nvPr/>
        </p:nvSpPr>
        <p:spPr>
          <a:xfrm>
            <a:off x="2697480" y="2267712"/>
            <a:ext cx="4572000" cy="329184"/>
          </a:xfrm>
          <a:prstGeom prst="roundRect">
            <a:avLst>
              <a:gd name="adj" fmla="val 13889"/>
            </a:avLst>
          </a:prstGeom>
          <a:solidFill>
            <a:srgbClr val="141417"/>
          </a:solidFill>
          <a:ln/>
        </p:spPr>
      </p:sp>
      <p:sp>
        <p:nvSpPr>
          <p:cNvPr id="8" name="Shape 6"/>
          <p:cNvSpPr/>
          <p:nvPr/>
        </p:nvSpPr>
        <p:spPr>
          <a:xfrm>
            <a:off x="2697480" y="2267712"/>
            <a:ext cx="4434840" cy="329184"/>
          </a:xfrm>
          <a:prstGeom prst="roundRect">
            <a:avLst>
              <a:gd name="adj" fmla="val 13889"/>
            </a:avLst>
          </a:prstGeom>
          <a:solidFill>
            <a:srgbClr val="3DDC97"/>
          </a:solidFill>
          <a:ln/>
        </p:spPr>
      </p:sp>
      <p:sp>
        <p:nvSpPr>
          <p:cNvPr id="9" name="Text 7"/>
          <p:cNvSpPr/>
          <p:nvPr/>
        </p:nvSpPr>
        <p:spPr>
          <a:xfrm>
            <a:off x="7406640" y="2240280"/>
            <a:ext cx="1280160" cy="384048"/>
          </a:xfrm>
          <a:prstGeom prst="rect">
            <a:avLst/>
          </a:prstGeom>
          <a:noFill/>
          <a:ln/>
        </p:spPr>
        <p:txBody>
          <a:bodyPr wrap="square" lIns="0" tIns="0" rIns="0" bIns="0" rtlCol="0" anchor="ctr"/>
          <a:lstStyle/>
          <a:p>
            <a:pPr indent="0" marL="0">
              <a:buNone/>
            </a:pPr>
            <a:r>
              <a:rPr lang="en-US" sz="1400" b="1" dirty="0">
                <a:solidFill>
                  <a:srgbClr val="F4F4F5"/>
                </a:solidFill>
                <a:latin typeface="Consolas" pitchFamily="34" charset="0"/>
                <a:ea typeface="Consolas" pitchFamily="34" charset="-122"/>
                <a:cs typeface="Consolas" pitchFamily="34" charset="-120"/>
              </a:rPr>
              <a:t>24.25 USDC</a:t>
            </a:r>
            <a:endParaRPr lang="en-US" sz="1400" dirty="0"/>
          </a:p>
        </p:txBody>
      </p:sp>
      <p:sp>
        <p:nvSpPr>
          <p:cNvPr id="10" name="Text 8"/>
          <p:cNvSpPr/>
          <p:nvPr/>
        </p:nvSpPr>
        <p:spPr>
          <a:xfrm>
            <a:off x="548640" y="2971800"/>
            <a:ext cx="2103120" cy="384048"/>
          </a:xfrm>
          <a:prstGeom prst="rect">
            <a:avLst/>
          </a:prstGeom>
          <a:noFill/>
          <a:ln/>
        </p:spPr>
        <p:txBody>
          <a:bodyPr wrap="square" lIns="0" tIns="0" rIns="0" bIns="0" rtlCol="0" anchor="ctr"/>
          <a:lstStyle/>
          <a:p>
            <a:pPr indent="0" marL="0">
              <a:buNone/>
            </a:pPr>
            <a:r>
              <a:rPr lang="en-US" sz="1400" dirty="0">
                <a:solidFill>
                  <a:srgbClr val="F4F4F5"/>
                </a:solidFill>
                <a:latin typeface="Arial" pitchFamily="34" charset="0"/>
                <a:ea typeface="Arial" pitchFamily="34" charset="-122"/>
                <a:cs typeface="Arial" pitchFamily="34" charset="-120"/>
              </a:rPr>
              <a:t>Buyer, paid at release</a:t>
            </a:r>
            <a:endParaRPr lang="en-US" sz="1400" dirty="0"/>
          </a:p>
        </p:txBody>
      </p:sp>
      <p:sp>
        <p:nvSpPr>
          <p:cNvPr id="11" name="Shape 9"/>
          <p:cNvSpPr/>
          <p:nvPr/>
        </p:nvSpPr>
        <p:spPr>
          <a:xfrm>
            <a:off x="2697480" y="2999232"/>
            <a:ext cx="4572000" cy="329184"/>
          </a:xfrm>
          <a:prstGeom prst="roundRect">
            <a:avLst>
              <a:gd name="adj" fmla="val 13889"/>
            </a:avLst>
          </a:prstGeom>
          <a:solidFill>
            <a:srgbClr val="141417"/>
          </a:solidFill>
          <a:ln/>
        </p:spPr>
      </p:sp>
      <p:sp>
        <p:nvSpPr>
          <p:cNvPr id="12" name="Shape 10"/>
          <p:cNvSpPr/>
          <p:nvPr/>
        </p:nvSpPr>
        <p:spPr>
          <a:xfrm>
            <a:off x="2697480" y="2999232"/>
            <a:ext cx="4572000" cy="329184"/>
          </a:xfrm>
          <a:prstGeom prst="roundRect">
            <a:avLst>
              <a:gd name="adj" fmla="val 13889"/>
            </a:avLst>
          </a:prstGeom>
          <a:solidFill>
            <a:srgbClr val="52525B"/>
          </a:solidFill>
          <a:ln/>
        </p:spPr>
      </p:sp>
      <p:sp>
        <p:nvSpPr>
          <p:cNvPr id="13" name="Text 11"/>
          <p:cNvSpPr/>
          <p:nvPr/>
        </p:nvSpPr>
        <p:spPr>
          <a:xfrm>
            <a:off x="7406640" y="2971800"/>
            <a:ext cx="1280160" cy="384048"/>
          </a:xfrm>
          <a:prstGeom prst="rect">
            <a:avLst/>
          </a:prstGeom>
          <a:noFill/>
          <a:ln/>
        </p:spPr>
        <p:txBody>
          <a:bodyPr wrap="square" lIns="0" tIns="0" rIns="0" bIns="0" rtlCol="0" anchor="ctr"/>
          <a:lstStyle/>
          <a:p>
            <a:pPr indent="0" marL="0">
              <a:buNone/>
            </a:pPr>
            <a:r>
              <a:rPr lang="en-US" sz="1400" b="1" dirty="0">
                <a:solidFill>
                  <a:srgbClr val="F4F4F5"/>
                </a:solidFill>
                <a:latin typeface="Consolas" pitchFamily="34" charset="0"/>
                <a:ea typeface="Consolas" pitchFamily="34" charset="-122"/>
                <a:cs typeface="Consolas" pitchFamily="34" charset="-120"/>
              </a:rPr>
              <a:t>25.00 USDC</a:t>
            </a:r>
            <a:endParaRPr lang="en-US" sz="1400" dirty="0"/>
          </a:p>
        </p:txBody>
      </p:sp>
      <p:sp>
        <p:nvSpPr>
          <p:cNvPr id="14" name="Text 12"/>
          <p:cNvSpPr/>
          <p:nvPr/>
        </p:nvSpPr>
        <p:spPr>
          <a:xfrm>
            <a:off x="2697480" y="3840480"/>
            <a:ext cx="5486400" cy="320040"/>
          </a:xfrm>
          <a:prstGeom prst="rect">
            <a:avLst/>
          </a:prstGeom>
          <a:noFill/>
          <a:ln/>
        </p:spPr>
        <p:txBody>
          <a:bodyPr wrap="square" lIns="0" tIns="0" rIns="0" bIns="0" rtlCol="0" anchor="ctr"/>
          <a:lstStyle/>
          <a:p>
            <a:pPr indent="0" marL="0">
              <a:buNone/>
            </a:pPr>
            <a:r>
              <a:rPr lang="en-US" sz="1200" dirty="0">
                <a:solidFill>
                  <a:srgbClr val="A1A1AA"/>
                </a:solidFill>
                <a:latin typeface="Arial" pitchFamily="34" charset="0"/>
                <a:ea typeface="Arial" pitchFamily="34" charset="-122"/>
                <a:cs typeface="Arial" pitchFamily="34" charset="-120"/>
              </a:rPr>
              <a:t>The buyer becomes the payee and carries the refund risk.</a:t>
            </a:r>
            <a:endParaRPr lang="en-US" sz="1200" dirty="0"/>
          </a:p>
        </p:txBody>
      </p:sp>
      <p:sp>
        <p:nvSpPr>
          <p:cNvPr id="15" name="Text 13"/>
          <p:cNvSpPr/>
          <p:nvPr/>
        </p:nvSpPr>
        <p:spPr>
          <a:xfrm>
            <a:off x="548640" y="4681728"/>
            <a:ext cx="7589520" cy="274320"/>
          </a:xfrm>
          <a:prstGeom prst="rect">
            <a:avLst/>
          </a:prstGeom>
          <a:noFill/>
          <a:ln/>
        </p:spPr>
        <p:txBody>
          <a:bodyPr wrap="square" lIns="0" tIns="0" rIns="0" bIns="0" rtlCol="0" anchor="ctr"/>
          <a:lstStyle/>
          <a:p>
            <a:pPr indent="0" marL="0">
              <a:buNone/>
            </a:pPr>
            <a:r>
              <a:rPr lang="en-US" sz="900" dirty="0">
                <a:solidFill>
                  <a:srgbClr val="71717A"/>
                </a:solidFill>
                <a:latin typeface="Arial" pitchFamily="34" charset="0"/>
                <a:ea typeface="Arial" pitchFamily="34" charset="-122"/>
                <a:cs typeface="Arial" pitchFamily="34" charset="-120"/>
              </a:rPr>
              <a:t>Example: a 25.00 USDC commission sold at a 3% discount. Illustration, not outside data.</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E"/>
        </a:solidFill>
      </p:bgPr>
    </p:bg>
    <p:spTree>
      <p:nvGrpSpPr>
        <p:cNvPr id="1" name=""/>
        <p:cNvGrpSpPr/>
        <p:nvPr/>
      </p:nvGrpSpPr>
      <p:grpSpPr>
        <a:xfrm>
          <a:off x="0" y="0"/>
          <a:ext cx="0" cy="0"/>
          <a:chOff x="0" y="0"/>
          <a:chExt cx="0" cy="0"/>
        </a:xfrm>
      </p:grpSpPr>
      <p:sp>
        <p:nvSpPr>
          <p:cNvPr id="2" name="Text 0"/>
          <p:cNvSpPr/>
          <p:nvPr/>
        </p:nvSpPr>
        <p:spPr>
          <a:xfrm>
            <a:off x="548640" y="384048"/>
            <a:ext cx="5486400" cy="256032"/>
          </a:xfrm>
          <a:prstGeom prst="rect">
            <a:avLst/>
          </a:prstGeom>
          <a:noFill/>
          <a:ln/>
        </p:spPr>
        <p:txBody>
          <a:bodyPr wrap="square" lIns="0" tIns="0" rIns="0" bIns="0" rtlCol="0" anchor="ctr"/>
          <a:lstStyle/>
          <a:p>
            <a:pPr indent="0" marL="0">
              <a:buNone/>
            </a:pPr>
            <a:r>
              <a:rPr lang="en-US" sz="1000" b="1" spc="200" kern="0" dirty="0">
                <a:solidFill>
                  <a:srgbClr val="A1A1AA"/>
                </a:solidFill>
                <a:latin typeface="Arial" pitchFamily="34" charset="0"/>
                <a:ea typeface="Arial" pitchFamily="34" charset="-122"/>
                <a:cs typeface="Arial" pitchFamily="34" charset="-120"/>
              </a:rPr>
              <a:t>HOW IT WORKS</a:t>
            </a:r>
            <a:endParaRPr lang="en-US" sz="1000" dirty="0"/>
          </a:p>
        </p:txBody>
      </p:sp>
      <p:sp>
        <p:nvSpPr>
          <p:cNvPr id="3" name="Text 1"/>
          <p:cNvSpPr/>
          <p:nvPr/>
        </p:nvSpPr>
        <p:spPr>
          <a:xfrm>
            <a:off x="548640" y="676656"/>
            <a:ext cx="7498080" cy="914400"/>
          </a:xfrm>
          <a:prstGeom prst="rect">
            <a:avLst/>
          </a:prstGeom>
          <a:noFill/>
          <a:ln/>
        </p:spPr>
        <p:txBody>
          <a:bodyPr wrap="square" lIns="0" tIns="0" rIns="0" bIns="0" rtlCol="0" anchor="t">
            <a:normAutofit/>
          </a:bodyPr>
          <a:lstStyle/>
          <a:p>
            <a:pPr indent="0" marL="0">
              <a:buNone/>
            </a:pPr>
            <a:r>
              <a:rPr lang="en-US" sz="2800" b="1" dirty="0">
                <a:solidFill>
                  <a:srgbClr val="F4F4F5"/>
                </a:solidFill>
                <a:latin typeface="Arial" pitchFamily="34" charset="0"/>
                <a:ea typeface="Arial" pitchFamily="34" charset="-122"/>
                <a:cs typeface="Arial" pitchFamily="34" charset="-120"/>
              </a:rPr>
              <a:t>One 9,296-byte program enforces the rules, and 26 tests attack them.</a:t>
            </a:r>
            <a:endParaRPr lang="en-US" sz="2800" dirty="0"/>
          </a:p>
        </p:txBody>
      </p:sp>
      <p:sp>
        <p:nvSpPr>
          <p:cNvPr id="4" name="Shape 2"/>
          <p:cNvSpPr/>
          <p:nvPr/>
        </p:nvSpPr>
        <p:spPr>
          <a:xfrm>
            <a:off x="8321040" y="4709160"/>
            <a:ext cx="548640" cy="274320"/>
          </a:xfrm>
          <a:prstGeom prst="roundRect">
            <a:avLst>
              <a:gd name="adj" fmla="val 50000"/>
            </a:avLst>
          </a:prstGeom>
          <a:solidFill>
            <a:srgbClr val="27272A"/>
          </a:solidFill>
          <a:ln/>
        </p:spPr>
      </p:sp>
      <p:sp>
        <p:nvSpPr>
          <p:cNvPr id="5" name="Text 3"/>
          <p:cNvSpPr/>
          <p:nvPr/>
        </p:nvSpPr>
        <p:spPr>
          <a:xfrm>
            <a:off x="8321040" y="4709160"/>
            <a:ext cx="548640" cy="274320"/>
          </a:xfrm>
          <a:prstGeom prst="rect">
            <a:avLst/>
          </a:prstGeom>
          <a:noFill/>
          <a:ln/>
        </p:spPr>
        <p:txBody>
          <a:bodyPr wrap="square" lIns="0" tIns="0" rIns="0" bIns="0" rtlCol="0" anchor="ctr"/>
          <a:lstStyle/>
          <a:p>
            <a:pPr algn="ctr" indent="0" marL="0">
              <a:buNone/>
            </a:pPr>
            <a:r>
              <a:rPr lang="en-US" sz="1000" b="1" dirty="0">
                <a:solidFill>
                  <a:srgbClr val="A1A1AA"/>
                </a:solidFill>
                <a:latin typeface="Consolas" pitchFamily="34" charset="0"/>
                <a:ea typeface="Consolas" pitchFamily="34" charset="-122"/>
                <a:cs typeface="Consolas" pitchFamily="34" charset="-120"/>
              </a:rPr>
              <a:t>07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5212080" cy="914400"/>
        </p:xfrm>
        <a:graphic>
          <a:graphicData uri="http://schemas.openxmlformats.org/drawingml/2006/table">
            <a:tbl>
              <a:tblPr/>
              <a:tblGrid>
                <a:gridCol w="2194560"/>
                <a:gridCol w="3017520"/>
              </a:tblGrid>
              <a:tr h="310896">
                <a:tc>
                  <a:txBody>
                    <a:bodyPr/>
                    <a:lstStyle/>
                    <a:p>
                      <a:pPr indent="0" marL="0">
                        <a:buNone/>
                      </a:pPr>
                      <a:r>
                        <a:rPr lang="en-US" sz="900" b="1" spc="100" kern="0" dirty="0">
                          <a:solidFill>
                            <a:srgbClr val="A1A1AA"/>
                          </a:solidFill>
                          <a:latin typeface="Arial" pitchFamily="34" charset="0"/>
                          <a:ea typeface="Arial" pitchFamily="34" charset="-122"/>
                          <a:cs typeface="Arial" pitchFamily="34" charset="-120"/>
                        </a:rPr>
                        <a:t>RULE</a:t>
                      </a:r>
                      <a:endParaRPr lang="en-US" sz="9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900" b="1" spc="100" kern="0" dirty="0">
                          <a:solidFill>
                            <a:srgbClr val="A1A1AA"/>
                          </a:solidFill>
                          <a:latin typeface="Arial" pitchFamily="34" charset="0"/>
                          <a:ea typeface="Arial" pitchFamily="34" charset="-122"/>
                          <a:cs typeface="Arial" pitchFamily="34" charset="-120"/>
                        </a:rPr>
                        <a:t>ON-CHAIN CHECK</a:t>
                      </a:r>
                      <a:endParaRPr lang="en-US" sz="9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r>
              <a:tr h="475488">
                <a:tc>
                  <a:txBody>
                    <a:bodyPr/>
                    <a:lstStyle/>
                    <a:p>
                      <a:pPr indent="0" marL="0">
                        <a:buNone/>
                      </a:pPr>
                      <a:r>
                        <a:rPr lang="en-US" sz="1200" dirty="0">
                          <a:solidFill>
                            <a:srgbClr val="F4F4F5"/>
                          </a:solidFill>
                          <a:latin typeface="Arial" pitchFamily="34" charset="0"/>
                          <a:ea typeface="Arial" pitchFamily="34" charset="-122"/>
                          <a:cs typeface="Arial" pitchFamily="34" charset="-120"/>
                        </a:rPr>
                        <a:t>Owed money stays locked</a:t>
                      </a:r>
                      <a:endParaRPr lang="en-US" sz="12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1200" dirty="0">
                          <a:solidFill>
                            <a:srgbClr val="F4F4F5"/>
                          </a:solidFill>
                          <a:latin typeface="Arial" pitchFamily="34" charset="0"/>
                          <a:ea typeface="Arial" pitchFamily="34" charset="-122"/>
                          <a:cs typeface="Arial" pitchFamily="34" charset="-120"/>
                        </a:rPr>
                        <a:t>Withdrawals stop at the reserved amount</a:t>
                      </a:r>
                      <a:endParaRPr lang="en-US" sz="12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r>
              <a:tr h="475488">
                <a:tc>
                  <a:txBody>
                    <a:bodyPr/>
                    <a:lstStyle/>
                    <a:p>
                      <a:pPr indent="0" marL="0">
                        <a:buNone/>
                      </a:pPr>
                      <a:r>
                        <a:rPr lang="en-US" sz="1200" dirty="0">
                          <a:solidFill>
                            <a:srgbClr val="F4F4F5"/>
                          </a:solidFill>
                          <a:latin typeface="Arial" pitchFamily="34" charset="0"/>
                          <a:ea typeface="Arial" pitchFamily="34" charset="-122"/>
                          <a:cs typeface="Arial" pitchFamily="34" charset="-120"/>
                        </a:rPr>
                        <a:t>One order, one commission</a:t>
                      </a:r>
                      <a:endParaRPr lang="en-US" sz="12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1200" dirty="0">
                          <a:solidFill>
                            <a:srgbClr val="F4F4F5"/>
                          </a:solidFill>
                          <a:latin typeface="Arial" pitchFamily="34" charset="0"/>
                          <a:ea typeface="Arial" pitchFamily="34" charset="-122"/>
                          <a:cs typeface="Arial" pitchFamily="34" charset="-120"/>
                        </a:rPr>
                        <a:t>Address derived from the order hash</a:t>
                      </a:r>
                      <a:endParaRPr lang="en-US" sz="12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r>
              <a:tr h="475488">
                <a:tc>
                  <a:txBody>
                    <a:bodyPr/>
                    <a:lstStyle/>
                    <a:p>
                      <a:pPr indent="0" marL="0">
                        <a:buNone/>
                      </a:pPr>
                      <a:r>
                        <a:rPr lang="en-US" sz="1200" b="1" dirty="0">
                          <a:solidFill>
                            <a:srgbClr val="3DDC97"/>
                          </a:solidFill>
                          <a:latin typeface="Arial" pitchFamily="34" charset="0"/>
                          <a:ea typeface="Arial" pitchFamily="34" charset="-122"/>
                          <a:cs typeface="Arial" pitchFamily="34" charset="-120"/>
                        </a:rPr>
                        <a:t>Payouts can't be redirected</a:t>
                      </a:r>
                      <a:endParaRPr lang="en-US" sz="12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1200" b="1" dirty="0">
                          <a:solidFill>
                            <a:srgbClr val="3DDC97"/>
                          </a:solidFill>
                          <a:latin typeface="Arial" pitchFamily="34" charset="0"/>
                          <a:ea typeface="Arial" pitchFamily="34" charset="-122"/>
                          <a:cs typeface="Arial" pitchFamily="34" charset="-120"/>
                        </a:rPr>
                        <a:t>Destination must belong to the payee</a:t>
                      </a:r>
                      <a:endParaRPr lang="en-US" sz="12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r>
            </a:tbl>
          </a:graphicData>
        </a:graphic>
      </p:graphicFrame>
      <p:sp>
        <p:nvSpPr>
          <p:cNvPr id="7" name="Shape 4"/>
          <p:cNvSpPr/>
          <p:nvPr/>
        </p:nvSpPr>
        <p:spPr>
          <a:xfrm>
            <a:off x="6172200" y="1828800"/>
            <a:ext cx="2423160" cy="731520"/>
          </a:xfrm>
          <a:prstGeom prst="roundRect">
            <a:avLst>
              <a:gd name="adj" fmla="val 12500"/>
            </a:avLst>
          </a:prstGeom>
          <a:solidFill>
            <a:srgbClr val="141417"/>
          </a:solidFill>
          <a:ln w="12700">
            <a:solidFill>
              <a:srgbClr val="27272A"/>
            </a:solidFill>
            <a:prstDash val="solid"/>
          </a:ln>
        </p:spPr>
      </p:sp>
      <p:sp>
        <p:nvSpPr>
          <p:cNvPr id="8" name="Text 5"/>
          <p:cNvSpPr/>
          <p:nvPr/>
        </p:nvSpPr>
        <p:spPr>
          <a:xfrm>
            <a:off x="6355080" y="1883664"/>
            <a:ext cx="2103120" cy="384048"/>
          </a:xfrm>
          <a:prstGeom prst="rect">
            <a:avLst/>
          </a:prstGeom>
          <a:noFill/>
          <a:ln/>
        </p:spPr>
        <p:txBody>
          <a:bodyPr wrap="square" lIns="0" tIns="0" rIns="0" bIns="0" rtlCol="0" anchor="ctr"/>
          <a:lstStyle/>
          <a:p>
            <a:pPr indent="0" marL="0">
              <a:buNone/>
            </a:pPr>
            <a:r>
              <a:rPr lang="en-US" sz="2200" b="1" dirty="0">
                <a:solidFill>
                  <a:srgbClr val="F4F4F5"/>
                </a:solidFill>
                <a:latin typeface="Arial" pitchFamily="34" charset="0"/>
                <a:ea typeface="Arial" pitchFamily="34" charset="-122"/>
                <a:cs typeface="Arial" pitchFamily="34" charset="-120"/>
              </a:rPr>
              <a:t>9,296</a:t>
            </a:r>
            <a:endParaRPr lang="en-US" sz="2200" dirty="0"/>
          </a:p>
        </p:txBody>
      </p:sp>
      <p:sp>
        <p:nvSpPr>
          <p:cNvPr id="9" name="Text 6"/>
          <p:cNvSpPr/>
          <p:nvPr/>
        </p:nvSpPr>
        <p:spPr>
          <a:xfrm>
            <a:off x="6355080" y="2249424"/>
            <a:ext cx="2148840" cy="256032"/>
          </a:xfrm>
          <a:prstGeom prst="rect">
            <a:avLst/>
          </a:prstGeom>
          <a:noFill/>
          <a:ln/>
        </p:spPr>
        <p:txBody>
          <a:bodyPr wrap="square" lIns="0" tIns="0" rIns="0" bIns="0" rtlCol="0" anchor="ctr"/>
          <a:lstStyle/>
          <a:p>
            <a:pPr indent="0" marL="0">
              <a:buNone/>
            </a:pPr>
            <a:r>
              <a:rPr lang="en-US" sz="1000" dirty="0">
                <a:solidFill>
                  <a:srgbClr val="A1A1AA"/>
                </a:solidFill>
                <a:latin typeface="Arial" pitchFamily="34" charset="0"/>
                <a:ea typeface="Arial" pitchFamily="34" charset="-122"/>
                <a:cs typeface="Arial" pitchFamily="34" charset="-120"/>
              </a:rPr>
              <a:t>bytes, deploy under 0.05 SOL</a:t>
            </a:r>
            <a:endParaRPr lang="en-US" sz="1000" dirty="0"/>
          </a:p>
        </p:txBody>
      </p:sp>
      <p:sp>
        <p:nvSpPr>
          <p:cNvPr id="10" name="Shape 7"/>
          <p:cNvSpPr/>
          <p:nvPr/>
        </p:nvSpPr>
        <p:spPr>
          <a:xfrm>
            <a:off x="6172200" y="2697480"/>
            <a:ext cx="2423160" cy="731520"/>
          </a:xfrm>
          <a:prstGeom prst="roundRect">
            <a:avLst>
              <a:gd name="adj" fmla="val 12500"/>
            </a:avLst>
          </a:prstGeom>
          <a:solidFill>
            <a:srgbClr val="141417"/>
          </a:solidFill>
          <a:ln w="12700">
            <a:solidFill>
              <a:srgbClr val="27272A"/>
            </a:solidFill>
            <a:prstDash val="solid"/>
          </a:ln>
        </p:spPr>
      </p:sp>
      <p:sp>
        <p:nvSpPr>
          <p:cNvPr id="11" name="Text 8"/>
          <p:cNvSpPr/>
          <p:nvPr/>
        </p:nvSpPr>
        <p:spPr>
          <a:xfrm>
            <a:off x="6355080" y="2752344"/>
            <a:ext cx="2103120" cy="384048"/>
          </a:xfrm>
          <a:prstGeom prst="rect">
            <a:avLst/>
          </a:prstGeom>
          <a:noFill/>
          <a:ln/>
        </p:spPr>
        <p:txBody>
          <a:bodyPr wrap="square" lIns="0" tIns="0" rIns="0" bIns="0" rtlCol="0" anchor="ctr"/>
          <a:lstStyle/>
          <a:p>
            <a:pPr indent="0" marL="0">
              <a:buNone/>
            </a:pPr>
            <a:r>
              <a:rPr lang="en-US" sz="2200" b="1" dirty="0">
                <a:solidFill>
                  <a:srgbClr val="F4F4F5"/>
                </a:solidFill>
                <a:latin typeface="Arial" pitchFamily="34" charset="0"/>
                <a:ea typeface="Arial" pitchFamily="34" charset="-122"/>
                <a:cs typeface="Arial" pitchFamily="34" charset="-120"/>
              </a:rPr>
              <a:t>6</a:t>
            </a:r>
            <a:endParaRPr lang="en-US" sz="2200" dirty="0"/>
          </a:p>
        </p:txBody>
      </p:sp>
      <p:sp>
        <p:nvSpPr>
          <p:cNvPr id="12" name="Text 9"/>
          <p:cNvSpPr/>
          <p:nvPr/>
        </p:nvSpPr>
        <p:spPr>
          <a:xfrm>
            <a:off x="6355080" y="3118104"/>
            <a:ext cx="2148840" cy="256032"/>
          </a:xfrm>
          <a:prstGeom prst="rect">
            <a:avLst/>
          </a:prstGeom>
          <a:noFill/>
          <a:ln/>
        </p:spPr>
        <p:txBody>
          <a:bodyPr wrap="square" lIns="0" tIns="0" rIns="0" bIns="0" rtlCol="0" anchor="ctr"/>
          <a:lstStyle/>
          <a:p>
            <a:pPr indent="0" marL="0">
              <a:buNone/>
            </a:pPr>
            <a:r>
              <a:rPr lang="en-US" sz="1000" dirty="0">
                <a:solidFill>
                  <a:srgbClr val="A1A1AA"/>
                </a:solidFill>
                <a:latin typeface="Arial" pitchFamily="34" charset="0"/>
                <a:ea typeface="Arial" pitchFamily="34" charset="-122"/>
                <a:cs typeface="Arial" pitchFamily="34" charset="-120"/>
              </a:rPr>
              <a:t>instructions</a:t>
            </a:r>
            <a:endParaRPr lang="en-US" sz="1000" dirty="0"/>
          </a:p>
        </p:txBody>
      </p:sp>
      <p:sp>
        <p:nvSpPr>
          <p:cNvPr id="13" name="Shape 10"/>
          <p:cNvSpPr/>
          <p:nvPr/>
        </p:nvSpPr>
        <p:spPr>
          <a:xfrm>
            <a:off x="6172200" y="3566160"/>
            <a:ext cx="2423160" cy="731520"/>
          </a:xfrm>
          <a:prstGeom prst="roundRect">
            <a:avLst>
              <a:gd name="adj" fmla="val 12500"/>
            </a:avLst>
          </a:prstGeom>
          <a:solidFill>
            <a:srgbClr val="141417"/>
          </a:solidFill>
          <a:ln w="12700">
            <a:solidFill>
              <a:srgbClr val="27272A"/>
            </a:solidFill>
            <a:prstDash val="solid"/>
          </a:ln>
        </p:spPr>
      </p:sp>
      <p:sp>
        <p:nvSpPr>
          <p:cNvPr id="14" name="Text 11"/>
          <p:cNvSpPr/>
          <p:nvPr/>
        </p:nvSpPr>
        <p:spPr>
          <a:xfrm>
            <a:off x="6355080" y="3621024"/>
            <a:ext cx="2103120" cy="384048"/>
          </a:xfrm>
          <a:prstGeom prst="rect">
            <a:avLst/>
          </a:prstGeom>
          <a:noFill/>
          <a:ln/>
        </p:spPr>
        <p:txBody>
          <a:bodyPr wrap="square" lIns="0" tIns="0" rIns="0" bIns="0" rtlCol="0" anchor="ctr"/>
          <a:lstStyle/>
          <a:p>
            <a:pPr indent="0" marL="0">
              <a:buNone/>
            </a:pPr>
            <a:r>
              <a:rPr lang="en-US" sz="2200" b="1" dirty="0">
                <a:solidFill>
                  <a:srgbClr val="F4F4F5"/>
                </a:solidFill>
                <a:latin typeface="Arial" pitchFamily="34" charset="0"/>
                <a:ea typeface="Arial" pitchFamily="34" charset="-122"/>
                <a:cs typeface="Arial" pitchFamily="34" charset="-120"/>
              </a:rPr>
              <a:t>26</a:t>
            </a:r>
            <a:endParaRPr lang="en-US" sz="2200" dirty="0"/>
          </a:p>
        </p:txBody>
      </p:sp>
      <p:sp>
        <p:nvSpPr>
          <p:cNvPr id="15" name="Text 12"/>
          <p:cNvSpPr/>
          <p:nvPr/>
        </p:nvSpPr>
        <p:spPr>
          <a:xfrm>
            <a:off x="6355080" y="3986784"/>
            <a:ext cx="2148840" cy="256032"/>
          </a:xfrm>
          <a:prstGeom prst="rect">
            <a:avLst/>
          </a:prstGeom>
          <a:noFill/>
          <a:ln/>
        </p:spPr>
        <p:txBody>
          <a:bodyPr wrap="square" lIns="0" tIns="0" rIns="0" bIns="0" rtlCol="0" anchor="ctr"/>
          <a:lstStyle/>
          <a:p>
            <a:pPr indent="0" marL="0">
              <a:buNone/>
            </a:pPr>
            <a:r>
              <a:rPr lang="en-US" sz="1000" dirty="0">
                <a:solidFill>
                  <a:srgbClr val="A1A1AA"/>
                </a:solidFill>
                <a:latin typeface="Arial" pitchFamily="34" charset="0"/>
                <a:ea typeface="Arial" pitchFamily="34" charset="-122"/>
                <a:cs typeface="Arial" pitchFamily="34" charset="-120"/>
              </a:rPr>
              <a:t>tests, most of them attacks</a:t>
            </a:r>
            <a:endParaRPr lang="en-US" sz="1000" dirty="0"/>
          </a:p>
        </p:txBody>
      </p:sp>
      <p:sp>
        <p:nvSpPr>
          <p:cNvPr id="16" name="Text 13"/>
          <p:cNvSpPr/>
          <p:nvPr/>
        </p:nvSpPr>
        <p:spPr>
          <a:xfrm>
            <a:off x="548640" y="4681728"/>
            <a:ext cx="7589520" cy="274320"/>
          </a:xfrm>
          <a:prstGeom prst="rect">
            <a:avLst/>
          </a:prstGeom>
          <a:noFill/>
          <a:ln/>
        </p:spPr>
        <p:txBody>
          <a:bodyPr wrap="square" lIns="0" tIns="0" rIns="0" bIns="0" rtlCol="0" anchor="ctr"/>
          <a:lstStyle/>
          <a:p>
            <a:pPr indent="0" marL="0">
              <a:buNone/>
            </a:pPr>
            <a:r>
              <a:rPr lang="en-US" sz="900" dirty="0">
                <a:solidFill>
                  <a:srgbClr val="71717A"/>
                </a:solidFill>
                <a:latin typeface="Arial" pitchFamily="34" charset="0"/>
                <a:ea typeface="Arial" pitchFamily="34" charset="-122"/>
                <a:cs typeface="Arial" pitchFamily="34" charset="-120"/>
              </a:rPr>
              <a:t>Source: program/ in github.com/bryankwandou/commish; base fee [S6]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E"/>
        </a:solidFill>
      </p:bgPr>
    </p:bg>
    <p:spTree>
      <p:nvGrpSpPr>
        <p:cNvPr id="1" name=""/>
        <p:cNvGrpSpPr/>
        <p:nvPr/>
      </p:nvGrpSpPr>
      <p:grpSpPr>
        <a:xfrm>
          <a:off x="0" y="0"/>
          <a:ext cx="0" cy="0"/>
          <a:chOff x="0" y="0"/>
          <a:chExt cx="0" cy="0"/>
        </a:xfrm>
      </p:grpSpPr>
      <p:sp>
        <p:nvSpPr>
          <p:cNvPr id="2" name="Text 0"/>
          <p:cNvSpPr/>
          <p:nvPr/>
        </p:nvSpPr>
        <p:spPr>
          <a:xfrm>
            <a:off x="548640" y="384048"/>
            <a:ext cx="5486400" cy="256032"/>
          </a:xfrm>
          <a:prstGeom prst="rect">
            <a:avLst/>
          </a:prstGeom>
          <a:noFill/>
          <a:ln/>
        </p:spPr>
        <p:txBody>
          <a:bodyPr wrap="square" lIns="0" tIns="0" rIns="0" bIns="0" rtlCol="0" anchor="ctr"/>
          <a:lstStyle/>
          <a:p>
            <a:pPr indent="0" marL="0">
              <a:buNone/>
            </a:pPr>
            <a:r>
              <a:rPr lang="en-US" sz="1000" b="1" spc="200" kern="0" dirty="0">
                <a:solidFill>
                  <a:srgbClr val="A1A1AA"/>
                </a:solidFill>
                <a:latin typeface="Arial" pitchFamily="34" charset="0"/>
                <a:ea typeface="Arial" pitchFamily="34" charset="-122"/>
                <a:cs typeface="Arial" pitchFamily="34" charset="-120"/>
              </a:rPr>
              <a:t>WHO ELSE</a:t>
            </a:r>
            <a:endParaRPr lang="en-US" sz="1000" dirty="0"/>
          </a:p>
        </p:txBody>
      </p:sp>
      <p:sp>
        <p:nvSpPr>
          <p:cNvPr id="3" name="Text 1"/>
          <p:cNvSpPr/>
          <p:nvPr/>
        </p:nvSpPr>
        <p:spPr>
          <a:xfrm>
            <a:off x="548640" y="676656"/>
            <a:ext cx="7498080" cy="914400"/>
          </a:xfrm>
          <a:prstGeom prst="rect">
            <a:avLst/>
          </a:prstGeom>
          <a:noFill/>
          <a:ln/>
        </p:spPr>
        <p:txBody>
          <a:bodyPr wrap="square" lIns="0" tIns="0" rIns="0" bIns="0" rtlCol="0" anchor="t">
            <a:normAutofit/>
          </a:bodyPr>
          <a:lstStyle/>
          <a:p>
            <a:pPr indent="0" marL="0">
              <a:buNone/>
            </a:pPr>
            <a:r>
              <a:rPr lang="en-US" sz="2800" b="1" dirty="0">
                <a:solidFill>
                  <a:srgbClr val="F4F4F5"/>
                </a:solidFill>
                <a:latin typeface="Arial" pitchFamily="34" charset="0"/>
                <a:ea typeface="Arial" pitchFamily="34" charset="-122"/>
                <a:cs typeface="Arial" pitchFamily="34" charset="-120"/>
              </a:rPr>
              <a:t>At least eight Solana affiliate projects entered Colosseum before us. None placed.</a:t>
            </a:r>
            <a:endParaRPr lang="en-US" sz="2800" dirty="0"/>
          </a:p>
        </p:txBody>
      </p:sp>
      <p:sp>
        <p:nvSpPr>
          <p:cNvPr id="4" name="Shape 2"/>
          <p:cNvSpPr/>
          <p:nvPr/>
        </p:nvSpPr>
        <p:spPr>
          <a:xfrm>
            <a:off x="8321040" y="4709160"/>
            <a:ext cx="548640" cy="274320"/>
          </a:xfrm>
          <a:prstGeom prst="roundRect">
            <a:avLst>
              <a:gd name="adj" fmla="val 50000"/>
            </a:avLst>
          </a:prstGeom>
          <a:solidFill>
            <a:srgbClr val="27272A"/>
          </a:solidFill>
          <a:ln/>
        </p:spPr>
      </p:sp>
      <p:sp>
        <p:nvSpPr>
          <p:cNvPr id="5" name="Text 3"/>
          <p:cNvSpPr/>
          <p:nvPr/>
        </p:nvSpPr>
        <p:spPr>
          <a:xfrm>
            <a:off x="8321040" y="4709160"/>
            <a:ext cx="548640" cy="274320"/>
          </a:xfrm>
          <a:prstGeom prst="rect">
            <a:avLst/>
          </a:prstGeom>
          <a:noFill/>
          <a:ln/>
        </p:spPr>
        <p:txBody>
          <a:bodyPr wrap="square" lIns="0" tIns="0" rIns="0" bIns="0" rtlCol="0" anchor="ctr"/>
          <a:lstStyle/>
          <a:p>
            <a:pPr algn="ctr" indent="0" marL="0">
              <a:buNone/>
            </a:pPr>
            <a:r>
              <a:rPr lang="en-US" sz="1000" b="1" dirty="0">
                <a:solidFill>
                  <a:srgbClr val="A1A1AA"/>
                </a:solidFill>
                <a:latin typeface="Consolas" pitchFamily="34" charset="0"/>
                <a:ea typeface="Consolas" pitchFamily="34" charset="-122"/>
                <a:cs typeface="Consolas" pitchFamily="34" charset="-120"/>
              </a:rPr>
              <a:t>08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8046720" cy="914400"/>
        </p:xfrm>
        <a:graphic>
          <a:graphicData uri="http://schemas.openxmlformats.org/drawingml/2006/table">
            <a:tbl>
              <a:tblPr/>
              <a:tblGrid>
                <a:gridCol w="1645920"/>
                <a:gridCol w="1737360"/>
                <a:gridCol w="3749040"/>
                <a:gridCol w="914400"/>
              </a:tblGrid>
              <a:tr h="274320">
                <a:tc>
                  <a:txBody>
                    <a:bodyPr/>
                    <a:lstStyle/>
                    <a:p>
                      <a:pPr indent="0" marL="0">
                        <a:buNone/>
                      </a:pPr>
                      <a:r>
                        <a:rPr lang="en-US" sz="900" b="1" spc="100" kern="0" dirty="0">
                          <a:solidFill>
                            <a:srgbClr val="A1A1AA"/>
                          </a:solidFill>
                          <a:latin typeface="Arial" pitchFamily="34" charset="0"/>
                          <a:ea typeface="Arial" pitchFamily="34" charset="-122"/>
                          <a:cs typeface="Arial" pitchFamily="34" charset="-120"/>
                        </a:rPr>
                        <a:t>PROJECT</a:t>
                      </a:r>
                      <a:endParaRPr lang="en-US" sz="9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900" b="1" spc="100" kern="0" dirty="0">
                          <a:solidFill>
                            <a:srgbClr val="A1A1AA"/>
                          </a:solidFill>
                          <a:latin typeface="Arial" pitchFamily="34" charset="0"/>
                          <a:ea typeface="Arial" pitchFamily="34" charset="-122"/>
                          <a:cs typeface="Arial" pitchFamily="34" charset="-120"/>
                        </a:rPr>
                        <a:t>HACKATHON</a:t>
                      </a:r>
                      <a:endParaRPr lang="en-US" sz="9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900" b="1" spc="100" kern="0" dirty="0">
                          <a:solidFill>
                            <a:srgbClr val="A1A1AA"/>
                          </a:solidFill>
                          <a:latin typeface="Arial" pitchFamily="34" charset="0"/>
                          <a:ea typeface="Arial" pitchFamily="34" charset="-122"/>
                          <a:cs typeface="Arial" pitchFamily="34" charset="-120"/>
                        </a:rPr>
                        <a:t>WHAT IT OFFERED</a:t>
                      </a:r>
                      <a:endParaRPr lang="en-US" sz="9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900" b="1" spc="100" kern="0" dirty="0">
                          <a:solidFill>
                            <a:srgbClr val="A1A1AA"/>
                          </a:solidFill>
                          <a:latin typeface="Arial" pitchFamily="34" charset="0"/>
                          <a:ea typeface="Arial" pitchFamily="34" charset="-122"/>
                          <a:cs typeface="Arial" pitchFamily="34" charset="-120"/>
                        </a:rPr>
                        <a:t>PLACED</a:t>
                      </a:r>
                      <a:endParaRPr lang="en-US" sz="9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r>
              <a:tr h="365760">
                <a:tc>
                  <a:txBody>
                    <a:bodyPr/>
                    <a:lstStyle/>
                    <a:p>
                      <a:pPr indent="0" marL="0">
                        <a:buNone/>
                      </a:pPr>
                      <a:r>
                        <a:rPr lang="en-US" sz="1200" b="1" dirty="0">
                          <a:solidFill>
                            <a:srgbClr val="F4F4F5"/>
                          </a:solidFill>
                          <a:latin typeface="Arial" pitchFamily="34" charset="0"/>
                          <a:ea typeface="Arial" pitchFamily="34" charset="-122"/>
                          <a:cs typeface="Arial" pitchFamily="34" charset="-120"/>
                        </a:rPr>
                        <a:t>SuperLink</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1200" dirty="0">
                          <a:solidFill>
                            <a:srgbClr val="A1A1AA"/>
                          </a:solidFill>
                          <a:latin typeface="Arial" pitchFamily="34" charset="0"/>
                          <a:ea typeface="Arial" pitchFamily="34" charset="-122"/>
                          <a:cs typeface="Arial" pitchFamily="34" charset="-120"/>
                        </a:rPr>
                        <a:t>Radar 2024</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1200" dirty="0">
                          <a:solidFill>
                            <a:srgbClr val="F4F4F5"/>
                          </a:solidFill>
                          <a:latin typeface="Arial" pitchFamily="34" charset="0"/>
                          <a:ea typeface="Arial" pitchFamily="34" charset="-122"/>
                          <a:cs typeface="Arial" pitchFamily="34" charset="-120"/>
                        </a:rPr>
                        <a:t>Revenue share via Blinks</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1200" dirty="0">
                          <a:solidFill>
                            <a:srgbClr val="71717A"/>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r>
              <a:tr h="365760">
                <a:tc>
                  <a:txBody>
                    <a:bodyPr/>
                    <a:lstStyle/>
                    <a:p>
                      <a:pPr indent="0" marL="0">
                        <a:buNone/>
                      </a:pPr>
                      <a:r>
                        <a:rPr lang="en-US" sz="1200" b="1" dirty="0">
                          <a:solidFill>
                            <a:srgbClr val="F4F4F5"/>
                          </a:solidFill>
                          <a:latin typeface="Arial" pitchFamily="34" charset="0"/>
                          <a:ea typeface="Arial" pitchFamily="34" charset="-122"/>
                          <a:cs typeface="Arial" pitchFamily="34" charset="-120"/>
                        </a:rPr>
                        <a:t>Earnify</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1200" dirty="0">
                          <a:solidFill>
                            <a:srgbClr val="A1A1AA"/>
                          </a:solidFill>
                          <a:latin typeface="Arial" pitchFamily="34" charset="0"/>
                          <a:ea typeface="Arial" pitchFamily="34" charset="-122"/>
                          <a:cs typeface="Arial" pitchFamily="34" charset="-120"/>
                        </a:rPr>
                        <a:t>Radar 2024</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1200" dirty="0">
                          <a:solidFill>
                            <a:srgbClr val="F4F4F5"/>
                          </a:solidFill>
                          <a:latin typeface="Arial" pitchFamily="34" charset="0"/>
                          <a:ea typeface="Arial" pitchFamily="34" charset="-122"/>
                          <a:cs typeface="Arial" pitchFamily="34" charset="-120"/>
                        </a:rPr>
                        <a:t>Web3 affiliate dashboard</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1200" dirty="0">
                          <a:solidFill>
                            <a:srgbClr val="71717A"/>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r>
              <a:tr h="365760">
                <a:tc>
                  <a:txBody>
                    <a:bodyPr/>
                    <a:lstStyle/>
                    <a:p>
                      <a:pPr indent="0" marL="0">
                        <a:buNone/>
                      </a:pPr>
                      <a:r>
                        <a:rPr lang="en-US" sz="1200" b="1" dirty="0">
                          <a:solidFill>
                            <a:srgbClr val="F4F4F5"/>
                          </a:solidFill>
                          <a:latin typeface="Arial" pitchFamily="34" charset="0"/>
                          <a:ea typeface="Arial" pitchFamily="34" charset="-122"/>
                          <a:cs typeface="Arial" pitchFamily="34" charset="-120"/>
                        </a:rPr>
                        <a:t>Sendit</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1200" dirty="0">
                          <a:solidFill>
                            <a:srgbClr val="A1A1AA"/>
                          </a:solidFill>
                          <a:latin typeface="Arial" pitchFamily="34" charset="0"/>
                          <a:ea typeface="Arial" pitchFamily="34" charset="-122"/>
                          <a:cs typeface="Arial" pitchFamily="34" charset="-120"/>
                        </a:rPr>
                        <a:t>Radar 2024</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1200" dirty="0">
                          <a:solidFill>
                            <a:srgbClr val="F4F4F5"/>
                          </a:solidFill>
                          <a:latin typeface="Arial" pitchFamily="34" charset="0"/>
                          <a:ea typeface="Arial" pitchFamily="34" charset="-122"/>
                          <a:cs typeface="Arial" pitchFamily="34" charset="-120"/>
                        </a:rPr>
                        <a:t>Marketplace with affiliates</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1200" dirty="0">
                          <a:solidFill>
                            <a:srgbClr val="71717A"/>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r>
              <a:tr h="365760">
                <a:tc>
                  <a:txBody>
                    <a:bodyPr/>
                    <a:lstStyle/>
                    <a:p>
                      <a:pPr indent="0" marL="0">
                        <a:buNone/>
                      </a:pPr>
                      <a:r>
                        <a:rPr lang="en-US" sz="1200" b="1" dirty="0">
                          <a:solidFill>
                            <a:srgbClr val="F4F4F5"/>
                          </a:solidFill>
                          <a:latin typeface="Arial" pitchFamily="34" charset="0"/>
                          <a:ea typeface="Arial" pitchFamily="34" charset="-122"/>
                          <a:cs typeface="Arial" pitchFamily="34" charset="-120"/>
                        </a:rPr>
                        <a:t>Redio</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1200" dirty="0">
                          <a:solidFill>
                            <a:srgbClr val="A1A1AA"/>
                          </a:solidFill>
                          <a:latin typeface="Arial" pitchFamily="34" charset="0"/>
                          <a:ea typeface="Arial" pitchFamily="34" charset="-122"/>
                          <a:cs typeface="Arial" pitchFamily="34" charset="-120"/>
                        </a:rPr>
                        <a:t>Cypherpunk 2025</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1200" dirty="0">
                          <a:solidFill>
                            <a:srgbClr val="F4F4F5"/>
                          </a:solidFill>
                          <a:latin typeface="Arial" pitchFamily="34" charset="0"/>
                          <a:ea typeface="Arial" pitchFamily="34" charset="-122"/>
                          <a:cs typeface="Arial" pitchFamily="34" charset="-120"/>
                        </a:rPr>
                        <a:t>Instant affiliate payouts</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1200" dirty="0">
                          <a:solidFill>
                            <a:srgbClr val="71717A"/>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r>
              <a:tr h="365760">
                <a:tc>
                  <a:txBody>
                    <a:bodyPr/>
                    <a:lstStyle/>
                    <a:p>
                      <a:pPr indent="0" marL="0">
                        <a:buNone/>
                      </a:pPr>
                      <a:r>
                        <a:rPr lang="en-US" sz="1200" b="1" dirty="0">
                          <a:solidFill>
                            <a:srgbClr val="F4F4F5"/>
                          </a:solidFill>
                          <a:latin typeface="Arial" pitchFamily="34" charset="0"/>
                          <a:ea typeface="Arial" pitchFamily="34" charset="-122"/>
                          <a:cs typeface="Arial" pitchFamily="34" charset="-120"/>
                        </a:rPr>
                        <a:t>Coinfiliate</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1200" dirty="0">
                          <a:solidFill>
                            <a:srgbClr val="A1A1AA"/>
                          </a:solidFill>
                          <a:latin typeface="Arial" pitchFamily="34" charset="0"/>
                          <a:ea typeface="Arial" pitchFamily="34" charset="-122"/>
                          <a:cs typeface="Arial" pitchFamily="34" charset="-120"/>
                        </a:rPr>
                        <a:t>Cypherpunk 2025</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1200" dirty="0">
                          <a:solidFill>
                            <a:srgbClr val="F4F4F5"/>
                          </a:solidFill>
                          <a:latin typeface="Arial" pitchFamily="34" charset="0"/>
                          <a:ea typeface="Arial" pitchFamily="34" charset="-122"/>
                          <a:cs typeface="Arial" pitchFamily="34" charset="-120"/>
                        </a:rPr>
                        <a:t>USDC rewards to shoppers</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1200" dirty="0">
                          <a:solidFill>
                            <a:srgbClr val="71717A"/>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r>
              <a:tr h="365760">
                <a:tc>
                  <a:txBody>
                    <a:bodyPr/>
                    <a:lstStyle/>
                    <a:p>
                      <a:pPr indent="0" marL="0">
                        <a:buNone/>
                      </a:pPr>
                      <a:r>
                        <a:rPr lang="en-US" sz="1200" b="1" dirty="0">
                          <a:solidFill>
                            <a:srgbClr val="F4F4F5"/>
                          </a:solidFill>
                          <a:latin typeface="Arial" pitchFamily="34" charset="0"/>
                          <a:ea typeface="Arial" pitchFamily="34" charset="-122"/>
                          <a:cs typeface="Arial" pitchFamily="34" charset="-120"/>
                        </a:rPr>
                        <a:t>Three more</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1200" dirty="0">
                          <a:solidFill>
                            <a:srgbClr val="A1A1AA"/>
                          </a:solidFill>
                          <a:latin typeface="Arial" pitchFamily="34" charset="0"/>
                          <a:ea typeface="Arial" pitchFamily="34" charset="-122"/>
                          <a:cs typeface="Arial" pitchFamily="34" charset="-120"/>
                        </a:rPr>
                        <a:t>2024-2025</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1200" dirty="0">
                          <a:solidFill>
                            <a:srgbClr val="F4F4F5"/>
                          </a:solidFill>
                          <a:latin typeface="Arial" pitchFamily="34" charset="0"/>
                          <a:ea typeface="Arial" pitchFamily="34" charset="-122"/>
                          <a:cs typeface="Arial" pitchFamily="34" charset="-120"/>
                        </a:rPr>
                        <a:t>Blinks Deals, Traxeo, Reflink</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c>
                  <a:txBody>
                    <a:bodyPr/>
                    <a:lstStyle/>
                    <a:p>
                      <a:pPr indent="0" marL="0">
                        <a:buNone/>
                      </a:pPr>
                      <a:r>
                        <a:rPr lang="en-US" sz="1200" dirty="0">
                          <a:solidFill>
                            <a:srgbClr val="71717A"/>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0" marR="91440" marT="36576" marB="36576" anchor="ctr">
                    <a:lnL w="0" cap="flat" cmpd="sng" algn="ctr">
                      <a:noFill/>
                    </a:lnL>
                    <a:lnR w="0" cap="flat" cmpd="sng" algn="ctr">
                      <a:noFill/>
                    </a:lnR>
                    <a:lnT w="0" cap="flat" cmpd="sng" algn="ctr">
                      <a:noFill/>
                    </a:lnT>
                    <a:lnB w="12700" cap="flat" cmpd="sng" algn="ctr">
                      <a:solidFill>
                        <a:srgbClr val="27272A"/>
                      </a:solidFill>
                      <a:prstDash val="solid"/>
                      <a:round/>
                      <a:headEnd type="none" w="med" len="med"/>
                      <a:tailEnd type="none" w="med" len="med"/>
                    </a:lnB>
                  </a:tcPr>
                </a:tc>
              </a:tr>
            </a:tbl>
          </a:graphicData>
        </a:graphic>
      </p:graphicFrame>
      <p:sp>
        <p:nvSpPr>
          <p:cNvPr id="7" name="Text 4"/>
          <p:cNvSpPr/>
          <p:nvPr/>
        </p:nvSpPr>
        <p:spPr>
          <a:xfrm>
            <a:off x="548640" y="4681728"/>
            <a:ext cx="7589520" cy="274320"/>
          </a:xfrm>
          <a:prstGeom prst="rect">
            <a:avLst/>
          </a:prstGeom>
          <a:noFill/>
          <a:ln/>
        </p:spPr>
        <p:txBody>
          <a:bodyPr wrap="square" lIns="0" tIns="0" rIns="0" bIns="0" rtlCol="0" anchor="ctr"/>
          <a:lstStyle/>
          <a:p>
            <a:pPr indent="0" marL="0">
              <a:buNone/>
            </a:pPr>
            <a:r>
              <a:rPr lang="en-US" sz="900" dirty="0">
                <a:solidFill>
                  <a:srgbClr val="71717A"/>
                </a:solidFill>
                <a:latin typeface="Arial" pitchFamily="34" charset="0"/>
                <a:ea typeface="Arial" pitchFamily="34" charset="-122"/>
                <a:cs typeface="Arial" pitchFamily="34" charset="-120"/>
              </a:rPr>
              <a:t>Source: Colosseum Copilot API and Arena, 2026-09-27 [S7]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E"/>
        </a:solidFill>
      </p:bgPr>
    </p:bg>
    <p:spTree>
      <p:nvGrpSpPr>
        <p:cNvPr id="1" name=""/>
        <p:cNvGrpSpPr/>
        <p:nvPr/>
      </p:nvGrpSpPr>
      <p:grpSpPr>
        <a:xfrm>
          <a:off x="0" y="0"/>
          <a:ext cx="0" cy="0"/>
          <a:chOff x="0" y="0"/>
          <a:chExt cx="0" cy="0"/>
        </a:xfrm>
      </p:grpSpPr>
      <p:sp>
        <p:nvSpPr>
          <p:cNvPr id="2" name="Text 0"/>
          <p:cNvSpPr/>
          <p:nvPr/>
        </p:nvSpPr>
        <p:spPr>
          <a:xfrm>
            <a:off x="548640" y="384048"/>
            <a:ext cx="5486400" cy="256032"/>
          </a:xfrm>
          <a:prstGeom prst="rect">
            <a:avLst/>
          </a:prstGeom>
          <a:noFill/>
          <a:ln/>
        </p:spPr>
        <p:txBody>
          <a:bodyPr wrap="square" lIns="0" tIns="0" rIns="0" bIns="0" rtlCol="0" anchor="ctr"/>
          <a:lstStyle/>
          <a:p>
            <a:pPr indent="0" marL="0">
              <a:buNone/>
            </a:pPr>
            <a:r>
              <a:rPr lang="en-US" sz="1000" b="1" spc="200" kern="0" dirty="0">
                <a:solidFill>
                  <a:srgbClr val="A1A1AA"/>
                </a:solidFill>
                <a:latin typeface="Arial" pitchFamily="34" charset="0"/>
                <a:ea typeface="Arial" pitchFamily="34" charset="-122"/>
                <a:cs typeface="Arial" pitchFamily="34" charset="-120"/>
              </a:rPr>
              <a:t>MARKET</a:t>
            </a:r>
            <a:endParaRPr lang="en-US" sz="1000" dirty="0"/>
          </a:p>
        </p:txBody>
      </p:sp>
      <p:sp>
        <p:nvSpPr>
          <p:cNvPr id="3" name="Text 1"/>
          <p:cNvSpPr/>
          <p:nvPr/>
        </p:nvSpPr>
        <p:spPr>
          <a:xfrm>
            <a:off x="548640" y="676656"/>
            <a:ext cx="7498080" cy="914400"/>
          </a:xfrm>
          <a:prstGeom prst="rect">
            <a:avLst/>
          </a:prstGeom>
          <a:noFill/>
          <a:ln/>
        </p:spPr>
        <p:txBody>
          <a:bodyPr wrap="square" lIns="0" tIns="0" rIns="0" bIns="0" rtlCol="0" anchor="t">
            <a:normAutofit/>
          </a:bodyPr>
          <a:lstStyle/>
          <a:p>
            <a:pPr indent="0" marL="0">
              <a:buNone/>
            </a:pPr>
            <a:r>
              <a:rPr lang="en-US" sz="2800" b="1" dirty="0">
                <a:solidFill>
                  <a:srgbClr val="F4F4F5"/>
                </a:solidFill>
                <a:latin typeface="Arial" pitchFamily="34" charset="0"/>
                <a:ea typeface="Arial" pitchFamily="34" charset="-122"/>
                <a:cs typeface="Arial" pitchFamily="34" charset="-120"/>
              </a:rPr>
              <a:t>US brands will spend $13.81 billion on affiliate marketing in 2026.</a:t>
            </a:r>
            <a:endParaRPr lang="en-US" sz="2800" dirty="0"/>
          </a:p>
        </p:txBody>
      </p:sp>
      <p:sp>
        <p:nvSpPr>
          <p:cNvPr id="4" name="Shape 2"/>
          <p:cNvSpPr/>
          <p:nvPr/>
        </p:nvSpPr>
        <p:spPr>
          <a:xfrm>
            <a:off x="8321040" y="4709160"/>
            <a:ext cx="548640" cy="274320"/>
          </a:xfrm>
          <a:prstGeom prst="roundRect">
            <a:avLst>
              <a:gd name="adj" fmla="val 50000"/>
            </a:avLst>
          </a:prstGeom>
          <a:solidFill>
            <a:srgbClr val="27272A"/>
          </a:solidFill>
          <a:ln/>
        </p:spPr>
      </p:sp>
      <p:sp>
        <p:nvSpPr>
          <p:cNvPr id="5" name="Text 3"/>
          <p:cNvSpPr/>
          <p:nvPr/>
        </p:nvSpPr>
        <p:spPr>
          <a:xfrm>
            <a:off x="8321040" y="4709160"/>
            <a:ext cx="548640" cy="274320"/>
          </a:xfrm>
          <a:prstGeom prst="rect">
            <a:avLst/>
          </a:prstGeom>
          <a:noFill/>
          <a:ln/>
        </p:spPr>
        <p:txBody>
          <a:bodyPr wrap="square" lIns="0" tIns="0" rIns="0" bIns="0" rtlCol="0" anchor="ctr"/>
          <a:lstStyle/>
          <a:p>
            <a:pPr algn="ctr" indent="0" marL="0">
              <a:buNone/>
            </a:pPr>
            <a:r>
              <a:rPr lang="en-US" sz="1000" b="1" dirty="0">
                <a:solidFill>
                  <a:srgbClr val="A1A1AA"/>
                </a:solidFill>
                <a:latin typeface="Consolas" pitchFamily="34" charset="0"/>
                <a:ea typeface="Consolas" pitchFamily="34" charset="-122"/>
                <a:cs typeface="Consolas" pitchFamily="34" charset="-120"/>
              </a:rPr>
              <a:t>09</a:t>
            </a:r>
            <a:endParaRPr lang="en-US" sz="1000" dirty="0"/>
          </a:p>
        </p:txBody>
      </p:sp>
      <p:sp>
        <p:nvSpPr>
          <p:cNvPr id="6" name="Text 4"/>
          <p:cNvSpPr/>
          <p:nvPr/>
        </p:nvSpPr>
        <p:spPr>
          <a:xfrm>
            <a:off x="548640" y="1691640"/>
            <a:ext cx="5486400" cy="1371600"/>
          </a:xfrm>
          <a:prstGeom prst="rect">
            <a:avLst/>
          </a:prstGeom>
          <a:noFill/>
          <a:ln/>
        </p:spPr>
        <p:txBody>
          <a:bodyPr wrap="square" lIns="0" tIns="0" rIns="0" bIns="0" rtlCol="0" anchor="ctr"/>
          <a:lstStyle/>
          <a:p>
            <a:pPr indent="0" marL="0">
              <a:buNone/>
            </a:pPr>
            <a:r>
              <a:rPr lang="en-US" sz="8400" b="1" dirty="0">
                <a:solidFill>
                  <a:srgbClr val="3DDC97"/>
                </a:solidFill>
                <a:latin typeface="Arial" pitchFamily="34" charset="0"/>
                <a:ea typeface="Arial" pitchFamily="34" charset="-122"/>
                <a:cs typeface="Arial" pitchFamily="34" charset="-120"/>
              </a:rPr>
              <a:t>$13.81B</a:t>
            </a:r>
            <a:endParaRPr lang="en-US" sz="8400" dirty="0"/>
          </a:p>
        </p:txBody>
      </p:sp>
      <p:sp>
        <p:nvSpPr>
          <p:cNvPr id="7" name="Shape 5"/>
          <p:cNvSpPr/>
          <p:nvPr/>
        </p:nvSpPr>
        <p:spPr>
          <a:xfrm>
            <a:off x="548640" y="3337560"/>
            <a:ext cx="1645920" cy="868680"/>
          </a:xfrm>
          <a:prstGeom prst="roundRect">
            <a:avLst>
              <a:gd name="adj" fmla="val 10526"/>
            </a:avLst>
          </a:prstGeom>
          <a:solidFill>
            <a:srgbClr val="141417"/>
          </a:solidFill>
          <a:ln w="12700">
            <a:solidFill>
              <a:srgbClr val="27272A"/>
            </a:solidFill>
            <a:prstDash val="solid"/>
          </a:ln>
        </p:spPr>
      </p:sp>
      <p:sp>
        <p:nvSpPr>
          <p:cNvPr id="8" name="Text 6"/>
          <p:cNvSpPr/>
          <p:nvPr/>
        </p:nvSpPr>
        <p:spPr>
          <a:xfrm>
            <a:off x="685800" y="3410712"/>
            <a:ext cx="1417320" cy="411480"/>
          </a:xfrm>
          <a:prstGeom prst="rect">
            <a:avLst/>
          </a:prstGeom>
          <a:noFill/>
          <a:ln/>
        </p:spPr>
        <p:txBody>
          <a:bodyPr wrap="square" lIns="0" tIns="0" rIns="0" bIns="0" rtlCol="0" anchor="ctr"/>
          <a:lstStyle/>
          <a:p>
            <a:pPr indent="0" marL="0">
              <a:buNone/>
            </a:pPr>
            <a:r>
              <a:rPr lang="en-US" sz="2000" b="1" dirty="0">
                <a:solidFill>
                  <a:srgbClr val="F4F4F5"/>
                </a:solidFill>
                <a:latin typeface="Arial" pitchFamily="34" charset="0"/>
                <a:ea typeface="Arial" pitchFamily="34" charset="-122"/>
                <a:cs typeface="Arial" pitchFamily="34" charset="-120"/>
              </a:rPr>
              <a:t>$13.81B</a:t>
            </a:r>
            <a:endParaRPr lang="en-US" sz="2000" dirty="0"/>
          </a:p>
        </p:txBody>
      </p:sp>
      <p:sp>
        <p:nvSpPr>
          <p:cNvPr id="9" name="Text 7"/>
          <p:cNvSpPr/>
          <p:nvPr/>
        </p:nvSpPr>
        <p:spPr>
          <a:xfrm>
            <a:off x="685800" y="3822192"/>
            <a:ext cx="1463040" cy="274320"/>
          </a:xfrm>
          <a:prstGeom prst="rect">
            <a:avLst/>
          </a:prstGeom>
          <a:noFill/>
          <a:ln/>
        </p:spPr>
        <p:txBody>
          <a:bodyPr wrap="square" lIns="0" tIns="0" rIns="0" bIns="0" rtlCol="0" anchor="ctr"/>
          <a:lstStyle/>
          <a:p>
            <a:pPr indent="0" marL="0">
              <a:buNone/>
            </a:pPr>
            <a:r>
              <a:rPr lang="en-US" sz="1000" dirty="0">
                <a:solidFill>
                  <a:srgbClr val="A1A1AA"/>
                </a:solidFill>
                <a:latin typeface="Arial" pitchFamily="34" charset="0"/>
                <a:ea typeface="Arial" pitchFamily="34" charset="-122"/>
                <a:cs typeface="Arial" pitchFamily="34" charset="-120"/>
              </a:rPr>
              <a:t>US affiliate spend</a:t>
            </a:r>
            <a:endParaRPr lang="en-US" sz="1000" dirty="0"/>
          </a:p>
        </p:txBody>
      </p:sp>
      <p:sp>
        <p:nvSpPr>
          <p:cNvPr id="10" name="Text 8"/>
          <p:cNvSpPr/>
          <p:nvPr/>
        </p:nvSpPr>
        <p:spPr>
          <a:xfrm>
            <a:off x="2194560" y="3566160"/>
            <a:ext cx="365760" cy="411480"/>
          </a:xfrm>
          <a:prstGeom prst="rect">
            <a:avLst/>
          </a:prstGeom>
          <a:noFill/>
          <a:ln/>
        </p:spPr>
        <p:txBody>
          <a:bodyPr wrap="square" lIns="0" tIns="0" rIns="0" bIns="0" rtlCol="0" anchor="ctr"/>
          <a:lstStyle/>
          <a:p>
            <a:pPr algn="ctr" indent="0" marL="0">
              <a:buNone/>
            </a:pPr>
            <a:r>
              <a:rPr lang="en-US" sz="1800" dirty="0">
                <a:solidFill>
                  <a:srgbClr val="A1A1AA"/>
                </a:solidFill>
                <a:latin typeface="Arial" pitchFamily="34" charset="0"/>
                <a:ea typeface="Arial" pitchFamily="34" charset="-122"/>
                <a:cs typeface="Arial" pitchFamily="34" charset="-120"/>
              </a:rPr>
              <a:t>×</a:t>
            </a:r>
            <a:endParaRPr lang="en-US" sz="1800" dirty="0"/>
          </a:p>
        </p:txBody>
      </p:sp>
      <p:sp>
        <p:nvSpPr>
          <p:cNvPr id="11" name="Shape 9"/>
          <p:cNvSpPr/>
          <p:nvPr/>
        </p:nvSpPr>
        <p:spPr>
          <a:xfrm>
            <a:off x="2560320" y="3337560"/>
            <a:ext cx="1645920" cy="868680"/>
          </a:xfrm>
          <a:prstGeom prst="roundRect">
            <a:avLst>
              <a:gd name="adj" fmla="val 10526"/>
            </a:avLst>
          </a:prstGeom>
          <a:solidFill>
            <a:srgbClr val="141417"/>
          </a:solidFill>
          <a:ln w="12700">
            <a:solidFill>
              <a:srgbClr val="27272A"/>
            </a:solidFill>
            <a:prstDash val="solid"/>
          </a:ln>
        </p:spPr>
      </p:sp>
      <p:sp>
        <p:nvSpPr>
          <p:cNvPr id="12" name="Text 10"/>
          <p:cNvSpPr/>
          <p:nvPr/>
        </p:nvSpPr>
        <p:spPr>
          <a:xfrm>
            <a:off x="2697480" y="3410712"/>
            <a:ext cx="1417320" cy="411480"/>
          </a:xfrm>
          <a:prstGeom prst="rect">
            <a:avLst/>
          </a:prstGeom>
          <a:noFill/>
          <a:ln/>
        </p:spPr>
        <p:txBody>
          <a:bodyPr wrap="square" lIns="0" tIns="0" rIns="0" bIns="0" rtlCol="0" anchor="ctr"/>
          <a:lstStyle/>
          <a:p>
            <a:pPr indent="0" marL="0">
              <a:buNone/>
            </a:pPr>
            <a:r>
              <a:rPr lang="en-US" sz="2000" b="1" dirty="0">
                <a:solidFill>
                  <a:srgbClr val="F4F4F5"/>
                </a:solidFill>
                <a:latin typeface="Arial" pitchFamily="34" charset="0"/>
                <a:ea typeface="Arial" pitchFamily="34" charset="-122"/>
                <a:cs typeface="Arial" pitchFamily="34" charset="-120"/>
              </a:rPr>
              <a:t>1%</a:t>
            </a:r>
            <a:endParaRPr lang="en-US" sz="2000" dirty="0"/>
          </a:p>
        </p:txBody>
      </p:sp>
      <p:sp>
        <p:nvSpPr>
          <p:cNvPr id="13" name="Text 11"/>
          <p:cNvSpPr/>
          <p:nvPr/>
        </p:nvSpPr>
        <p:spPr>
          <a:xfrm>
            <a:off x="2697480" y="3822192"/>
            <a:ext cx="1463040" cy="274320"/>
          </a:xfrm>
          <a:prstGeom prst="rect">
            <a:avLst/>
          </a:prstGeom>
          <a:noFill/>
          <a:ln/>
        </p:spPr>
        <p:txBody>
          <a:bodyPr wrap="square" lIns="0" tIns="0" rIns="0" bIns="0" rtlCol="0" anchor="ctr"/>
          <a:lstStyle/>
          <a:p>
            <a:pPr indent="0" marL="0">
              <a:buNone/>
            </a:pPr>
            <a:r>
              <a:rPr lang="en-US" sz="1000" dirty="0">
                <a:solidFill>
                  <a:srgbClr val="A1A1AA"/>
                </a:solidFill>
                <a:latin typeface="Arial" pitchFamily="34" charset="0"/>
                <a:ea typeface="Arial" pitchFamily="34" charset="-122"/>
                <a:cs typeface="Arial" pitchFamily="34" charset="-120"/>
              </a:rPr>
              <a:t>settled on Commish</a:t>
            </a:r>
            <a:endParaRPr lang="en-US" sz="1000" dirty="0"/>
          </a:p>
        </p:txBody>
      </p:sp>
      <p:sp>
        <p:nvSpPr>
          <p:cNvPr id="14" name="Text 12"/>
          <p:cNvSpPr/>
          <p:nvPr/>
        </p:nvSpPr>
        <p:spPr>
          <a:xfrm>
            <a:off x="4206240" y="3566160"/>
            <a:ext cx="365760" cy="411480"/>
          </a:xfrm>
          <a:prstGeom prst="rect">
            <a:avLst/>
          </a:prstGeom>
          <a:noFill/>
          <a:ln/>
        </p:spPr>
        <p:txBody>
          <a:bodyPr wrap="square" lIns="0" tIns="0" rIns="0" bIns="0" rtlCol="0" anchor="ctr"/>
          <a:lstStyle/>
          <a:p>
            <a:pPr algn="ctr" indent="0" marL="0">
              <a:buNone/>
            </a:pPr>
            <a:r>
              <a:rPr lang="en-US" sz="1800" dirty="0">
                <a:solidFill>
                  <a:srgbClr val="A1A1AA"/>
                </a:solidFill>
                <a:latin typeface="Arial" pitchFamily="34" charset="0"/>
                <a:ea typeface="Arial" pitchFamily="34" charset="-122"/>
                <a:cs typeface="Arial" pitchFamily="34" charset="-120"/>
              </a:rPr>
              <a:t>×</a:t>
            </a:r>
            <a:endParaRPr lang="en-US" sz="1800" dirty="0"/>
          </a:p>
        </p:txBody>
      </p:sp>
      <p:sp>
        <p:nvSpPr>
          <p:cNvPr id="15" name="Shape 13"/>
          <p:cNvSpPr/>
          <p:nvPr/>
        </p:nvSpPr>
        <p:spPr>
          <a:xfrm>
            <a:off x="4572000" y="3337560"/>
            <a:ext cx="1645920" cy="868680"/>
          </a:xfrm>
          <a:prstGeom prst="roundRect">
            <a:avLst>
              <a:gd name="adj" fmla="val 10526"/>
            </a:avLst>
          </a:prstGeom>
          <a:solidFill>
            <a:srgbClr val="141417"/>
          </a:solidFill>
          <a:ln w="12700">
            <a:solidFill>
              <a:srgbClr val="27272A"/>
            </a:solidFill>
            <a:prstDash val="solid"/>
          </a:ln>
        </p:spPr>
      </p:sp>
      <p:sp>
        <p:nvSpPr>
          <p:cNvPr id="16" name="Text 14"/>
          <p:cNvSpPr/>
          <p:nvPr/>
        </p:nvSpPr>
        <p:spPr>
          <a:xfrm>
            <a:off x="4709160" y="3410712"/>
            <a:ext cx="1417320" cy="411480"/>
          </a:xfrm>
          <a:prstGeom prst="rect">
            <a:avLst/>
          </a:prstGeom>
          <a:noFill/>
          <a:ln/>
        </p:spPr>
        <p:txBody>
          <a:bodyPr wrap="square" lIns="0" tIns="0" rIns="0" bIns="0" rtlCol="0" anchor="ctr"/>
          <a:lstStyle/>
          <a:p>
            <a:pPr indent="0" marL="0">
              <a:buNone/>
            </a:pPr>
            <a:r>
              <a:rPr lang="en-US" sz="2000" b="1" dirty="0">
                <a:solidFill>
                  <a:srgbClr val="F4F4F5"/>
                </a:solidFill>
                <a:latin typeface="Arial" pitchFamily="34" charset="0"/>
                <a:ea typeface="Arial" pitchFamily="34" charset="-122"/>
                <a:cs typeface="Arial" pitchFamily="34" charset="-120"/>
              </a:rPr>
              <a:t>1%</a:t>
            </a:r>
            <a:endParaRPr lang="en-US" sz="2000" dirty="0"/>
          </a:p>
        </p:txBody>
      </p:sp>
      <p:sp>
        <p:nvSpPr>
          <p:cNvPr id="17" name="Text 15"/>
          <p:cNvSpPr/>
          <p:nvPr/>
        </p:nvSpPr>
        <p:spPr>
          <a:xfrm>
            <a:off x="4709160" y="3822192"/>
            <a:ext cx="1463040" cy="274320"/>
          </a:xfrm>
          <a:prstGeom prst="rect">
            <a:avLst/>
          </a:prstGeom>
          <a:noFill/>
          <a:ln/>
        </p:spPr>
        <p:txBody>
          <a:bodyPr wrap="square" lIns="0" tIns="0" rIns="0" bIns="0" rtlCol="0" anchor="ctr"/>
          <a:lstStyle/>
          <a:p>
            <a:pPr indent="0" marL="0">
              <a:buNone/>
            </a:pPr>
            <a:r>
              <a:rPr lang="en-US" sz="1000" dirty="0">
                <a:solidFill>
                  <a:srgbClr val="A1A1AA"/>
                </a:solidFill>
                <a:latin typeface="Arial" pitchFamily="34" charset="0"/>
                <a:ea typeface="Arial" pitchFamily="34" charset="-122"/>
                <a:cs typeface="Arial" pitchFamily="34" charset="-120"/>
              </a:rPr>
              <a:t>fee on each payout</a:t>
            </a:r>
            <a:endParaRPr lang="en-US" sz="1000" dirty="0"/>
          </a:p>
        </p:txBody>
      </p:sp>
      <p:sp>
        <p:nvSpPr>
          <p:cNvPr id="18" name="Text 16"/>
          <p:cNvSpPr/>
          <p:nvPr/>
        </p:nvSpPr>
        <p:spPr>
          <a:xfrm>
            <a:off x="6217920" y="3566160"/>
            <a:ext cx="365760" cy="411480"/>
          </a:xfrm>
          <a:prstGeom prst="rect">
            <a:avLst/>
          </a:prstGeom>
          <a:noFill/>
          <a:ln/>
        </p:spPr>
        <p:txBody>
          <a:bodyPr wrap="square" lIns="0" tIns="0" rIns="0" bIns="0" rtlCol="0" anchor="ctr"/>
          <a:lstStyle/>
          <a:p>
            <a:pPr algn="ctr" indent="0" marL="0">
              <a:buNone/>
            </a:pPr>
            <a:r>
              <a:rPr lang="en-US" sz="1800" dirty="0">
                <a:solidFill>
                  <a:srgbClr val="A1A1AA"/>
                </a:solidFill>
                <a:latin typeface="Arial" pitchFamily="34" charset="0"/>
                <a:ea typeface="Arial" pitchFamily="34" charset="-122"/>
                <a:cs typeface="Arial" pitchFamily="34" charset="-120"/>
              </a:rPr>
              <a:t>=</a:t>
            </a:r>
            <a:endParaRPr lang="en-US" sz="1800" dirty="0"/>
          </a:p>
        </p:txBody>
      </p:sp>
      <p:sp>
        <p:nvSpPr>
          <p:cNvPr id="19" name="Shape 17"/>
          <p:cNvSpPr/>
          <p:nvPr/>
        </p:nvSpPr>
        <p:spPr>
          <a:xfrm>
            <a:off x="6583680" y="3337560"/>
            <a:ext cx="1645920" cy="868680"/>
          </a:xfrm>
          <a:prstGeom prst="roundRect">
            <a:avLst>
              <a:gd name="adj" fmla="val 10526"/>
            </a:avLst>
          </a:prstGeom>
          <a:solidFill>
            <a:srgbClr val="141417"/>
          </a:solidFill>
          <a:ln w="19050">
            <a:solidFill>
              <a:srgbClr val="3DDC97"/>
            </a:solidFill>
            <a:prstDash val="solid"/>
          </a:ln>
        </p:spPr>
      </p:sp>
      <p:sp>
        <p:nvSpPr>
          <p:cNvPr id="20" name="Text 18"/>
          <p:cNvSpPr/>
          <p:nvPr/>
        </p:nvSpPr>
        <p:spPr>
          <a:xfrm>
            <a:off x="6720840" y="3410712"/>
            <a:ext cx="1417320" cy="411480"/>
          </a:xfrm>
          <a:prstGeom prst="rect">
            <a:avLst/>
          </a:prstGeom>
          <a:noFill/>
          <a:ln/>
        </p:spPr>
        <p:txBody>
          <a:bodyPr wrap="square" lIns="0" tIns="0" rIns="0" bIns="0" rtlCol="0" anchor="ctr"/>
          <a:lstStyle/>
          <a:p>
            <a:pPr indent="0" marL="0">
              <a:buNone/>
            </a:pPr>
            <a:r>
              <a:rPr lang="en-US" sz="2000" b="1" dirty="0">
                <a:solidFill>
                  <a:srgbClr val="3DDC97"/>
                </a:solidFill>
                <a:latin typeface="Arial" pitchFamily="34" charset="0"/>
                <a:ea typeface="Arial" pitchFamily="34" charset="-122"/>
                <a:cs typeface="Arial" pitchFamily="34" charset="-120"/>
              </a:rPr>
              <a:t>$1.38M</a:t>
            </a:r>
            <a:endParaRPr lang="en-US" sz="2000" dirty="0"/>
          </a:p>
        </p:txBody>
      </p:sp>
      <p:sp>
        <p:nvSpPr>
          <p:cNvPr id="21" name="Text 19"/>
          <p:cNvSpPr/>
          <p:nvPr/>
        </p:nvSpPr>
        <p:spPr>
          <a:xfrm>
            <a:off x="6720840" y="3822192"/>
            <a:ext cx="1463040" cy="274320"/>
          </a:xfrm>
          <a:prstGeom prst="rect">
            <a:avLst/>
          </a:prstGeom>
          <a:noFill/>
          <a:ln/>
        </p:spPr>
        <p:txBody>
          <a:bodyPr wrap="square" lIns="0" tIns="0" rIns="0" bIns="0" rtlCol="0" anchor="ctr"/>
          <a:lstStyle/>
          <a:p>
            <a:pPr indent="0" marL="0">
              <a:buNone/>
            </a:pPr>
            <a:r>
              <a:rPr lang="en-US" sz="1000" dirty="0">
                <a:solidFill>
                  <a:srgbClr val="A1A1AA"/>
                </a:solidFill>
                <a:latin typeface="Arial" pitchFamily="34" charset="0"/>
                <a:ea typeface="Arial" pitchFamily="34" charset="-122"/>
                <a:cs typeface="Arial" pitchFamily="34" charset="-120"/>
              </a:rPr>
              <a:t>a year</a:t>
            </a:r>
            <a:endParaRPr lang="en-US" sz="1000" dirty="0"/>
          </a:p>
        </p:txBody>
      </p:sp>
      <p:sp>
        <p:nvSpPr>
          <p:cNvPr id="22" name="Text 20"/>
          <p:cNvSpPr/>
          <p:nvPr/>
        </p:nvSpPr>
        <p:spPr>
          <a:xfrm>
            <a:off x="548640" y="4681728"/>
            <a:ext cx="7589520" cy="274320"/>
          </a:xfrm>
          <a:prstGeom prst="rect">
            <a:avLst/>
          </a:prstGeom>
          <a:noFill/>
          <a:ln/>
        </p:spPr>
        <p:txBody>
          <a:bodyPr wrap="square" lIns="0" tIns="0" rIns="0" bIns="0" rtlCol="0" anchor="ctr"/>
          <a:lstStyle/>
          <a:p>
            <a:pPr indent="0" marL="0">
              <a:buNone/>
            </a:pPr>
            <a:r>
              <a:rPr lang="en-US" sz="900" dirty="0">
                <a:solidFill>
                  <a:srgbClr val="71717A"/>
                </a:solidFill>
                <a:latin typeface="Arial" pitchFamily="34" charset="0"/>
                <a:ea typeface="Arial" pitchFamily="34" charset="-122"/>
                <a:cs typeface="Arial" pitchFamily="34" charset="-120"/>
              </a:rPr>
              <a:t>Source: eMarketer forecast via Post Affiliate Pro [S3]. Share and fee are team plan, not outside data.</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0E"/>
        </a:solidFill>
      </p:bgPr>
    </p:bg>
    <p:spTree>
      <p:nvGrpSpPr>
        <p:cNvPr id="1" name=""/>
        <p:cNvGrpSpPr/>
        <p:nvPr/>
      </p:nvGrpSpPr>
      <p:grpSpPr>
        <a:xfrm>
          <a:off x="0" y="0"/>
          <a:ext cx="0" cy="0"/>
          <a:chOff x="0" y="0"/>
          <a:chExt cx="0" cy="0"/>
        </a:xfrm>
      </p:grpSpPr>
      <p:sp>
        <p:nvSpPr>
          <p:cNvPr id="2" name="Text 0"/>
          <p:cNvSpPr/>
          <p:nvPr/>
        </p:nvSpPr>
        <p:spPr>
          <a:xfrm>
            <a:off x="548640" y="384048"/>
            <a:ext cx="5486400" cy="256032"/>
          </a:xfrm>
          <a:prstGeom prst="rect">
            <a:avLst/>
          </a:prstGeom>
          <a:noFill/>
          <a:ln/>
        </p:spPr>
        <p:txBody>
          <a:bodyPr wrap="square" lIns="0" tIns="0" rIns="0" bIns="0" rtlCol="0" anchor="ctr"/>
          <a:lstStyle/>
          <a:p>
            <a:pPr indent="0" marL="0">
              <a:buNone/>
            </a:pPr>
            <a:r>
              <a:rPr lang="en-US" sz="1000" b="1" spc="200" kern="0" dirty="0">
                <a:solidFill>
                  <a:srgbClr val="A1A1AA"/>
                </a:solidFill>
                <a:latin typeface="Arial" pitchFamily="34" charset="0"/>
                <a:ea typeface="Arial" pitchFamily="34" charset="-122"/>
                <a:cs typeface="Arial" pitchFamily="34" charset="-120"/>
              </a:rPr>
              <a:t>TEAM</a:t>
            </a:r>
            <a:endParaRPr lang="en-US" sz="1000" dirty="0"/>
          </a:p>
        </p:txBody>
      </p:sp>
      <p:sp>
        <p:nvSpPr>
          <p:cNvPr id="3" name="Text 1"/>
          <p:cNvSpPr/>
          <p:nvPr/>
        </p:nvSpPr>
        <p:spPr>
          <a:xfrm>
            <a:off x="548640" y="676656"/>
            <a:ext cx="7498080" cy="914400"/>
          </a:xfrm>
          <a:prstGeom prst="rect">
            <a:avLst/>
          </a:prstGeom>
          <a:noFill/>
          <a:ln/>
        </p:spPr>
        <p:txBody>
          <a:bodyPr wrap="square" lIns="0" tIns="0" rIns="0" bIns="0" rtlCol="0" anchor="t">
            <a:normAutofit/>
          </a:bodyPr>
          <a:lstStyle/>
          <a:p>
            <a:pPr indent="0" marL="0">
              <a:buNone/>
            </a:pPr>
            <a:r>
              <a:rPr lang="en-US" sz="2800" b="1" dirty="0">
                <a:solidFill>
                  <a:srgbClr val="F4F4F5"/>
                </a:solidFill>
                <a:latin typeface="Arial" pitchFamily="34" charset="0"/>
                <a:ea typeface="Arial" pitchFamily="34" charset="-122"/>
                <a:cs typeface="Arial" pitchFamily="34" charset="-120"/>
              </a:rPr>
              <a:t>One founder built the program, app and tests in five days.</a:t>
            </a:r>
            <a:endParaRPr lang="en-US" sz="2800" dirty="0"/>
          </a:p>
        </p:txBody>
      </p:sp>
      <p:sp>
        <p:nvSpPr>
          <p:cNvPr id="4" name="Shape 2"/>
          <p:cNvSpPr/>
          <p:nvPr/>
        </p:nvSpPr>
        <p:spPr>
          <a:xfrm>
            <a:off x="8321040" y="4709160"/>
            <a:ext cx="548640" cy="274320"/>
          </a:xfrm>
          <a:prstGeom prst="roundRect">
            <a:avLst>
              <a:gd name="adj" fmla="val 50000"/>
            </a:avLst>
          </a:prstGeom>
          <a:solidFill>
            <a:srgbClr val="27272A"/>
          </a:solidFill>
          <a:ln/>
        </p:spPr>
      </p:sp>
      <p:sp>
        <p:nvSpPr>
          <p:cNvPr id="5" name="Text 3"/>
          <p:cNvSpPr/>
          <p:nvPr/>
        </p:nvSpPr>
        <p:spPr>
          <a:xfrm>
            <a:off x="8321040" y="4709160"/>
            <a:ext cx="548640" cy="274320"/>
          </a:xfrm>
          <a:prstGeom prst="rect">
            <a:avLst/>
          </a:prstGeom>
          <a:noFill/>
          <a:ln/>
        </p:spPr>
        <p:txBody>
          <a:bodyPr wrap="square" lIns="0" tIns="0" rIns="0" bIns="0" rtlCol="0" anchor="ctr"/>
          <a:lstStyle/>
          <a:p>
            <a:pPr algn="ctr" indent="0" marL="0">
              <a:buNone/>
            </a:pPr>
            <a:r>
              <a:rPr lang="en-US" sz="1000" b="1" dirty="0">
                <a:solidFill>
                  <a:srgbClr val="A1A1AA"/>
                </a:solidFill>
                <a:latin typeface="Consolas" pitchFamily="34" charset="0"/>
                <a:ea typeface="Consolas" pitchFamily="34" charset="-122"/>
                <a:cs typeface="Consolas" pitchFamily="34" charset="-120"/>
              </a:rPr>
              <a:t>10</a:t>
            </a:r>
            <a:endParaRPr lang="en-US" sz="1000" dirty="0"/>
          </a:p>
        </p:txBody>
      </p:sp>
      <p:sp>
        <p:nvSpPr>
          <p:cNvPr id="6" name="Shape 4"/>
          <p:cNvSpPr/>
          <p:nvPr/>
        </p:nvSpPr>
        <p:spPr>
          <a:xfrm>
            <a:off x="548640" y="1874520"/>
            <a:ext cx="1005840" cy="1005840"/>
          </a:xfrm>
          <a:prstGeom prst="ellipse">
            <a:avLst/>
          </a:prstGeom>
          <a:solidFill>
            <a:srgbClr val="141417"/>
          </a:solidFill>
          <a:ln w="19050">
            <a:solidFill>
              <a:srgbClr val="3DDC97"/>
            </a:solidFill>
            <a:prstDash val="solid"/>
          </a:ln>
        </p:spPr>
      </p:sp>
      <p:sp>
        <p:nvSpPr>
          <p:cNvPr id="7" name="Text 5"/>
          <p:cNvSpPr/>
          <p:nvPr/>
        </p:nvSpPr>
        <p:spPr>
          <a:xfrm>
            <a:off x="548640" y="1874520"/>
            <a:ext cx="1005840" cy="1005840"/>
          </a:xfrm>
          <a:prstGeom prst="rect">
            <a:avLst/>
          </a:prstGeom>
          <a:noFill/>
          <a:ln/>
        </p:spPr>
        <p:txBody>
          <a:bodyPr wrap="square" lIns="0" tIns="0" rIns="0" bIns="0" rtlCol="0" anchor="ctr"/>
          <a:lstStyle/>
          <a:p>
            <a:pPr algn="ctr" indent="0" marL="0">
              <a:buNone/>
            </a:pPr>
            <a:r>
              <a:rPr lang="en-US" sz="2600" b="1" dirty="0">
                <a:solidFill>
                  <a:srgbClr val="3DDC97"/>
                </a:solidFill>
                <a:latin typeface="Arial" pitchFamily="34" charset="0"/>
                <a:ea typeface="Arial" pitchFamily="34" charset="-122"/>
                <a:cs typeface="Arial" pitchFamily="34" charset="-120"/>
              </a:rPr>
              <a:t>BK</a:t>
            </a:r>
            <a:endParaRPr lang="en-US" sz="2600" dirty="0"/>
          </a:p>
        </p:txBody>
      </p:sp>
      <p:sp>
        <p:nvSpPr>
          <p:cNvPr id="8" name="Text 6"/>
          <p:cNvSpPr/>
          <p:nvPr/>
        </p:nvSpPr>
        <p:spPr>
          <a:xfrm>
            <a:off x="1783080" y="2011680"/>
            <a:ext cx="4572000" cy="411480"/>
          </a:xfrm>
          <a:prstGeom prst="rect">
            <a:avLst/>
          </a:prstGeom>
          <a:noFill/>
          <a:ln/>
        </p:spPr>
        <p:txBody>
          <a:bodyPr wrap="square" lIns="0" tIns="0" rIns="0" bIns="0" rtlCol="0" anchor="ctr"/>
          <a:lstStyle/>
          <a:p>
            <a:pPr indent="0" marL="0">
              <a:buNone/>
            </a:pPr>
            <a:r>
              <a:rPr lang="en-US" sz="2000" b="1" dirty="0">
                <a:solidFill>
                  <a:srgbClr val="F4F4F5"/>
                </a:solidFill>
                <a:latin typeface="Arial" pitchFamily="34" charset="0"/>
                <a:ea typeface="Arial" pitchFamily="34" charset="-122"/>
                <a:cs typeface="Arial" pitchFamily="34" charset="-120"/>
              </a:rPr>
              <a:t>Bryan Kwandou</a:t>
            </a:r>
            <a:endParaRPr lang="en-US" sz="2000" dirty="0"/>
          </a:p>
        </p:txBody>
      </p:sp>
      <p:sp>
        <p:nvSpPr>
          <p:cNvPr id="9" name="Text 7"/>
          <p:cNvSpPr/>
          <p:nvPr/>
        </p:nvSpPr>
        <p:spPr>
          <a:xfrm>
            <a:off x="1783080" y="2423160"/>
            <a:ext cx="4572000" cy="320040"/>
          </a:xfrm>
          <a:prstGeom prst="rect">
            <a:avLst/>
          </a:prstGeom>
          <a:noFill/>
          <a:ln/>
        </p:spPr>
        <p:txBody>
          <a:bodyPr wrap="square" lIns="0" tIns="0" rIns="0" bIns="0" rtlCol="0" anchor="ctr"/>
          <a:lstStyle/>
          <a:p>
            <a:pPr indent="0" marL="0">
              <a:buNone/>
            </a:pPr>
            <a:r>
              <a:rPr lang="en-US" sz="1300" dirty="0">
                <a:solidFill>
                  <a:srgbClr val="A1A1AA"/>
                </a:solidFill>
                <a:latin typeface="Arial" pitchFamily="34" charset="0"/>
                <a:ea typeface="Arial" pitchFamily="34" charset="-122"/>
                <a:cs typeface="Arial" pitchFamily="34" charset="-120"/>
              </a:rPr>
              <a:t>Founder</a:t>
            </a:r>
            <a:endParaRPr lang="en-US" sz="1300" dirty="0"/>
          </a:p>
        </p:txBody>
      </p:sp>
      <p:sp>
        <p:nvSpPr>
          <p:cNvPr id="10" name="Text 8"/>
          <p:cNvSpPr/>
          <p:nvPr/>
        </p:nvSpPr>
        <p:spPr>
          <a:xfrm>
            <a:off x="548640" y="3154680"/>
            <a:ext cx="914400" cy="329184"/>
          </a:xfrm>
          <a:prstGeom prst="rect">
            <a:avLst/>
          </a:prstGeom>
          <a:noFill/>
          <a:ln/>
        </p:spPr>
        <p:txBody>
          <a:bodyPr wrap="square" lIns="0" tIns="0" rIns="0" bIns="0" rtlCol="0" anchor="ctr"/>
          <a:lstStyle/>
          <a:p>
            <a:pPr indent="0" marL="0">
              <a:buNone/>
            </a:pPr>
            <a:r>
              <a:rPr lang="en-US" sz="1000" b="1" dirty="0">
                <a:solidFill>
                  <a:srgbClr val="3DDC97"/>
                </a:solidFill>
                <a:latin typeface="Consolas" pitchFamily="34" charset="0"/>
                <a:ea typeface="Consolas" pitchFamily="34" charset="-122"/>
                <a:cs typeface="Consolas" pitchFamily="34" charset="-120"/>
              </a:rPr>
              <a:t>BUILT</a:t>
            </a:r>
            <a:endParaRPr lang="en-US" sz="1000" dirty="0"/>
          </a:p>
        </p:txBody>
      </p:sp>
      <p:sp>
        <p:nvSpPr>
          <p:cNvPr id="11" name="Text 9"/>
          <p:cNvSpPr/>
          <p:nvPr/>
        </p:nvSpPr>
        <p:spPr>
          <a:xfrm>
            <a:off x="1783080" y="3154680"/>
            <a:ext cx="6675120" cy="329184"/>
          </a:xfrm>
          <a:prstGeom prst="rect">
            <a:avLst/>
          </a:prstGeom>
          <a:noFill/>
          <a:ln/>
        </p:spPr>
        <p:txBody>
          <a:bodyPr wrap="square" lIns="0" tIns="0" rIns="0" bIns="0" rtlCol="0" anchor="ctr"/>
          <a:lstStyle/>
          <a:p>
            <a:pPr indent="0" marL="0">
              <a:buNone/>
            </a:pPr>
            <a:r>
              <a:rPr lang="en-US" sz="1400" dirty="0">
                <a:solidFill>
                  <a:srgbClr val="F4F4F5"/>
                </a:solidFill>
                <a:latin typeface="Arial" pitchFamily="34" charset="0"/>
                <a:ea typeface="Arial" pitchFamily="34" charset="-122"/>
                <a:cs typeface="Arial" pitchFamily="34" charset="-120"/>
              </a:rPr>
              <a:t>The Pinocchio program, the four-language app and 26 tests</a:t>
            </a:r>
            <a:endParaRPr lang="en-US" sz="1400" dirty="0"/>
          </a:p>
        </p:txBody>
      </p:sp>
      <p:sp>
        <p:nvSpPr>
          <p:cNvPr id="12" name="Text 10"/>
          <p:cNvSpPr/>
          <p:nvPr/>
        </p:nvSpPr>
        <p:spPr>
          <a:xfrm>
            <a:off x="548640" y="3611880"/>
            <a:ext cx="914400" cy="329184"/>
          </a:xfrm>
          <a:prstGeom prst="rect">
            <a:avLst/>
          </a:prstGeom>
          <a:noFill/>
          <a:ln/>
        </p:spPr>
        <p:txBody>
          <a:bodyPr wrap="square" lIns="0" tIns="0" rIns="0" bIns="0" rtlCol="0" anchor="ctr"/>
          <a:lstStyle/>
          <a:p>
            <a:pPr indent="0" marL="0">
              <a:buNone/>
            </a:pPr>
            <a:r>
              <a:rPr lang="en-US" sz="1000" b="1" dirty="0">
                <a:solidFill>
                  <a:srgbClr val="3DDC97"/>
                </a:solidFill>
                <a:latin typeface="Consolas" pitchFamily="34" charset="0"/>
                <a:ea typeface="Consolas" pitchFamily="34" charset="-122"/>
                <a:cs typeface="Consolas" pitchFamily="34" charset="-120"/>
              </a:rPr>
              <a:t>SHIPS</a:t>
            </a:r>
            <a:endParaRPr lang="en-US" sz="1000" dirty="0"/>
          </a:p>
        </p:txBody>
      </p:sp>
      <p:sp>
        <p:nvSpPr>
          <p:cNvPr id="13" name="Text 11"/>
          <p:cNvSpPr/>
          <p:nvPr/>
        </p:nvSpPr>
        <p:spPr>
          <a:xfrm>
            <a:off x="1783080" y="3611880"/>
            <a:ext cx="6675120" cy="329184"/>
          </a:xfrm>
          <a:prstGeom prst="rect">
            <a:avLst/>
          </a:prstGeom>
          <a:noFill/>
          <a:ln/>
        </p:spPr>
        <p:txBody>
          <a:bodyPr wrap="square" lIns="0" tIns="0" rIns="0" bIns="0" rtlCol="0" anchor="ctr"/>
          <a:lstStyle/>
          <a:p>
            <a:pPr indent="0" marL="0">
              <a:buNone/>
            </a:pPr>
            <a:r>
              <a:rPr lang="en-US" sz="1400" dirty="0">
                <a:solidFill>
                  <a:srgbClr val="F4F4F5"/>
                </a:solidFill>
                <a:latin typeface="Arial" pitchFamily="34" charset="0"/>
                <a:ea typeface="Arial" pitchFamily="34" charset="-122"/>
                <a:cs typeface="Arial" pitchFamily="34" charset="-120"/>
              </a:rPr>
              <a:t>Open-source tools for builders: Plinth, Lugas, Splicecraft</a:t>
            </a:r>
            <a:endParaRPr lang="en-US" sz="1400" dirty="0"/>
          </a:p>
        </p:txBody>
      </p:sp>
      <p:sp>
        <p:nvSpPr>
          <p:cNvPr id="14" name="Text 12"/>
          <p:cNvSpPr/>
          <p:nvPr/>
        </p:nvSpPr>
        <p:spPr>
          <a:xfrm>
            <a:off x="548640" y="4069080"/>
            <a:ext cx="914400" cy="329184"/>
          </a:xfrm>
          <a:prstGeom prst="rect">
            <a:avLst/>
          </a:prstGeom>
          <a:noFill/>
          <a:ln/>
        </p:spPr>
        <p:txBody>
          <a:bodyPr wrap="square" lIns="0" tIns="0" rIns="0" bIns="0" rtlCol="0" anchor="ctr"/>
          <a:lstStyle/>
          <a:p>
            <a:pPr indent="0" marL="0">
              <a:buNone/>
            </a:pPr>
            <a:r>
              <a:rPr lang="en-US" sz="1000" b="1" dirty="0">
                <a:solidFill>
                  <a:srgbClr val="3DDC97"/>
                </a:solidFill>
                <a:latin typeface="Consolas" pitchFamily="34" charset="0"/>
                <a:ea typeface="Consolas" pitchFamily="34" charset="-122"/>
                <a:cs typeface="Consolas" pitchFamily="34" charset="-120"/>
              </a:rPr>
              <a:t>CODE</a:t>
            </a:r>
            <a:endParaRPr lang="en-US" sz="1000" dirty="0"/>
          </a:p>
        </p:txBody>
      </p:sp>
      <p:sp>
        <p:nvSpPr>
          <p:cNvPr id="15" name="Text 13"/>
          <p:cNvSpPr/>
          <p:nvPr/>
        </p:nvSpPr>
        <p:spPr>
          <a:xfrm>
            <a:off x="1783080" y="4069080"/>
            <a:ext cx="6675120" cy="329184"/>
          </a:xfrm>
          <a:prstGeom prst="rect">
            <a:avLst/>
          </a:prstGeom>
          <a:noFill/>
          <a:ln/>
        </p:spPr>
        <p:txBody>
          <a:bodyPr wrap="square" lIns="0" tIns="0" rIns="0" bIns="0" rtlCol="0" anchor="ctr"/>
          <a:lstStyle/>
          <a:p>
            <a:pPr indent="0" marL="0">
              <a:buNone/>
            </a:pPr>
            <a:r>
              <a:rPr lang="en-US" sz="1400" dirty="0">
                <a:solidFill>
                  <a:srgbClr val="F4F4F5"/>
                </a:solidFill>
                <a:latin typeface="Arial" pitchFamily="34" charset="0"/>
                <a:ea typeface="Arial" pitchFamily="34" charset="-122"/>
                <a:cs typeface="Arial" pitchFamily="34" charset="-120"/>
              </a:rPr>
              <a:t>github.com/bryankwandou/commish, every commit public</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E"/>
        </a:solidFill>
      </p:bgPr>
    </p:bg>
    <p:spTree>
      <p:nvGrpSpPr>
        <p:cNvPr id="1" name=""/>
        <p:cNvGrpSpPr/>
        <p:nvPr/>
      </p:nvGrpSpPr>
      <p:grpSpPr>
        <a:xfrm>
          <a:off x="0" y="0"/>
          <a:ext cx="0" cy="0"/>
          <a:chOff x="0" y="0"/>
          <a:chExt cx="0" cy="0"/>
        </a:xfrm>
      </p:grpSpPr>
      <p:sp>
        <p:nvSpPr>
          <p:cNvPr id="2" name="Text 0"/>
          <p:cNvSpPr/>
          <p:nvPr/>
        </p:nvSpPr>
        <p:spPr>
          <a:xfrm>
            <a:off x="548640" y="384048"/>
            <a:ext cx="5486400" cy="256032"/>
          </a:xfrm>
          <a:prstGeom prst="rect">
            <a:avLst/>
          </a:prstGeom>
          <a:noFill/>
          <a:ln/>
        </p:spPr>
        <p:txBody>
          <a:bodyPr wrap="square" lIns="0" tIns="0" rIns="0" bIns="0" rtlCol="0" anchor="ctr"/>
          <a:lstStyle/>
          <a:p>
            <a:pPr indent="0" marL="0">
              <a:buNone/>
            </a:pPr>
            <a:r>
              <a:rPr lang="en-US" sz="1000" b="1" spc="200" kern="0" dirty="0">
                <a:solidFill>
                  <a:srgbClr val="A1A1AA"/>
                </a:solidFill>
                <a:latin typeface="Arial" pitchFamily="34" charset="0"/>
                <a:ea typeface="Arial" pitchFamily="34" charset="-122"/>
                <a:cs typeface="Arial" pitchFamily="34" charset="-120"/>
              </a:rPr>
              <a:t>NEXT</a:t>
            </a:r>
            <a:endParaRPr lang="en-US" sz="1000" dirty="0"/>
          </a:p>
        </p:txBody>
      </p:sp>
      <p:sp>
        <p:nvSpPr>
          <p:cNvPr id="3" name="Text 1"/>
          <p:cNvSpPr/>
          <p:nvPr/>
        </p:nvSpPr>
        <p:spPr>
          <a:xfrm>
            <a:off x="548640" y="676656"/>
            <a:ext cx="7498080" cy="914400"/>
          </a:xfrm>
          <a:prstGeom prst="rect">
            <a:avLst/>
          </a:prstGeom>
          <a:noFill/>
          <a:ln/>
        </p:spPr>
        <p:txBody>
          <a:bodyPr wrap="square" lIns="0" tIns="0" rIns="0" bIns="0" rtlCol="0" anchor="t">
            <a:normAutofit/>
          </a:bodyPr>
          <a:lstStyle/>
          <a:p>
            <a:pPr indent="0" marL="0">
              <a:buNone/>
            </a:pPr>
            <a:r>
              <a:rPr lang="en-US" sz="2800" b="1" dirty="0">
                <a:solidFill>
                  <a:srgbClr val="F4F4F5"/>
                </a:solidFill>
                <a:latin typeface="Arial" pitchFamily="34" charset="0"/>
                <a:ea typeface="Arial" pitchFamily="34" charset="-122"/>
                <a:cs typeface="Arial" pitchFamily="34" charset="-120"/>
              </a:rPr>
              <a:t>Next: ten Solana brands run their creator payouts through Commish.</a:t>
            </a:r>
            <a:endParaRPr lang="en-US" sz="2800" dirty="0"/>
          </a:p>
        </p:txBody>
      </p:sp>
      <p:sp>
        <p:nvSpPr>
          <p:cNvPr id="4" name="Shape 2"/>
          <p:cNvSpPr/>
          <p:nvPr/>
        </p:nvSpPr>
        <p:spPr>
          <a:xfrm>
            <a:off x="8321040" y="4709160"/>
            <a:ext cx="548640" cy="274320"/>
          </a:xfrm>
          <a:prstGeom prst="roundRect">
            <a:avLst>
              <a:gd name="adj" fmla="val 50000"/>
            </a:avLst>
          </a:prstGeom>
          <a:solidFill>
            <a:srgbClr val="27272A"/>
          </a:solidFill>
          <a:ln/>
        </p:spPr>
      </p:sp>
      <p:sp>
        <p:nvSpPr>
          <p:cNvPr id="5" name="Text 3"/>
          <p:cNvSpPr/>
          <p:nvPr/>
        </p:nvSpPr>
        <p:spPr>
          <a:xfrm>
            <a:off x="8321040" y="4709160"/>
            <a:ext cx="548640" cy="274320"/>
          </a:xfrm>
          <a:prstGeom prst="rect">
            <a:avLst/>
          </a:prstGeom>
          <a:noFill/>
          <a:ln/>
        </p:spPr>
        <p:txBody>
          <a:bodyPr wrap="square" lIns="0" tIns="0" rIns="0" bIns="0" rtlCol="0" anchor="ctr"/>
          <a:lstStyle/>
          <a:p>
            <a:pPr algn="ctr" indent="0" marL="0">
              <a:buNone/>
            </a:pPr>
            <a:r>
              <a:rPr lang="en-US" sz="1000" b="1" dirty="0">
                <a:solidFill>
                  <a:srgbClr val="A1A1AA"/>
                </a:solidFill>
                <a:latin typeface="Consolas" pitchFamily="34" charset="0"/>
                <a:ea typeface="Consolas" pitchFamily="34" charset="-122"/>
                <a:cs typeface="Consolas" pitchFamily="34" charset="-120"/>
              </a:rPr>
              <a:t>11</a:t>
            </a:r>
            <a:endParaRPr lang="en-US" sz="1000" dirty="0"/>
          </a:p>
        </p:txBody>
      </p:sp>
      <p:sp>
        <p:nvSpPr>
          <p:cNvPr id="6" name="Shape 4"/>
          <p:cNvSpPr/>
          <p:nvPr/>
        </p:nvSpPr>
        <p:spPr>
          <a:xfrm>
            <a:off x="548640" y="2240280"/>
            <a:ext cx="8046720" cy="0"/>
          </a:xfrm>
          <a:prstGeom prst="line">
            <a:avLst/>
          </a:prstGeom>
          <a:noFill/>
          <a:ln w="25400">
            <a:solidFill>
              <a:srgbClr val="27272A"/>
            </a:solidFill>
            <a:prstDash val="solid"/>
          </a:ln>
        </p:spPr>
      </p:sp>
      <p:sp>
        <p:nvSpPr>
          <p:cNvPr id="7" name="Shape 5"/>
          <p:cNvSpPr/>
          <p:nvPr/>
        </p:nvSpPr>
        <p:spPr>
          <a:xfrm>
            <a:off x="548640" y="2139696"/>
            <a:ext cx="201168" cy="201168"/>
          </a:xfrm>
          <a:prstGeom prst="ellipse">
            <a:avLst/>
          </a:prstGeom>
          <a:solidFill>
            <a:srgbClr val="3DDC97"/>
          </a:solidFill>
          <a:ln w="19050">
            <a:solidFill>
              <a:srgbClr val="3DDC97"/>
            </a:solidFill>
            <a:prstDash val="solid"/>
          </a:ln>
        </p:spPr>
      </p:sp>
      <p:sp>
        <p:nvSpPr>
          <p:cNvPr id="8" name="Text 6"/>
          <p:cNvSpPr/>
          <p:nvPr/>
        </p:nvSpPr>
        <p:spPr>
          <a:xfrm>
            <a:off x="548640" y="2514600"/>
            <a:ext cx="1828800" cy="365760"/>
          </a:xfrm>
          <a:prstGeom prst="rect">
            <a:avLst/>
          </a:prstGeom>
          <a:noFill/>
          <a:ln/>
        </p:spPr>
        <p:txBody>
          <a:bodyPr wrap="square" lIns="0" tIns="0" rIns="0" bIns="0" rtlCol="0" anchor="ctr"/>
          <a:lstStyle/>
          <a:p>
            <a:pPr indent="0" marL="0">
              <a:buNone/>
            </a:pPr>
            <a:r>
              <a:rPr lang="en-US" sz="1700" b="1" dirty="0">
                <a:solidFill>
                  <a:srgbClr val="3DDC97"/>
                </a:solidFill>
                <a:latin typeface="Arial" pitchFamily="34" charset="0"/>
                <a:ea typeface="Arial" pitchFamily="34" charset="-122"/>
                <a:cs typeface="Arial" pitchFamily="34" charset="-120"/>
              </a:rPr>
              <a:t>Sep 2026</a:t>
            </a:r>
            <a:endParaRPr lang="en-US" sz="1700" dirty="0"/>
          </a:p>
        </p:txBody>
      </p:sp>
      <p:sp>
        <p:nvSpPr>
          <p:cNvPr id="9" name="Text 7"/>
          <p:cNvSpPr/>
          <p:nvPr/>
        </p:nvSpPr>
        <p:spPr>
          <a:xfrm>
            <a:off x="548640" y="2907792"/>
            <a:ext cx="1783080" cy="822960"/>
          </a:xfrm>
          <a:prstGeom prst="rect">
            <a:avLst/>
          </a:prstGeom>
          <a:noFill/>
          <a:ln/>
        </p:spPr>
        <p:txBody>
          <a:bodyPr wrap="square" lIns="0" tIns="0" rIns="0" bIns="0" rtlCol="0" anchor="t"/>
          <a:lstStyle/>
          <a:p>
            <a:pPr indent="0" marL="0">
              <a:buNone/>
            </a:pPr>
            <a:r>
              <a:rPr lang="en-US" sz="1100" dirty="0">
                <a:solidFill>
                  <a:srgbClr val="A1A1AA"/>
                </a:solidFill>
                <a:latin typeface="Arial" pitchFamily="34" charset="0"/>
                <a:ea typeface="Arial" pitchFamily="34" charset="-122"/>
                <a:cs typeface="Arial" pitchFamily="34" charset="-120"/>
              </a:rPr>
              <a:t>Program and app built, 26 tests pass</a:t>
            </a:r>
            <a:endParaRPr lang="en-US" sz="1100" dirty="0"/>
          </a:p>
        </p:txBody>
      </p:sp>
      <p:sp>
        <p:nvSpPr>
          <p:cNvPr id="10" name="Shape 8"/>
          <p:cNvSpPr/>
          <p:nvPr/>
        </p:nvSpPr>
        <p:spPr>
          <a:xfrm>
            <a:off x="2606040" y="2139696"/>
            <a:ext cx="201168" cy="201168"/>
          </a:xfrm>
          <a:prstGeom prst="ellipse">
            <a:avLst/>
          </a:prstGeom>
          <a:solidFill>
            <a:srgbClr val="0B0B0E"/>
          </a:solidFill>
          <a:ln w="19050">
            <a:solidFill>
              <a:srgbClr val="A1A1AA"/>
            </a:solidFill>
            <a:prstDash val="solid"/>
          </a:ln>
        </p:spPr>
      </p:sp>
      <p:sp>
        <p:nvSpPr>
          <p:cNvPr id="11" name="Text 9"/>
          <p:cNvSpPr/>
          <p:nvPr/>
        </p:nvSpPr>
        <p:spPr>
          <a:xfrm>
            <a:off x="2606040" y="2514600"/>
            <a:ext cx="1828800" cy="365760"/>
          </a:xfrm>
          <a:prstGeom prst="rect">
            <a:avLst/>
          </a:prstGeom>
          <a:noFill/>
          <a:ln/>
        </p:spPr>
        <p:txBody>
          <a:bodyPr wrap="square" lIns="0" tIns="0" rIns="0" bIns="0" rtlCol="0" anchor="ctr"/>
          <a:lstStyle/>
          <a:p>
            <a:pPr indent="0" marL="0">
              <a:buNone/>
            </a:pPr>
            <a:r>
              <a:rPr lang="en-US" sz="1700" b="1" dirty="0">
                <a:solidFill>
                  <a:srgbClr val="F4F4F5"/>
                </a:solidFill>
                <a:latin typeface="Arial" pitchFamily="34" charset="0"/>
                <a:ea typeface="Arial" pitchFamily="34" charset="-122"/>
                <a:cs typeface="Arial" pitchFamily="34" charset="-120"/>
              </a:rPr>
              <a:t>Oct 2026</a:t>
            </a:r>
            <a:endParaRPr lang="en-US" sz="1700" dirty="0"/>
          </a:p>
        </p:txBody>
      </p:sp>
      <p:sp>
        <p:nvSpPr>
          <p:cNvPr id="12" name="Text 10"/>
          <p:cNvSpPr/>
          <p:nvPr/>
        </p:nvSpPr>
        <p:spPr>
          <a:xfrm>
            <a:off x="2606040" y="2907792"/>
            <a:ext cx="1783080" cy="822960"/>
          </a:xfrm>
          <a:prstGeom prst="rect">
            <a:avLst/>
          </a:prstGeom>
          <a:noFill/>
          <a:ln/>
        </p:spPr>
        <p:txBody>
          <a:bodyPr wrap="square" lIns="0" tIns="0" rIns="0" bIns="0" rtlCol="0" anchor="t"/>
          <a:lstStyle/>
          <a:p>
            <a:pPr indent="0" marL="0">
              <a:buNone/>
            </a:pPr>
            <a:r>
              <a:rPr lang="en-US" sz="1100" dirty="0">
                <a:solidFill>
                  <a:srgbClr val="A1A1AA"/>
                </a:solidFill>
                <a:latin typeface="Arial" pitchFamily="34" charset="0"/>
                <a:ea typeface="Arial" pitchFamily="34" charset="-122"/>
                <a:cs typeface="Arial" pitchFamily="34" charset="-120"/>
              </a:rPr>
              <a:t>Mainnet deploy and the first live campaign</a:t>
            </a:r>
            <a:endParaRPr lang="en-US" sz="1100" dirty="0"/>
          </a:p>
        </p:txBody>
      </p:sp>
      <p:sp>
        <p:nvSpPr>
          <p:cNvPr id="13" name="Shape 11"/>
          <p:cNvSpPr/>
          <p:nvPr/>
        </p:nvSpPr>
        <p:spPr>
          <a:xfrm>
            <a:off x="4663440" y="2139696"/>
            <a:ext cx="201168" cy="201168"/>
          </a:xfrm>
          <a:prstGeom prst="ellipse">
            <a:avLst/>
          </a:prstGeom>
          <a:solidFill>
            <a:srgbClr val="0B0B0E"/>
          </a:solidFill>
          <a:ln w="19050">
            <a:solidFill>
              <a:srgbClr val="A1A1AA"/>
            </a:solidFill>
            <a:prstDash val="solid"/>
          </a:ln>
        </p:spPr>
      </p:sp>
      <p:sp>
        <p:nvSpPr>
          <p:cNvPr id="14" name="Text 12"/>
          <p:cNvSpPr/>
          <p:nvPr/>
        </p:nvSpPr>
        <p:spPr>
          <a:xfrm>
            <a:off x="4663440" y="2514600"/>
            <a:ext cx="1828800" cy="365760"/>
          </a:xfrm>
          <a:prstGeom prst="rect">
            <a:avLst/>
          </a:prstGeom>
          <a:noFill/>
          <a:ln/>
        </p:spPr>
        <p:txBody>
          <a:bodyPr wrap="square" lIns="0" tIns="0" rIns="0" bIns="0" rtlCol="0" anchor="ctr"/>
          <a:lstStyle/>
          <a:p>
            <a:pPr indent="0" marL="0">
              <a:buNone/>
            </a:pPr>
            <a:r>
              <a:rPr lang="en-US" sz="1700" b="1" dirty="0">
                <a:solidFill>
                  <a:srgbClr val="F4F4F5"/>
                </a:solidFill>
                <a:latin typeface="Arial" pitchFamily="34" charset="0"/>
                <a:ea typeface="Arial" pitchFamily="34" charset="-122"/>
                <a:cs typeface="Arial" pitchFamily="34" charset="-120"/>
              </a:rPr>
              <a:t>Q4 2026</a:t>
            </a:r>
            <a:endParaRPr lang="en-US" sz="1700" dirty="0"/>
          </a:p>
        </p:txBody>
      </p:sp>
      <p:sp>
        <p:nvSpPr>
          <p:cNvPr id="15" name="Text 13"/>
          <p:cNvSpPr/>
          <p:nvPr/>
        </p:nvSpPr>
        <p:spPr>
          <a:xfrm>
            <a:off x="4663440" y="2907792"/>
            <a:ext cx="1783080" cy="822960"/>
          </a:xfrm>
          <a:prstGeom prst="rect">
            <a:avLst/>
          </a:prstGeom>
          <a:noFill/>
          <a:ln/>
        </p:spPr>
        <p:txBody>
          <a:bodyPr wrap="square" lIns="0" tIns="0" rIns="0" bIns="0" rtlCol="0" anchor="t"/>
          <a:lstStyle/>
          <a:p>
            <a:pPr indent="0" marL="0">
              <a:buNone/>
            </a:pPr>
            <a:r>
              <a:rPr lang="en-US" sz="1100" dirty="0">
                <a:solidFill>
                  <a:srgbClr val="A1A1AA"/>
                </a:solidFill>
                <a:latin typeface="Arial" pitchFamily="34" charset="0"/>
                <a:ea typeface="Arial" pitchFamily="34" charset="-122"/>
                <a:cs typeface="Arial" pitchFamily="34" charset="-120"/>
              </a:rPr>
              <a:t>Ten pilots with Solana apps that already pay creators</a:t>
            </a:r>
            <a:endParaRPr lang="en-US" sz="1100" dirty="0"/>
          </a:p>
        </p:txBody>
      </p:sp>
      <p:sp>
        <p:nvSpPr>
          <p:cNvPr id="16" name="Shape 14"/>
          <p:cNvSpPr/>
          <p:nvPr/>
        </p:nvSpPr>
        <p:spPr>
          <a:xfrm>
            <a:off x="6720840" y="2139696"/>
            <a:ext cx="201168" cy="201168"/>
          </a:xfrm>
          <a:prstGeom prst="ellipse">
            <a:avLst/>
          </a:prstGeom>
          <a:solidFill>
            <a:srgbClr val="0B0B0E"/>
          </a:solidFill>
          <a:ln w="19050">
            <a:solidFill>
              <a:srgbClr val="A1A1AA"/>
            </a:solidFill>
            <a:prstDash val="solid"/>
          </a:ln>
        </p:spPr>
      </p:sp>
      <p:sp>
        <p:nvSpPr>
          <p:cNvPr id="17" name="Text 15"/>
          <p:cNvSpPr/>
          <p:nvPr/>
        </p:nvSpPr>
        <p:spPr>
          <a:xfrm>
            <a:off x="6720840" y="2514600"/>
            <a:ext cx="1828800" cy="365760"/>
          </a:xfrm>
          <a:prstGeom prst="rect">
            <a:avLst/>
          </a:prstGeom>
          <a:noFill/>
          <a:ln/>
        </p:spPr>
        <p:txBody>
          <a:bodyPr wrap="square" lIns="0" tIns="0" rIns="0" bIns="0" rtlCol="0" anchor="ctr"/>
          <a:lstStyle/>
          <a:p>
            <a:pPr indent="0" marL="0">
              <a:buNone/>
            </a:pPr>
            <a:r>
              <a:rPr lang="en-US" sz="1700" b="1" dirty="0">
                <a:solidFill>
                  <a:srgbClr val="F4F4F5"/>
                </a:solidFill>
                <a:latin typeface="Arial" pitchFamily="34" charset="0"/>
                <a:ea typeface="Arial" pitchFamily="34" charset="-122"/>
                <a:cs typeface="Arial" pitchFamily="34" charset="-120"/>
              </a:rPr>
              <a:t>2027</a:t>
            </a:r>
            <a:endParaRPr lang="en-US" sz="1700" dirty="0"/>
          </a:p>
        </p:txBody>
      </p:sp>
      <p:sp>
        <p:nvSpPr>
          <p:cNvPr id="18" name="Text 16"/>
          <p:cNvSpPr/>
          <p:nvPr/>
        </p:nvSpPr>
        <p:spPr>
          <a:xfrm>
            <a:off x="6720840" y="2907792"/>
            <a:ext cx="1783080" cy="822960"/>
          </a:xfrm>
          <a:prstGeom prst="rect">
            <a:avLst/>
          </a:prstGeom>
          <a:noFill/>
          <a:ln/>
        </p:spPr>
        <p:txBody>
          <a:bodyPr wrap="square" lIns="0" tIns="0" rIns="0" bIns="0" rtlCol="0" anchor="t"/>
          <a:lstStyle/>
          <a:p>
            <a:pPr indent="0" marL="0">
              <a:buNone/>
            </a:pPr>
            <a:r>
              <a:rPr lang="en-US" sz="1100" dirty="0">
                <a:solidFill>
                  <a:srgbClr val="A1A1AA"/>
                </a:solidFill>
                <a:latin typeface="Arial" pitchFamily="34" charset="0"/>
                <a:ea typeface="Arial" pitchFamily="34" charset="-122"/>
                <a:cs typeface="Arial" pitchFamily="34" charset="-120"/>
              </a:rPr>
              <a:t>Audit, then a Shopify integration through order webhooks</a:t>
            </a:r>
            <a:endParaRPr lang="en-US" sz="1100" dirty="0"/>
          </a:p>
        </p:txBody>
      </p:sp>
      <p:sp>
        <p:nvSpPr>
          <p:cNvPr id="19" name="Text 17"/>
          <p:cNvSpPr/>
          <p:nvPr/>
        </p:nvSpPr>
        <p:spPr>
          <a:xfrm>
            <a:off x="548640" y="4069080"/>
            <a:ext cx="4572000" cy="365760"/>
          </a:xfrm>
          <a:prstGeom prst="rect">
            <a:avLst/>
          </a:prstGeom>
          <a:noFill/>
          <a:ln/>
        </p:spPr>
        <p:txBody>
          <a:bodyPr wrap="square" lIns="0" tIns="0" rIns="0" bIns="0" rtlCol="0" anchor="ctr"/>
          <a:lstStyle/>
          <a:p>
            <a:pPr indent="0" marL="0">
              <a:buNone/>
            </a:pPr>
            <a:r>
              <a:rPr lang="en-US" sz="1600" b="1" dirty="0">
                <a:solidFill>
                  <a:srgbClr val="3DDC97"/>
                </a:solidFill>
                <a:latin typeface="Consolas" pitchFamily="34" charset="0"/>
                <a:ea typeface="Consolas" pitchFamily="34" charset="-122"/>
                <a:cs typeface="Consolas" pitchFamily="34" charset="-120"/>
              </a:rPr>
              <a:t>getcommish.vercel.app</a:t>
            </a:r>
            <a:endParaRPr lang="en-US" sz="1600" dirty="0"/>
          </a:p>
        </p:txBody>
      </p:sp>
      <p:sp>
        <p:nvSpPr>
          <p:cNvPr id="20" name="Text 18"/>
          <p:cNvSpPr/>
          <p:nvPr/>
        </p:nvSpPr>
        <p:spPr>
          <a:xfrm>
            <a:off x="548640" y="4681728"/>
            <a:ext cx="7589520" cy="274320"/>
          </a:xfrm>
          <a:prstGeom prst="rect">
            <a:avLst/>
          </a:prstGeom>
          <a:noFill/>
          <a:ln/>
        </p:spPr>
        <p:txBody>
          <a:bodyPr wrap="square" lIns="0" tIns="0" rIns="0" bIns="0" rtlCol="0" anchor="ctr"/>
          <a:lstStyle/>
          <a:p>
            <a:pPr indent="0" marL="0">
              <a:buNone/>
            </a:pPr>
            <a:r>
              <a:rPr lang="en-US" sz="900" dirty="0">
                <a:solidFill>
                  <a:srgbClr val="71717A"/>
                </a:solidFill>
                <a:latin typeface="Arial" pitchFamily="34" charset="0"/>
                <a:ea typeface="Arial" pitchFamily="34" charset="-122"/>
                <a:cs typeface="Arial" pitchFamily="34" charset="-120"/>
              </a:rPr>
              <a:t>Source: team plan, not outside data</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Commish: pitch</dc:title>
  <dc:subject>PptxGenJS Presentation</dc:subject>
  <dc:creator>Bryan Kwandou</dc:creator>
  <cp:lastModifiedBy>Bryan Kwandou</cp:lastModifiedBy>
  <cp:revision>1</cp:revision>
  <dcterms:created xsi:type="dcterms:W3CDTF">2026-09-27T08:23:54Z</dcterms:created>
  <dcterms:modified xsi:type="dcterms:W3CDTF">2026-09-27T08:23:54Z</dcterms:modified>
</cp:coreProperties>
</file>