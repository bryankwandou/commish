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Bryan, and this is Commish. When a creator sends a buyer to a shop, the commission they earn is a promise in the brand's spreadsheet. Commish turns it into money locked on Solana the moment the sale is recorded, and paid out in USDC when the refund window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biggest affiliate program there is. Amazon pays commission about sixty days after the end of the month it was earned [S1]. A sale on January 2nd becomes money around the end of March. And until the brand pays, the creator has nothing but the brand's word that it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Brands don't wait to be difficult. About nineteen percent of online sales in the US come back [S2], and nobody wants to pay commission on a refund. So the hold is fair. What's missing is a guarantee: during that hold, the money is still the brand's to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changes. A brand funds a campaign vault in USDC. When a referred order is paid, the brand's server records it, and the program sets aside the creator's cut in its own account. From then on the brand can withdraw everything except what it owes. A refund inside the window cancels the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The attestor records the sale, and the program computes the cut, not the caller. The commission sits through the refund window. Then anyone can release it, the creator or a bot, and the money can only land in the payee's own USDC account. If this website went offline tomorrow, creators could still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pending commission is money owed on a known date, so it can be sold. Here the creator sells a twenty-five dollar commission for 24.25 and is paid right away. The buyer becomes the payee, collects the full amount at release, and takes over the refund risk. It all settles in one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it is one Solana program written with Pinocchio: 9,296 bytes, small enough that deploying it to mainnet costs under 0.05 SOL. Each rule here is checked on-chain, and the test suite has an attack for each one that has to fail. A transaction's base fee is 5,000 lamports per signature [S6], cheap enough to run for every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before building. Colosseum's project search turns up eight earlier Solana affiliate or referral projects, and none placed [S7]. Three of them promised instant payouts, which no brand accepts while one online order in five comes back. Commish keeps the refund window brands already use, and guarantees the money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affiliate spend alone is forecast at about fourteen billion dollars this year [S3], and Goldman Sachs counts fifty million creators worldwide [S4]. Our own plan is a one percent fee on each payout. If one percent of US affiliate spend settled through Commish, that's about 1.4 million dollars a year. Dollar stablecoins have had a US law behind them since July 2025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Bryan Kwandou. I've sold my own art on Objkt since 2022 and on Drip since 2024, and I earn through Shutterstock and Upwork, so every payout I get runs on someone else's schedule. I study informatics in Makassar and lead the Superteam campus club there. I built Commish's program, app and tests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plan. The program and the app are done. Next is the mainnet deploy and a first live campaign, then ten pilots with Solana apps that already pay creators and hold USDC. After that, an audit and a Shopify integration through order webhooks. If you run an affiliate program, try it at getcommish.vercel.app.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E"/>
        </a:solidFill>
      </p:bgPr>
    </p:bg>
    <p:spTree>
      <p:nvGrpSpPr>
        <p:cNvPr id="1" name=""/>
        <p:cNvGrpSpPr/>
        <p:nvPr/>
      </p:nvGrpSpPr>
      <p:grpSpPr>
        <a:xfrm>
          <a:off x="0" y="0"/>
          <a:ext cx="0" cy="0"/>
          <a:chOff x="0" y="0"/>
          <a:chExt cx="0" cy="0"/>
        </a:xfrm>
      </p:grpSpPr>
      <p:pic>
        <p:nvPicPr>
          <p:cNvPr id="2" name="Image 0" descr="/home/user/commish/pitch/pptx/slides/imgs/mark.png">    </p:cNvPr>
          <p:cNvPicPr>
            <a:picLocks noChangeAspect="1"/>
          </p:cNvPicPr>
          <p:nvPr/>
        </p:nvPicPr>
        <p:blipFill>
          <a:blip r:embed="rId1"/>
          <a:stretch>
            <a:fillRect/>
          </a:stretch>
        </p:blipFill>
        <p:spPr>
          <a:xfrm>
            <a:off x="3730752" y="960120"/>
            <a:ext cx="457200" cy="457200"/>
          </a:xfrm>
          <a:prstGeom prst="rect">
            <a:avLst/>
          </a:prstGeom>
        </p:spPr>
      </p:pic>
      <p:sp>
        <p:nvSpPr>
          <p:cNvPr id="3" name="Text 0"/>
          <p:cNvSpPr/>
          <p:nvPr/>
        </p:nvSpPr>
        <p:spPr>
          <a:xfrm>
            <a:off x="4279392" y="960120"/>
            <a:ext cx="1463040" cy="457200"/>
          </a:xfrm>
          <a:prstGeom prst="rect">
            <a:avLst/>
          </a:prstGeom>
          <a:noFill/>
          <a:ln/>
        </p:spPr>
        <p:txBody>
          <a:bodyPr wrap="square" lIns="0" tIns="0" rIns="0" bIns="0" rtlCol="0" anchor="ctr"/>
          <a:lstStyle/>
          <a:p>
            <a:pPr indent="0" marL="0">
              <a:buNone/>
            </a:pPr>
            <a:r>
              <a:rPr lang="en-US" sz="2200" b="1" dirty="0">
                <a:solidFill>
                  <a:srgbClr val="F4F4F5"/>
                </a:solidFill>
                <a:latin typeface="Arial" pitchFamily="34" charset="0"/>
                <a:ea typeface="Arial" pitchFamily="34" charset="-122"/>
                <a:cs typeface="Arial" pitchFamily="34" charset="-120"/>
              </a:rPr>
              <a:t>commish</a:t>
            </a:r>
            <a:endParaRPr lang="en-US" sz="2200" dirty="0"/>
          </a:p>
        </p:txBody>
      </p:sp>
      <p:sp>
        <p:nvSpPr>
          <p:cNvPr id="4" name="Text 1"/>
          <p:cNvSpPr/>
          <p:nvPr/>
        </p:nvSpPr>
        <p:spPr>
          <a:xfrm>
            <a:off x="914400" y="1572768"/>
            <a:ext cx="7315200" cy="1463040"/>
          </a:xfrm>
          <a:prstGeom prst="rect">
            <a:avLst/>
          </a:prstGeom>
          <a:noFill/>
          <a:ln/>
        </p:spPr>
        <p:txBody>
          <a:bodyPr wrap="square" lIns="0" tIns="0" rIns="0" bIns="0" rtlCol="0" anchor="ctr">
            <a:normAutofit/>
          </a:bodyPr>
          <a:lstStyle/>
          <a:p>
            <a:pPr algn="ctr" indent="0" marL="0">
              <a:buNone/>
            </a:pPr>
            <a:r>
              <a:rPr lang="en-US" sz="3600" b="1" dirty="0">
                <a:solidFill>
                  <a:srgbClr val="F4F4F5"/>
                </a:solidFill>
                <a:latin typeface="Arial" pitchFamily="34" charset="0"/>
                <a:ea typeface="Arial" pitchFamily="34" charset="-122"/>
                <a:cs typeface="Arial" pitchFamily="34" charset="-120"/>
              </a:rPr>
              <a:t>Affiliate commissions</a:t>
            </a:r>
            <a:endParaRPr lang="en-US" sz="3600" dirty="0"/>
          </a:p>
          <a:p>
            <a:pPr algn="ctr" indent="0" marL="0">
              <a:buNone/>
            </a:pPr>
            <a:r>
              <a:rPr lang="en-US" sz="3600" b="1" dirty="0">
                <a:solidFill>
                  <a:srgbClr val="F4F4F5"/>
                </a:solidFill>
                <a:latin typeface="Arial" pitchFamily="34" charset="0"/>
                <a:ea typeface="Arial" pitchFamily="34" charset="-122"/>
                <a:cs typeface="Arial" pitchFamily="34" charset="-120"/>
              </a:rPr>
              <a:t>that pay themselves,</a:t>
            </a:r>
            <a:endParaRPr lang="en-US" sz="3600" dirty="0"/>
          </a:p>
          <a:p>
            <a:pPr algn="ctr" indent="0" marL="0">
              <a:buNone/>
            </a:pPr>
            <a:r>
              <a:rPr lang="en-US" sz="3600" b="1" dirty="0">
                <a:solidFill>
                  <a:srgbClr val="F4F4F5"/>
                </a:solidFill>
                <a:latin typeface="Arial" pitchFamily="34" charset="0"/>
                <a:ea typeface="Arial" pitchFamily="34" charset="-122"/>
                <a:cs typeface="Arial" pitchFamily="34" charset="-120"/>
              </a:rPr>
              <a:t>settled in USDC on Solana.</a:t>
            </a:r>
            <a:endParaRPr lang="en-US" sz="3600" dirty="0"/>
          </a:p>
        </p:txBody>
      </p:sp>
      <p:sp>
        <p:nvSpPr>
          <p:cNvPr id="5" name="Text 2"/>
          <p:cNvSpPr/>
          <p:nvPr/>
        </p:nvSpPr>
        <p:spPr>
          <a:xfrm>
            <a:off x="914400" y="3127248"/>
            <a:ext cx="7315200" cy="320040"/>
          </a:xfrm>
          <a:prstGeom prst="rect">
            <a:avLst/>
          </a:prstGeom>
          <a:noFill/>
          <a:ln/>
        </p:spPr>
        <p:txBody>
          <a:bodyPr wrap="square" lIns="0" tIns="0" rIns="0" bIns="0" rtlCol="0" anchor="ctr"/>
          <a:lstStyle/>
          <a:p>
            <a:pPr algn="ctr" indent="0" marL="0">
              <a:buNone/>
            </a:pPr>
            <a:r>
              <a:rPr lang="en-US" sz="1300" dirty="0">
                <a:solidFill>
                  <a:srgbClr val="A1A1AA"/>
                </a:solidFill>
                <a:latin typeface="Arial" pitchFamily="34" charset="0"/>
                <a:ea typeface="Arial" pitchFamily="34" charset="-122"/>
                <a:cs typeface="Arial" pitchFamily="34" charset="-120"/>
              </a:rPr>
              <a:t>Bryan Kwandou, founder · Colosseum Crypto World's Fair</a:t>
            </a:r>
            <a:endParaRPr lang="en-US" sz="1300" dirty="0"/>
          </a:p>
        </p:txBody>
      </p:sp>
      <p:sp>
        <p:nvSpPr>
          <p:cNvPr id="6" name="Shape 3"/>
          <p:cNvSpPr/>
          <p:nvPr/>
        </p:nvSpPr>
        <p:spPr>
          <a:xfrm>
            <a:off x="2857500" y="3611880"/>
            <a:ext cx="1051560" cy="329184"/>
          </a:xfrm>
          <a:prstGeom prst="roundRect">
            <a:avLst>
              <a:gd name="adj" fmla="val 50000"/>
            </a:avLst>
          </a:prstGeom>
          <a:solidFill>
            <a:srgbClr val="0B0B0E"/>
          </a:solidFill>
          <a:ln w="12700">
            <a:solidFill>
              <a:srgbClr val="A1A1AA"/>
            </a:solidFill>
            <a:prstDash val="solid"/>
          </a:ln>
        </p:spPr>
      </p:sp>
      <p:sp>
        <p:nvSpPr>
          <p:cNvPr id="7" name="Text 4"/>
          <p:cNvSpPr/>
          <p:nvPr/>
        </p:nvSpPr>
        <p:spPr>
          <a:xfrm>
            <a:off x="2857500" y="3611880"/>
            <a:ext cx="1051560" cy="329184"/>
          </a:xfrm>
          <a:prstGeom prst="rect">
            <a:avLst/>
          </a:prstGeom>
          <a:noFill/>
          <a:ln/>
        </p:spPr>
        <p:txBody>
          <a:bodyPr wrap="square" lIns="0" tIns="0" rIns="0" bIns="0" rtlCol="0" anchor="ctr"/>
          <a:lstStyle/>
          <a:p>
            <a:pPr algn="ctr" indent="0" marL="0">
              <a:buNone/>
            </a:pPr>
            <a:r>
              <a:rPr lang="en-US" sz="1100" b="1" dirty="0">
                <a:solidFill>
                  <a:srgbClr val="A1A1AA"/>
                </a:solidFill>
                <a:latin typeface="Arial" pitchFamily="34" charset="0"/>
                <a:ea typeface="Arial" pitchFamily="34" charset="-122"/>
                <a:cs typeface="Arial" pitchFamily="34" charset="-120"/>
              </a:rPr>
              <a:t>Recorded</a:t>
            </a:r>
            <a:endParaRPr lang="en-US" sz="1100" dirty="0"/>
          </a:p>
        </p:txBody>
      </p:sp>
      <p:sp>
        <p:nvSpPr>
          <p:cNvPr id="8" name="Shape 5"/>
          <p:cNvSpPr/>
          <p:nvPr/>
        </p:nvSpPr>
        <p:spPr>
          <a:xfrm>
            <a:off x="4046220" y="3611880"/>
            <a:ext cx="1051560" cy="329184"/>
          </a:xfrm>
          <a:prstGeom prst="roundRect">
            <a:avLst>
              <a:gd name="adj" fmla="val 50000"/>
            </a:avLst>
          </a:prstGeom>
          <a:solidFill>
            <a:srgbClr val="0B0B0E"/>
          </a:solidFill>
          <a:ln w="12700">
            <a:solidFill>
              <a:srgbClr val="F5B544"/>
            </a:solidFill>
            <a:prstDash val="solid"/>
          </a:ln>
        </p:spPr>
      </p:sp>
      <p:sp>
        <p:nvSpPr>
          <p:cNvPr id="9" name="Text 6"/>
          <p:cNvSpPr/>
          <p:nvPr/>
        </p:nvSpPr>
        <p:spPr>
          <a:xfrm>
            <a:off x="4046220" y="3611880"/>
            <a:ext cx="1051560" cy="329184"/>
          </a:xfrm>
          <a:prstGeom prst="rect">
            <a:avLst/>
          </a:prstGeom>
          <a:noFill/>
          <a:ln/>
        </p:spPr>
        <p:txBody>
          <a:bodyPr wrap="square" lIns="0" tIns="0" rIns="0" bIns="0" rtlCol="0" anchor="ctr"/>
          <a:lstStyle/>
          <a:p>
            <a:pPr algn="ctr" indent="0" marL="0">
              <a:buNone/>
            </a:pPr>
            <a:r>
              <a:rPr lang="en-US" sz="1100" b="1" dirty="0">
                <a:solidFill>
                  <a:srgbClr val="F5B544"/>
                </a:solidFill>
                <a:latin typeface="Arial" pitchFamily="34" charset="0"/>
                <a:ea typeface="Arial" pitchFamily="34" charset="-122"/>
                <a:cs typeface="Arial" pitchFamily="34" charset="-120"/>
              </a:rPr>
              <a:t>Held</a:t>
            </a:r>
            <a:endParaRPr lang="en-US" sz="1100" dirty="0"/>
          </a:p>
        </p:txBody>
      </p:sp>
      <p:sp>
        <p:nvSpPr>
          <p:cNvPr id="10" name="Shape 7"/>
          <p:cNvSpPr/>
          <p:nvPr/>
        </p:nvSpPr>
        <p:spPr>
          <a:xfrm>
            <a:off x="5234940" y="3611880"/>
            <a:ext cx="1051560" cy="329184"/>
          </a:xfrm>
          <a:prstGeom prst="roundRect">
            <a:avLst>
              <a:gd name="adj" fmla="val 50000"/>
            </a:avLst>
          </a:prstGeom>
          <a:solidFill>
            <a:srgbClr val="0B0B0E"/>
          </a:solidFill>
          <a:ln w="12700">
            <a:solidFill>
              <a:srgbClr val="3DDC97"/>
            </a:solidFill>
            <a:prstDash val="solid"/>
          </a:ln>
        </p:spPr>
      </p:sp>
      <p:sp>
        <p:nvSpPr>
          <p:cNvPr id="11" name="Text 8"/>
          <p:cNvSpPr/>
          <p:nvPr/>
        </p:nvSpPr>
        <p:spPr>
          <a:xfrm>
            <a:off x="5234940" y="3611880"/>
            <a:ext cx="1051560" cy="329184"/>
          </a:xfrm>
          <a:prstGeom prst="rect">
            <a:avLst/>
          </a:prstGeom>
          <a:noFill/>
          <a:ln/>
        </p:spPr>
        <p:txBody>
          <a:bodyPr wrap="square" lIns="0" tIns="0" rIns="0" bIns="0" rtlCol="0" anchor="ctr"/>
          <a:lstStyle/>
          <a:p>
            <a:pPr algn="ctr" indent="0" marL="0">
              <a:buNone/>
            </a:pPr>
            <a:r>
              <a:rPr lang="en-US" sz="1100" b="1" dirty="0">
                <a:solidFill>
                  <a:srgbClr val="3DDC97"/>
                </a:solidFill>
                <a:latin typeface="Arial" pitchFamily="34" charset="0"/>
                <a:ea typeface="Arial" pitchFamily="34" charset="-122"/>
                <a:cs typeface="Arial" pitchFamily="34" charset="-120"/>
              </a:rPr>
              <a:t>Paid</a:t>
            </a:r>
            <a:endParaRPr lang="en-US" sz="1100" dirty="0"/>
          </a:p>
        </p:txBody>
      </p:sp>
      <p:sp>
        <p:nvSpPr>
          <p:cNvPr id="12" name="Text 9"/>
          <p:cNvSpPr/>
          <p:nvPr/>
        </p:nvSpPr>
        <p:spPr>
          <a:xfrm>
            <a:off x="914400" y="4526280"/>
            <a:ext cx="7315200" cy="274320"/>
          </a:xfrm>
          <a:prstGeom prst="rect">
            <a:avLst/>
          </a:prstGeom>
          <a:noFill/>
          <a:ln/>
        </p:spPr>
        <p:txBody>
          <a:bodyPr wrap="square" lIns="0" tIns="0" rIns="0" bIns="0" rtlCol="0" anchor="ctr"/>
          <a:lstStyle/>
          <a:p>
            <a:pPr algn="ctr" indent="0" marL="0">
              <a:buNone/>
            </a:pPr>
            <a:r>
              <a:rPr lang="en-US" sz="1000" dirty="0">
                <a:solidFill>
                  <a:srgbClr val="71717A"/>
                </a:solidFill>
                <a:latin typeface="Consolas" pitchFamily="34" charset="0"/>
                <a:ea typeface="Consolas" pitchFamily="34" charset="-122"/>
                <a:cs typeface="Consolas" pitchFamily="34" charset="-120"/>
              </a:rPr>
              <a:t>getcommish.vercel.app  ·  github.com/bryankwandou/commish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PROBLEM</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Amazon pays its affiliates about 60 days after the month closes.</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02</a:t>
            </a:r>
            <a:endParaRPr lang="en-US" sz="1000" dirty="0"/>
          </a:p>
        </p:txBody>
      </p:sp>
      <p:sp>
        <p:nvSpPr>
          <p:cNvPr id="6" name="Text 4"/>
          <p:cNvSpPr/>
          <p:nvPr/>
        </p:nvSpPr>
        <p:spPr>
          <a:xfrm>
            <a:off x="548640" y="1828800"/>
            <a:ext cx="4754880" cy="1554480"/>
          </a:xfrm>
          <a:prstGeom prst="rect">
            <a:avLst/>
          </a:prstGeom>
          <a:noFill/>
          <a:ln/>
        </p:spPr>
        <p:txBody>
          <a:bodyPr wrap="square" lIns="0" tIns="0" rIns="0" bIns="0" rtlCol="0" anchor="ctr"/>
          <a:lstStyle/>
          <a:p>
            <a:pPr indent="0" marL="0">
              <a:buNone/>
            </a:pPr>
            <a:r>
              <a:rPr lang="en-US" sz="10000" b="1" dirty="0">
                <a:solidFill>
                  <a:srgbClr val="3DDC97"/>
                </a:solidFill>
                <a:latin typeface="Arial" pitchFamily="34" charset="0"/>
                <a:ea typeface="Arial" pitchFamily="34" charset="-122"/>
                <a:cs typeface="Arial" pitchFamily="34" charset="-120"/>
              </a:rPr>
              <a:t>60 days</a:t>
            </a:r>
            <a:endParaRPr lang="en-US" sz="10000" dirty="0"/>
          </a:p>
        </p:txBody>
      </p:sp>
      <p:sp>
        <p:nvSpPr>
          <p:cNvPr id="7" name="Shape 5"/>
          <p:cNvSpPr/>
          <p:nvPr/>
        </p:nvSpPr>
        <p:spPr>
          <a:xfrm>
            <a:off x="5989320" y="2011680"/>
            <a:ext cx="0" cy="2011680"/>
          </a:xfrm>
          <a:prstGeom prst="line">
            <a:avLst/>
          </a:prstGeom>
          <a:noFill/>
          <a:ln w="25400">
            <a:solidFill>
              <a:srgbClr val="27272A"/>
            </a:solidFill>
            <a:prstDash val="solid"/>
          </a:ln>
        </p:spPr>
      </p:sp>
      <p:sp>
        <p:nvSpPr>
          <p:cNvPr id="8" name="Shape 6"/>
          <p:cNvSpPr/>
          <p:nvPr/>
        </p:nvSpPr>
        <p:spPr>
          <a:xfrm>
            <a:off x="5888736" y="1947672"/>
            <a:ext cx="201168" cy="201168"/>
          </a:xfrm>
          <a:prstGeom prst="ellipse">
            <a:avLst/>
          </a:prstGeom>
          <a:solidFill>
            <a:srgbClr val="0B0B0E"/>
          </a:solidFill>
          <a:ln w="19050">
            <a:solidFill>
              <a:srgbClr val="A1A1AA"/>
            </a:solidFill>
            <a:prstDash val="solid"/>
          </a:ln>
        </p:spPr>
      </p:sp>
      <p:sp>
        <p:nvSpPr>
          <p:cNvPr id="9" name="Text 7"/>
          <p:cNvSpPr/>
          <p:nvPr/>
        </p:nvSpPr>
        <p:spPr>
          <a:xfrm>
            <a:off x="6309360" y="1874520"/>
            <a:ext cx="2286000" cy="329184"/>
          </a:xfrm>
          <a:prstGeom prst="rect">
            <a:avLst/>
          </a:prstGeom>
          <a:noFill/>
          <a:ln/>
        </p:spPr>
        <p:txBody>
          <a:bodyPr wrap="square" lIns="0" tIns="0" rIns="0" bIns="0" rtlCol="0" anchor="ctr"/>
          <a:lstStyle/>
          <a:p>
            <a:pPr indent="0" marL="0">
              <a:buNone/>
            </a:pPr>
            <a:r>
              <a:rPr lang="en-US" sz="1600" b="1" dirty="0">
                <a:solidFill>
                  <a:srgbClr val="F4F4F5"/>
                </a:solidFill>
                <a:latin typeface="Arial" pitchFamily="34" charset="0"/>
                <a:ea typeface="Arial" pitchFamily="34" charset="-122"/>
                <a:cs typeface="Arial" pitchFamily="34" charset="-120"/>
              </a:rPr>
              <a:t>Jan 2</a:t>
            </a:r>
            <a:endParaRPr lang="en-US" sz="1600" dirty="0"/>
          </a:p>
        </p:txBody>
      </p:sp>
      <p:sp>
        <p:nvSpPr>
          <p:cNvPr id="10" name="Text 8"/>
          <p:cNvSpPr/>
          <p:nvPr/>
        </p:nvSpPr>
        <p:spPr>
          <a:xfrm>
            <a:off x="6309360" y="2203704"/>
            <a:ext cx="2286000" cy="274320"/>
          </a:xfrm>
          <a:prstGeom prst="rect">
            <a:avLst/>
          </a:prstGeom>
          <a:noFill/>
          <a:ln/>
        </p:spPr>
        <p:txBody>
          <a:bodyPr wrap="square" lIns="0" tIns="0" rIns="0" bIns="0" rtlCol="0" anchor="ctr"/>
          <a:lstStyle/>
          <a:p>
            <a:pPr indent="0" marL="0">
              <a:buNone/>
            </a:pPr>
            <a:r>
              <a:rPr lang="en-US" sz="1200" dirty="0">
                <a:solidFill>
                  <a:srgbClr val="A1A1AA"/>
                </a:solidFill>
                <a:latin typeface="Arial" pitchFamily="34" charset="0"/>
                <a:ea typeface="Arial" pitchFamily="34" charset="-122"/>
                <a:cs typeface="Arial" pitchFamily="34" charset="-120"/>
              </a:rPr>
              <a:t>Sale made</a:t>
            </a:r>
            <a:endParaRPr lang="en-US" sz="1200" dirty="0"/>
          </a:p>
        </p:txBody>
      </p:sp>
      <p:sp>
        <p:nvSpPr>
          <p:cNvPr id="11" name="Shape 9"/>
          <p:cNvSpPr/>
          <p:nvPr/>
        </p:nvSpPr>
        <p:spPr>
          <a:xfrm>
            <a:off x="5888736" y="2935224"/>
            <a:ext cx="201168" cy="201168"/>
          </a:xfrm>
          <a:prstGeom prst="ellipse">
            <a:avLst/>
          </a:prstGeom>
          <a:solidFill>
            <a:srgbClr val="0B0B0E"/>
          </a:solidFill>
          <a:ln w="19050">
            <a:solidFill>
              <a:srgbClr val="A1A1AA"/>
            </a:solidFill>
            <a:prstDash val="solid"/>
          </a:ln>
        </p:spPr>
      </p:sp>
      <p:sp>
        <p:nvSpPr>
          <p:cNvPr id="12" name="Text 10"/>
          <p:cNvSpPr/>
          <p:nvPr/>
        </p:nvSpPr>
        <p:spPr>
          <a:xfrm>
            <a:off x="6309360" y="2862072"/>
            <a:ext cx="2286000" cy="329184"/>
          </a:xfrm>
          <a:prstGeom prst="rect">
            <a:avLst/>
          </a:prstGeom>
          <a:noFill/>
          <a:ln/>
        </p:spPr>
        <p:txBody>
          <a:bodyPr wrap="square" lIns="0" tIns="0" rIns="0" bIns="0" rtlCol="0" anchor="ctr"/>
          <a:lstStyle/>
          <a:p>
            <a:pPr indent="0" marL="0">
              <a:buNone/>
            </a:pPr>
            <a:r>
              <a:rPr lang="en-US" sz="1600" b="1" dirty="0">
                <a:solidFill>
                  <a:srgbClr val="F4F4F5"/>
                </a:solidFill>
                <a:latin typeface="Arial" pitchFamily="34" charset="0"/>
                <a:ea typeface="Arial" pitchFamily="34" charset="-122"/>
                <a:cs typeface="Arial" pitchFamily="34" charset="-120"/>
              </a:rPr>
              <a:t>Jan 31</a:t>
            </a:r>
            <a:endParaRPr lang="en-US" sz="1600" dirty="0"/>
          </a:p>
        </p:txBody>
      </p:sp>
      <p:sp>
        <p:nvSpPr>
          <p:cNvPr id="13" name="Text 11"/>
          <p:cNvSpPr/>
          <p:nvPr/>
        </p:nvSpPr>
        <p:spPr>
          <a:xfrm>
            <a:off x="6309360" y="3191256"/>
            <a:ext cx="2286000" cy="274320"/>
          </a:xfrm>
          <a:prstGeom prst="rect">
            <a:avLst/>
          </a:prstGeom>
          <a:noFill/>
          <a:ln/>
        </p:spPr>
        <p:txBody>
          <a:bodyPr wrap="square" lIns="0" tIns="0" rIns="0" bIns="0" rtlCol="0" anchor="ctr"/>
          <a:lstStyle/>
          <a:p>
            <a:pPr indent="0" marL="0">
              <a:buNone/>
            </a:pPr>
            <a:r>
              <a:rPr lang="en-US" sz="1200" dirty="0">
                <a:solidFill>
                  <a:srgbClr val="A1A1AA"/>
                </a:solidFill>
                <a:latin typeface="Arial" pitchFamily="34" charset="0"/>
                <a:ea typeface="Arial" pitchFamily="34" charset="-122"/>
                <a:cs typeface="Arial" pitchFamily="34" charset="-120"/>
              </a:rPr>
              <a:t>Month closes</a:t>
            </a:r>
            <a:endParaRPr lang="en-US" sz="1200" dirty="0"/>
          </a:p>
        </p:txBody>
      </p:sp>
      <p:sp>
        <p:nvSpPr>
          <p:cNvPr id="14" name="Shape 12"/>
          <p:cNvSpPr/>
          <p:nvPr/>
        </p:nvSpPr>
        <p:spPr>
          <a:xfrm>
            <a:off x="5888736" y="3922776"/>
            <a:ext cx="201168" cy="201168"/>
          </a:xfrm>
          <a:prstGeom prst="ellipse">
            <a:avLst/>
          </a:prstGeom>
          <a:solidFill>
            <a:srgbClr val="3DDC97"/>
          </a:solidFill>
          <a:ln w="19050">
            <a:solidFill>
              <a:srgbClr val="3DDC97"/>
            </a:solidFill>
            <a:prstDash val="solid"/>
          </a:ln>
        </p:spPr>
      </p:sp>
      <p:sp>
        <p:nvSpPr>
          <p:cNvPr id="15" name="Text 13"/>
          <p:cNvSpPr/>
          <p:nvPr/>
        </p:nvSpPr>
        <p:spPr>
          <a:xfrm>
            <a:off x="6309360" y="3849624"/>
            <a:ext cx="2286000" cy="329184"/>
          </a:xfrm>
          <a:prstGeom prst="rect">
            <a:avLst/>
          </a:prstGeom>
          <a:noFill/>
          <a:ln/>
        </p:spPr>
        <p:txBody>
          <a:bodyPr wrap="square" lIns="0" tIns="0" rIns="0" bIns="0" rtlCol="0" anchor="ctr"/>
          <a:lstStyle/>
          <a:p>
            <a:pPr indent="0" marL="0">
              <a:buNone/>
            </a:pPr>
            <a:r>
              <a:rPr lang="en-US" sz="1600" b="1" dirty="0">
                <a:solidFill>
                  <a:srgbClr val="3DDC97"/>
                </a:solidFill>
                <a:latin typeface="Arial" pitchFamily="34" charset="0"/>
                <a:ea typeface="Arial" pitchFamily="34" charset="-122"/>
                <a:cs typeface="Arial" pitchFamily="34" charset="-120"/>
              </a:rPr>
              <a:t>+60 days</a:t>
            </a:r>
            <a:endParaRPr lang="en-US" sz="1600" dirty="0"/>
          </a:p>
        </p:txBody>
      </p:sp>
      <p:sp>
        <p:nvSpPr>
          <p:cNvPr id="16" name="Text 14"/>
          <p:cNvSpPr/>
          <p:nvPr/>
        </p:nvSpPr>
        <p:spPr>
          <a:xfrm>
            <a:off x="6309360" y="4178808"/>
            <a:ext cx="2286000" cy="274320"/>
          </a:xfrm>
          <a:prstGeom prst="rect">
            <a:avLst/>
          </a:prstGeom>
          <a:noFill/>
          <a:ln/>
        </p:spPr>
        <p:txBody>
          <a:bodyPr wrap="square" lIns="0" tIns="0" rIns="0" bIns="0" rtlCol="0" anchor="ctr"/>
          <a:lstStyle/>
          <a:p>
            <a:pPr indent="0" marL="0">
              <a:buNone/>
            </a:pPr>
            <a:r>
              <a:rPr lang="en-US" sz="1200" dirty="0">
                <a:solidFill>
                  <a:srgbClr val="A1A1AA"/>
                </a:solidFill>
                <a:latin typeface="Arial" pitchFamily="34" charset="0"/>
                <a:ea typeface="Arial" pitchFamily="34" charset="-122"/>
                <a:cs typeface="Arial" pitchFamily="34" charset="-120"/>
              </a:rPr>
              <a:t>Commission paid</a:t>
            </a:r>
            <a:endParaRPr lang="en-US" sz="1200" dirty="0"/>
          </a:p>
        </p:txBody>
      </p:sp>
      <p:sp>
        <p:nvSpPr>
          <p:cNvPr id="17" name="Text 15"/>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Amazon Associates Central, payment help page [S1]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WHY BRANDS WAIT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Brands hold commissions because one in five online orders comes back.</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03</a:t>
            </a:r>
            <a:endParaRPr lang="en-US" sz="1000" dirty="0"/>
          </a:p>
        </p:txBody>
      </p:sp>
      <p:sp>
        <p:nvSpPr>
          <p:cNvPr id="6" name="Text 4"/>
          <p:cNvSpPr/>
          <p:nvPr/>
        </p:nvSpPr>
        <p:spPr>
          <a:xfrm>
            <a:off x="548640" y="1783080"/>
            <a:ext cx="4389120" cy="1463040"/>
          </a:xfrm>
          <a:prstGeom prst="rect">
            <a:avLst/>
          </a:prstGeom>
          <a:noFill/>
          <a:ln/>
        </p:spPr>
        <p:txBody>
          <a:bodyPr wrap="square" lIns="0" tIns="0" rIns="0" bIns="0" rtlCol="0" anchor="ctr"/>
          <a:lstStyle/>
          <a:p>
            <a:pPr indent="0" marL="0">
              <a:buNone/>
            </a:pPr>
            <a:r>
              <a:rPr lang="en-US" sz="10000" b="1" dirty="0">
                <a:solidFill>
                  <a:srgbClr val="3DDC97"/>
                </a:solidFill>
                <a:latin typeface="Arial" pitchFamily="34" charset="0"/>
                <a:ea typeface="Arial" pitchFamily="34" charset="-122"/>
                <a:cs typeface="Arial" pitchFamily="34" charset="-120"/>
              </a:rPr>
              <a:t>19.3%</a:t>
            </a:r>
            <a:endParaRPr lang="en-US" sz="10000" dirty="0"/>
          </a:p>
        </p:txBody>
      </p:sp>
      <p:sp>
        <p:nvSpPr>
          <p:cNvPr id="7" name="Text 5"/>
          <p:cNvSpPr/>
          <p:nvPr/>
        </p:nvSpPr>
        <p:spPr>
          <a:xfrm>
            <a:off x="548640" y="3291840"/>
            <a:ext cx="4480560" cy="548640"/>
          </a:xfrm>
          <a:prstGeom prst="rect">
            <a:avLst/>
          </a:prstGeom>
          <a:noFill/>
          <a:ln/>
        </p:spPr>
        <p:txBody>
          <a:bodyPr wrap="square" lIns="0" tIns="0" rIns="0" bIns="0" rtlCol="0" anchor="t"/>
          <a:lstStyle/>
          <a:p>
            <a:pPr indent="0" marL="0">
              <a:buNone/>
            </a:pPr>
            <a:r>
              <a:rPr lang="en-US" sz="1400" dirty="0">
                <a:solidFill>
                  <a:srgbClr val="A1A1AA"/>
                </a:solidFill>
                <a:latin typeface="Arial" pitchFamily="34" charset="0"/>
                <a:ea typeface="Arial" pitchFamily="34" charset="-122"/>
                <a:cs typeface="Arial" pitchFamily="34" charset="-120"/>
              </a:rPr>
              <a:t>of US online sales were expected to be returned in 2025</a:t>
            </a:r>
            <a:endParaRPr lang="en-US" sz="1400" dirty="0"/>
          </a:p>
        </p:txBody>
      </p:sp>
      <p:sp>
        <p:nvSpPr>
          <p:cNvPr id="8" name="Shape 6"/>
          <p:cNvSpPr/>
          <p:nvPr/>
        </p:nvSpPr>
        <p:spPr>
          <a:xfrm>
            <a:off x="5257800" y="2240280"/>
            <a:ext cx="512064" cy="512064"/>
          </a:xfrm>
          <a:prstGeom prst="roundRect">
            <a:avLst>
              <a:gd name="adj" fmla="val 14286"/>
            </a:avLst>
          </a:prstGeom>
          <a:solidFill>
            <a:srgbClr val="27272A"/>
          </a:solidFill>
          <a:ln/>
        </p:spPr>
      </p:sp>
      <p:sp>
        <p:nvSpPr>
          <p:cNvPr id="9" name="Text 7"/>
          <p:cNvSpPr/>
          <p:nvPr/>
        </p:nvSpPr>
        <p:spPr>
          <a:xfrm>
            <a:off x="5166360" y="2816352"/>
            <a:ext cx="694944" cy="237744"/>
          </a:xfrm>
          <a:prstGeom prst="rect">
            <a:avLst/>
          </a:prstGeom>
          <a:noFill/>
          <a:ln/>
        </p:spPr>
        <p:txBody>
          <a:bodyPr wrap="square" lIns="0" tIns="0" rIns="0" bIns="0" rtlCol="0" anchor="ctr"/>
          <a:lstStyle/>
          <a:p>
            <a:pPr algn="ctr" indent="0" marL="0">
              <a:buNone/>
            </a:pPr>
            <a:r>
              <a:rPr lang="en-US" sz="1000" dirty="0">
                <a:solidFill>
                  <a:srgbClr val="A1A1AA"/>
                </a:solidFill>
                <a:latin typeface="Consolas" pitchFamily="34" charset="0"/>
                <a:ea typeface="Consolas" pitchFamily="34" charset="-122"/>
                <a:cs typeface="Consolas" pitchFamily="34" charset="-120"/>
              </a:rPr>
              <a:t>kept</a:t>
            </a:r>
            <a:endParaRPr lang="en-US" sz="1000" dirty="0"/>
          </a:p>
        </p:txBody>
      </p:sp>
      <p:sp>
        <p:nvSpPr>
          <p:cNvPr id="10" name="Shape 8"/>
          <p:cNvSpPr/>
          <p:nvPr/>
        </p:nvSpPr>
        <p:spPr>
          <a:xfrm>
            <a:off x="5916168" y="2240280"/>
            <a:ext cx="512064" cy="512064"/>
          </a:xfrm>
          <a:prstGeom prst="roundRect">
            <a:avLst>
              <a:gd name="adj" fmla="val 14286"/>
            </a:avLst>
          </a:prstGeom>
          <a:solidFill>
            <a:srgbClr val="27272A"/>
          </a:solidFill>
          <a:ln/>
        </p:spPr>
      </p:sp>
      <p:sp>
        <p:nvSpPr>
          <p:cNvPr id="11" name="Text 9"/>
          <p:cNvSpPr/>
          <p:nvPr/>
        </p:nvSpPr>
        <p:spPr>
          <a:xfrm>
            <a:off x="5824728" y="2816352"/>
            <a:ext cx="694944" cy="237744"/>
          </a:xfrm>
          <a:prstGeom prst="rect">
            <a:avLst/>
          </a:prstGeom>
          <a:noFill/>
          <a:ln/>
        </p:spPr>
        <p:txBody>
          <a:bodyPr wrap="square" lIns="0" tIns="0" rIns="0" bIns="0" rtlCol="0" anchor="ctr"/>
          <a:lstStyle/>
          <a:p>
            <a:pPr algn="ctr" indent="0" marL="0">
              <a:buNone/>
            </a:pPr>
            <a:r>
              <a:rPr lang="en-US" sz="1000" dirty="0">
                <a:solidFill>
                  <a:srgbClr val="A1A1AA"/>
                </a:solidFill>
                <a:latin typeface="Consolas" pitchFamily="34" charset="0"/>
                <a:ea typeface="Consolas" pitchFamily="34" charset="-122"/>
                <a:cs typeface="Consolas" pitchFamily="34" charset="-120"/>
              </a:rPr>
              <a:t>kept</a:t>
            </a:r>
            <a:endParaRPr lang="en-US" sz="1000" dirty="0"/>
          </a:p>
        </p:txBody>
      </p:sp>
      <p:sp>
        <p:nvSpPr>
          <p:cNvPr id="12" name="Shape 10"/>
          <p:cNvSpPr/>
          <p:nvPr/>
        </p:nvSpPr>
        <p:spPr>
          <a:xfrm>
            <a:off x="6574536" y="2240280"/>
            <a:ext cx="512064" cy="512064"/>
          </a:xfrm>
          <a:prstGeom prst="roundRect">
            <a:avLst>
              <a:gd name="adj" fmla="val 14286"/>
            </a:avLst>
          </a:prstGeom>
          <a:solidFill>
            <a:srgbClr val="27272A"/>
          </a:solidFill>
          <a:ln/>
        </p:spPr>
      </p:sp>
      <p:sp>
        <p:nvSpPr>
          <p:cNvPr id="13" name="Text 11"/>
          <p:cNvSpPr/>
          <p:nvPr/>
        </p:nvSpPr>
        <p:spPr>
          <a:xfrm>
            <a:off x="6483096" y="2816352"/>
            <a:ext cx="694944" cy="237744"/>
          </a:xfrm>
          <a:prstGeom prst="rect">
            <a:avLst/>
          </a:prstGeom>
          <a:noFill/>
          <a:ln/>
        </p:spPr>
        <p:txBody>
          <a:bodyPr wrap="square" lIns="0" tIns="0" rIns="0" bIns="0" rtlCol="0" anchor="ctr"/>
          <a:lstStyle/>
          <a:p>
            <a:pPr algn="ctr" indent="0" marL="0">
              <a:buNone/>
            </a:pPr>
            <a:r>
              <a:rPr lang="en-US" sz="1000" dirty="0">
                <a:solidFill>
                  <a:srgbClr val="A1A1AA"/>
                </a:solidFill>
                <a:latin typeface="Consolas" pitchFamily="34" charset="0"/>
                <a:ea typeface="Consolas" pitchFamily="34" charset="-122"/>
                <a:cs typeface="Consolas" pitchFamily="34" charset="-120"/>
              </a:rPr>
              <a:t>kept</a:t>
            </a:r>
            <a:endParaRPr lang="en-US" sz="1000" dirty="0"/>
          </a:p>
        </p:txBody>
      </p:sp>
      <p:sp>
        <p:nvSpPr>
          <p:cNvPr id="14" name="Shape 12"/>
          <p:cNvSpPr/>
          <p:nvPr/>
        </p:nvSpPr>
        <p:spPr>
          <a:xfrm>
            <a:off x="7232904" y="2240280"/>
            <a:ext cx="512064" cy="512064"/>
          </a:xfrm>
          <a:prstGeom prst="roundRect">
            <a:avLst>
              <a:gd name="adj" fmla="val 14286"/>
            </a:avLst>
          </a:prstGeom>
          <a:solidFill>
            <a:srgbClr val="27272A"/>
          </a:solidFill>
          <a:ln/>
        </p:spPr>
      </p:sp>
      <p:sp>
        <p:nvSpPr>
          <p:cNvPr id="15" name="Text 13"/>
          <p:cNvSpPr/>
          <p:nvPr/>
        </p:nvSpPr>
        <p:spPr>
          <a:xfrm>
            <a:off x="7141464" y="2816352"/>
            <a:ext cx="694944" cy="237744"/>
          </a:xfrm>
          <a:prstGeom prst="rect">
            <a:avLst/>
          </a:prstGeom>
          <a:noFill/>
          <a:ln/>
        </p:spPr>
        <p:txBody>
          <a:bodyPr wrap="square" lIns="0" tIns="0" rIns="0" bIns="0" rtlCol="0" anchor="ctr"/>
          <a:lstStyle/>
          <a:p>
            <a:pPr algn="ctr" indent="0" marL="0">
              <a:buNone/>
            </a:pPr>
            <a:r>
              <a:rPr lang="en-US" sz="1000" dirty="0">
                <a:solidFill>
                  <a:srgbClr val="A1A1AA"/>
                </a:solidFill>
                <a:latin typeface="Consolas" pitchFamily="34" charset="0"/>
                <a:ea typeface="Consolas" pitchFamily="34" charset="-122"/>
                <a:cs typeface="Consolas" pitchFamily="34" charset="-120"/>
              </a:rPr>
              <a:t>kept</a:t>
            </a:r>
            <a:endParaRPr lang="en-US" sz="1000" dirty="0"/>
          </a:p>
        </p:txBody>
      </p:sp>
      <p:sp>
        <p:nvSpPr>
          <p:cNvPr id="16" name="Shape 14"/>
          <p:cNvSpPr/>
          <p:nvPr/>
        </p:nvSpPr>
        <p:spPr>
          <a:xfrm>
            <a:off x="7891272" y="2240280"/>
            <a:ext cx="512064" cy="512064"/>
          </a:xfrm>
          <a:prstGeom prst="roundRect">
            <a:avLst>
              <a:gd name="adj" fmla="val 14286"/>
            </a:avLst>
          </a:prstGeom>
          <a:solidFill>
            <a:srgbClr val="F5B544"/>
          </a:solidFill>
          <a:ln/>
        </p:spPr>
      </p:sp>
      <p:sp>
        <p:nvSpPr>
          <p:cNvPr id="17" name="Text 15"/>
          <p:cNvSpPr/>
          <p:nvPr/>
        </p:nvSpPr>
        <p:spPr>
          <a:xfrm>
            <a:off x="7799832" y="2816352"/>
            <a:ext cx="694944" cy="237744"/>
          </a:xfrm>
          <a:prstGeom prst="rect">
            <a:avLst/>
          </a:prstGeom>
          <a:noFill/>
          <a:ln/>
        </p:spPr>
        <p:txBody>
          <a:bodyPr wrap="square" lIns="0" tIns="0" rIns="0" bIns="0" rtlCol="0" anchor="ctr"/>
          <a:lstStyle/>
          <a:p>
            <a:pPr algn="ctr" indent="0" marL="0">
              <a:buNone/>
            </a:pPr>
            <a:r>
              <a:rPr lang="en-US" sz="1000" dirty="0">
                <a:solidFill>
                  <a:srgbClr val="F5B544"/>
                </a:solidFill>
                <a:latin typeface="Consolas" pitchFamily="34" charset="0"/>
                <a:ea typeface="Consolas" pitchFamily="34" charset="-122"/>
                <a:cs typeface="Consolas" pitchFamily="34" charset="-120"/>
              </a:rPr>
              <a:t>back</a:t>
            </a:r>
            <a:endParaRPr lang="en-US" sz="1000" dirty="0"/>
          </a:p>
        </p:txBody>
      </p:sp>
      <p:sp>
        <p:nvSpPr>
          <p:cNvPr id="18" name="Text 16"/>
          <p:cNvSpPr/>
          <p:nvPr/>
        </p:nvSpPr>
        <p:spPr>
          <a:xfrm>
            <a:off x="5257800" y="3291840"/>
            <a:ext cx="3200400" cy="548640"/>
          </a:xfrm>
          <a:prstGeom prst="rect">
            <a:avLst/>
          </a:prstGeom>
          <a:noFill/>
          <a:ln/>
        </p:spPr>
        <p:txBody>
          <a:bodyPr wrap="square" lIns="0" tIns="0" rIns="0" bIns="0" rtlCol="0" anchor="t"/>
          <a:lstStyle/>
          <a:p>
            <a:pPr indent="0" marL="0">
              <a:buNone/>
            </a:pPr>
            <a:r>
              <a:rPr lang="en-US" sz="1200" dirty="0">
                <a:solidFill>
                  <a:srgbClr val="A1A1AA"/>
                </a:solidFill>
                <a:latin typeface="Arial" pitchFamily="34" charset="0"/>
                <a:ea typeface="Arial" pitchFamily="34" charset="-122"/>
                <a:cs typeface="Arial" pitchFamily="34" charset="-120"/>
              </a:rPr>
              <a:t>Commission paid on a returned order is money the brand does not get back.</a:t>
            </a:r>
            <a:endParaRPr lang="en-US" sz="1200" dirty="0"/>
          </a:p>
        </p:txBody>
      </p:sp>
      <p:sp>
        <p:nvSpPr>
          <p:cNvPr id="19" name="Text 17"/>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National Retail Federation, 2025 returns report [S2]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PRODUCT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Each sale reserves the creator's cut where the brand can't spend it.</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04</a:t>
            </a:r>
            <a:endParaRPr lang="en-US" sz="1000" dirty="0"/>
          </a:p>
        </p:txBody>
      </p:sp>
      <p:pic>
        <p:nvPicPr>
          <p:cNvPr id="6" name="Image 0" descr="/home/user/commish/pitch/pptx/slides/imgs/commission-held.png">    </p:cNvPr>
          <p:cNvPicPr>
            <a:picLocks noChangeAspect="1"/>
          </p:cNvPicPr>
          <p:nvPr/>
        </p:nvPicPr>
        <p:blipFill>
          <a:blip r:embed="rId1"/>
          <a:stretch>
            <a:fillRect/>
          </a:stretch>
        </p:blipFill>
        <p:spPr>
          <a:xfrm>
            <a:off x="548640" y="1783080"/>
            <a:ext cx="3136392" cy="2743200"/>
          </a:xfrm>
          <a:prstGeom prst="rect">
            <a:avLst/>
          </a:prstGeom>
        </p:spPr>
      </p:pic>
      <p:sp>
        <p:nvSpPr>
          <p:cNvPr id="7" name="Text 4"/>
          <p:cNvSpPr/>
          <p:nvPr/>
        </p:nvSpPr>
        <p:spPr>
          <a:xfrm>
            <a:off x="4206240" y="2011680"/>
            <a:ext cx="4114800" cy="256032"/>
          </a:xfrm>
          <a:prstGeom prst="rect">
            <a:avLst/>
          </a:prstGeom>
          <a:noFill/>
          <a:ln/>
        </p:spPr>
        <p:txBody>
          <a:bodyPr wrap="square" lIns="0" tIns="0" rIns="0" bIns="0" rtlCol="0" anchor="ctr"/>
          <a:lstStyle/>
          <a:p>
            <a:pPr indent="0" marL="0">
              <a:buNone/>
            </a:pPr>
            <a:r>
              <a:rPr lang="en-US" sz="1000" b="1" spc="100" kern="0" dirty="0">
                <a:solidFill>
                  <a:srgbClr val="F5B544"/>
                </a:solidFill>
                <a:latin typeface="Consolas" pitchFamily="34" charset="0"/>
                <a:ea typeface="Consolas" pitchFamily="34" charset="-122"/>
                <a:cs typeface="Consolas" pitchFamily="34" charset="-120"/>
              </a:rPr>
              <a:t>RESERVED</a:t>
            </a:r>
            <a:endParaRPr lang="en-US" sz="1000" dirty="0"/>
          </a:p>
        </p:txBody>
      </p:sp>
      <p:sp>
        <p:nvSpPr>
          <p:cNvPr id="8" name="Text 5"/>
          <p:cNvSpPr/>
          <p:nvPr/>
        </p:nvSpPr>
        <p:spPr>
          <a:xfrm>
            <a:off x="4206240" y="2304288"/>
            <a:ext cx="4114800" cy="685800"/>
          </a:xfrm>
          <a:prstGeom prst="rect">
            <a:avLst/>
          </a:prstGeom>
          <a:noFill/>
          <a:ln/>
        </p:spPr>
        <p:txBody>
          <a:bodyPr wrap="square" lIns="0" tIns="0" rIns="0" bIns="0" rtlCol="0" anchor="t"/>
          <a:lstStyle/>
          <a:p>
            <a:pPr indent="0" marL="0">
              <a:buNone/>
            </a:pPr>
            <a:r>
              <a:rPr lang="en-US" sz="1500" dirty="0">
                <a:solidFill>
                  <a:srgbClr val="F4F4F5"/>
                </a:solidFill>
                <a:latin typeface="Arial" pitchFamily="34" charset="0"/>
                <a:ea typeface="Arial" pitchFamily="34" charset="-122"/>
                <a:cs typeface="Arial" pitchFamily="34" charset="-120"/>
              </a:rPr>
              <a:t>The cut sits in its own account. Withdrawals stop at the reserved amount.</a:t>
            </a:r>
            <a:endParaRPr lang="en-US" sz="1500" dirty="0"/>
          </a:p>
        </p:txBody>
      </p:sp>
      <p:sp>
        <p:nvSpPr>
          <p:cNvPr id="9" name="Text 6"/>
          <p:cNvSpPr/>
          <p:nvPr/>
        </p:nvSpPr>
        <p:spPr>
          <a:xfrm>
            <a:off x="4206240" y="3200400"/>
            <a:ext cx="4114800" cy="256032"/>
          </a:xfrm>
          <a:prstGeom prst="rect">
            <a:avLst/>
          </a:prstGeom>
          <a:noFill/>
          <a:ln/>
        </p:spPr>
        <p:txBody>
          <a:bodyPr wrap="square" lIns="0" tIns="0" rIns="0" bIns="0" rtlCol="0" anchor="ctr"/>
          <a:lstStyle/>
          <a:p>
            <a:pPr indent="0" marL="0">
              <a:buNone/>
            </a:pPr>
            <a:r>
              <a:rPr lang="en-US" sz="1000" b="1" spc="100" kern="0" dirty="0">
                <a:solidFill>
                  <a:srgbClr val="3DDC97"/>
                </a:solidFill>
                <a:latin typeface="Consolas" pitchFamily="34" charset="0"/>
                <a:ea typeface="Consolas" pitchFamily="34" charset="-122"/>
                <a:cs typeface="Consolas" pitchFamily="34" charset="-120"/>
              </a:rPr>
              <a:t>THEN</a:t>
            </a:r>
            <a:endParaRPr lang="en-US" sz="1000" dirty="0"/>
          </a:p>
        </p:txBody>
      </p:sp>
      <p:sp>
        <p:nvSpPr>
          <p:cNvPr id="10" name="Text 7"/>
          <p:cNvSpPr/>
          <p:nvPr/>
        </p:nvSpPr>
        <p:spPr>
          <a:xfrm>
            <a:off x="4206240" y="3493008"/>
            <a:ext cx="4114800" cy="685800"/>
          </a:xfrm>
          <a:prstGeom prst="rect">
            <a:avLst/>
          </a:prstGeom>
          <a:noFill/>
          <a:ln/>
        </p:spPr>
        <p:txBody>
          <a:bodyPr wrap="square" lIns="0" tIns="0" rIns="0" bIns="0" rtlCol="0" anchor="t"/>
          <a:lstStyle/>
          <a:p>
            <a:pPr indent="0" marL="0">
              <a:buNone/>
            </a:pPr>
            <a:r>
              <a:rPr lang="en-US" sz="1500" dirty="0">
                <a:solidFill>
                  <a:srgbClr val="F4F4F5"/>
                </a:solidFill>
                <a:latin typeface="Arial" pitchFamily="34" charset="0"/>
                <a:ea typeface="Arial" pitchFamily="34" charset="-122"/>
                <a:cs typeface="Arial" pitchFamily="34" charset="-120"/>
              </a:rPr>
              <a:t>A refund inside the window cancels it. After the window it can only be paid.</a:t>
            </a:r>
            <a:endParaRPr lang="en-US" sz="1500" dirty="0"/>
          </a:p>
        </p:txBody>
      </p:sp>
      <p:sp>
        <p:nvSpPr>
          <p:cNvPr id="11" name="Text 8"/>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The commission card on getcommish.vercel.app, held inside the refund window</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IN USE</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Record the sale, hold it through the window, then release.</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05</a:t>
            </a:r>
            <a:endParaRPr lang="en-US" sz="1000" dirty="0"/>
          </a:p>
        </p:txBody>
      </p:sp>
      <p:sp>
        <p:nvSpPr>
          <p:cNvPr id="6" name="Shape 4"/>
          <p:cNvSpPr/>
          <p:nvPr/>
        </p:nvSpPr>
        <p:spPr>
          <a:xfrm>
            <a:off x="548640" y="1965960"/>
            <a:ext cx="2377440" cy="2057400"/>
          </a:xfrm>
          <a:prstGeom prst="roundRect">
            <a:avLst>
              <a:gd name="adj" fmla="val 4444"/>
            </a:avLst>
          </a:prstGeom>
          <a:solidFill>
            <a:srgbClr val="141417"/>
          </a:solidFill>
          <a:ln w="12700">
            <a:solidFill>
              <a:srgbClr val="27272A"/>
            </a:solidFill>
            <a:prstDash val="solid"/>
          </a:ln>
        </p:spPr>
      </p:sp>
      <p:sp>
        <p:nvSpPr>
          <p:cNvPr id="7" name="Text 5"/>
          <p:cNvSpPr/>
          <p:nvPr/>
        </p:nvSpPr>
        <p:spPr>
          <a:xfrm>
            <a:off x="777240" y="2148840"/>
            <a:ext cx="914400" cy="256032"/>
          </a:xfrm>
          <a:prstGeom prst="rect">
            <a:avLst/>
          </a:prstGeom>
          <a:noFill/>
          <a:ln/>
        </p:spPr>
        <p:txBody>
          <a:bodyPr wrap="square" lIns="0" tIns="0" rIns="0" bIns="0" rtlCol="0" anchor="ctr"/>
          <a:lstStyle/>
          <a:p>
            <a:pPr indent="0" marL="0">
              <a:buNone/>
            </a:pPr>
            <a:r>
              <a:rPr lang="en-US" sz="1000" dirty="0">
                <a:solidFill>
                  <a:srgbClr val="A1A1AA"/>
                </a:solidFill>
                <a:latin typeface="Consolas" pitchFamily="34" charset="0"/>
                <a:ea typeface="Consolas" pitchFamily="34" charset="-122"/>
                <a:cs typeface="Consolas" pitchFamily="34" charset="-120"/>
              </a:rPr>
              <a:t>01</a:t>
            </a:r>
            <a:endParaRPr lang="en-US" sz="1000" dirty="0"/>
          </a:p>
        </p:txBody>
      </p:sp>
      <p:sp>
        <p:nvSpPr>
          <p:cNvPr id="8" name="Text 6"/>
          <p:cNvSpPr/>
          <p:nvPr/>
        </p:nvSpPr>
        <p:spPr>
          <a:xfrm>
            <a:off x="777240" y="2468880"/>
            <a:ext cx="1920240" cy="384048"/>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Record</a:t>
            </a:r>
            <a:endParaRPr lang="en-US" sz="2000" dirty="0"/>
          </a:p>
        </p:txBody>
      </p:sp>
      <p:sp>
        <p:nvSpPr>
          <p:cNvPr id="9" name="Text 7"/>
          <p:cNvSpPr/>
          <p:nvPr/>
        </p:nvSpPr>
        <p:spPr>
          <a:xfrm>
            <a:off x="777240" y="2926080"/>
            <a:ext cx="1965960" cy="960120"/>
          </a:xfrm>
          <a:prstGeom prst="rect">
            <a:avLst/>
          </a:prstGeom>
          <a:noFill/>
          <a:ln/>
        </p:spPr>
        <p:txBody>
          <a:bodyPr wrap="square" lIns="0" tIns="0" rIns="0" bIns="0" rtlCol="0" anchor="t"/>
          <a:lstStyle/>
          <a:p>
            <a:pPr indent="0" marL="0">
              <a:buNone/>
            </a:pPr>
            <a:r>
              <a:rPr lang="en-US" sz="1200" dirty="0">
                <a:solidFill>
                  <a:srgbClr val="A1A1AA"/>
                </a:solidFill>
                <a:latin typeface="Arial" pitchFamily="34" charset="0"/>
                <a:ea typeface="Arial" pitchFamily="34" charset="-122"/>
                <a:cs typeface="Arial" pitchFamily="34" charset="-120"/>
              </a:rPr>
              <a:t>The brand's server signs it. The program sets the cut from the campaign rate.</a:t>
            </a:r>
            <a:endParaRPr lang="en-US" sz="1200" dirty="0"/>
          </a:p>
        </p:txBody>
      </p:sp>
      <p:sp>
        <p:nvSpPr>
          <p:cNvPr id="10" name="Text 8"/>
          <p:cNvSpPr/>
          <p:nvPr/>
        </p:nvSpPr>
        <p:spPr>
          <a:xfrm>
            <a:off x="2926080" y="2743200"/>
            <a:ext cx="365760" cy="457200"/>
          </a:xfrm>
          <a:prstGeom prst="rect">
            <a:avLst/>
          </a:prstGeom>
          <a:noFill/>
          <a:ln/>
        </p:spPr>
        <p:txBody>
          <a:bodyPr wrap="square" lIns="0" tIns="0" rIns="0" bIns="0" rtlCol="0" anchor="ctr"/>
          <a:lstStyle/>
          <a:p>
            <a:pPr algn="ctr" indent="0" marL="0">
              <a:buNone/>
            </a:pPr>
            <a:r>
              <a:rPr lang="en-US" sz="2000" dirty="0">
                <a:solidFill>
                  <a:srgbClr val="A1A1AA"/>
                </a:solidFill>
                <a:latin typeface="Arial" pitchFamily="34" charset="0"/>
                <a:ea typeface="Arial" pitchFamily="34" charset="-122"/>
                <a:cs typeface="Arial" pitchFamily="34" charset="-120"/>
              </a:rPr>
              <a:t>→</a:t>
            </a:r>
            <a:endParaRPr lang="en-US" sz="2000" dirty="0"/>
          </a:p>
        </p:txBody>
      </p:sp>
      <p:sp>
        <p:nvSpPr>
          <p:cNvPr id="11" name="Shape 9"/>
          <p:cNvSpPr/>
          <p:nvPr/>
        </p:nvSpPr>
        <p:spPr>
          <a:xfrm>
            <a:off x="3291840" y="1965960"/>
            <a:ext cx="2377440" cy="2057400"/>
          </a:xfrm>
          <a:prstGeom prst="roundRect">
            <a:avLst>
              <a:gd name="adj" fmla="val 4444"/>
            </a:avLst>
          </a:prstGeom>
          <a:solidFill>
            <a:srgbClr val="141417"/>
          </a:solidFill>
          <a:ln w="12700">
            <a:solidFill>
              <a:srgbClr val="27272A"/>
            </a:solidFill>
            <a:prstDash val="solid"/>
          </a:ln>
        </p:spPr>
      </p:sp>
      <p:sp>
        <p:nvSpPr>
          <p:cNvPr id="12" name="Text 10"/>
          <p:cNvSpPr/>
          <p:nvPr/>
        </p:nvSpPr>
        <p:spPr>
          <a:xfrm>
            <a:off x="3520440" y="2148840"/>
            <a:ext cx="914400" cy="256032"/>
          </a:xfrm>
          <a:prstGeom prst="rect">
            <a:avLst/>
          </a:prstGeom>
          <a:noFill/>
          <a:ln/>
        </p:spPr>
        <p:txBody>
          <a:bodyPr wrap="square" lIns="0" tIns="0" rIns="0" bIns="0" rtlCol="0" anchor="ctr"/>
          <a:lstStyle/>
          <a:p>
            <a:pPr indent="0" marL="0">
              <a:buNone/>
            </a:pPr>
            <a:r>
              <a:rPr lang="en-US" sz="1000" dirty="0">
                <a:solidFill>
                  <a:srgbClr val="A1A1AA"/>
                </a:solidFill>
                <a:latin typeface="Consolas" pitchFamily="34" charset="0"/>
                <a:ea typeface="Consolas" pitchFamily="34" charset="-122"/>
                <a:cs typeface="Consolas" pitchFamily="34" charset="-120"/>
              </a:rPr>
              <a:t>02</a:t>
            </a:r>
            <a:endParaRPr lang="en-US" sz="1000" dirty="0"/>
          </a:p>
        </p:txBody>
      </p:sp>
      <p:sp>
        <p:nvSpPr>
          <p:cNvPr id="13" name="Text 11"/>
          <p:cNvSpPr/>
          <p:nvPr/>
        </p:nvSpPr>
        <p:spPr>
          <a:xfrm>
            <a:off x="3520440" y="2468880"/>
            <a:ext cx="1920240" cy="384048"/>
          </a:xfrm>
          <a:prstGeom prst="rect">
            <a:avLst/>
          </a:prstGeom>
          <a:noFill/>
          <a:ln/>
        </p:spPr>
        <p:txBody>
          <a:bodyPr wrap="square" lIns="0" tIns="0" rIns="0" bIns="0" rtlCol="0" anchor="ctr"/>
          <a:lstStyle/>
          <a:p>
            <a:pPr indent="0" marL="0">
              <a:buNone/>
            </a:pPr>
            <a:r>
              <a:rPr lang="en-US" sz="2000" b="1" dirty="0">
                <a:solidFill>
                  <a:srgbClr val="F5B544"/>
                </a:solidFill>
                <a:latin typeface="Arial" pitchFamily="34" charset="0"/>
                <a:ea typeface="Arial" pitchFamily="34" charset="-122"/>
                <a:cs typeface="Arial" pitchFamily="34" charset="-120"/>
              </a:rPr>
              <a:t>Hold</a:t>
            </a:r>
            <a:endParaRPr lang="en-US" sz="2000" dirty="0"/>
          </a:p>
        </p:txBody>
      </p:sp>
      <p:sp>
        <p:nvSpPr>
          <p:cNvPr id="14" name="Text 12"/>
          <p:cNvSpPr/>
          <p:nvPr/>
        </p:nvSpPr>
        <p:spPr>
          <a:xfrm>
            <a:off x="3520440" y="2926080"/>
            <a:ext cx="1965960" cy="960120"/>
          </a:xfrm>
          <a:prstGeom prst="rect">
            <a:avLst/>
          </a:prstGeom>
          <a:noFill/>
          <a:ln/>
        </p:spPr>
        <p:txBody>
          <a:bodyPr wrap="square" lIns="0" tIns="0" rIns="0" bIns="0" rtlCol="0" anchor="t"/>
          <a:lstStyle/>
          <a:p>
            <a:pPr indent="0" marL="0">
              <a:buNone/>
            </a:pPr>
            <a:r>
              <a:rPr lang="en-US" sz="1200" dirty="0">
                <a:solidFill>
                  <a:srgbClr val="A1A1AA"/>
                </a:solidFill>
                <a:latin typeface="Arial" pitchFamily="34" charset="0"/>
                <a:ea typeface="Arial" pitchFamily="34" charset="-122"/>
                <a:cs typeface="Arial" pitchFamily="34" charset="-120"/>
              </a:rPr>
              <a:t>A refund inside the window cancels it.</a:t>
            </a:r>
            <a:endParaRPr lang="en-US" sz="1200" dirty="0"/>
          </a:p>
        </p:txBody>
      </p:sp>
      <p:sp>
        <p:nvSpPr>
          <p:cNvPr id="15" name="Text 13"/>
          <p:cNvSpPr/>
          <p:nvPr/>
        </p:nvSpPr>
        <p:spPr>
          <a:xfrm>
            <a:off x="5669280" y="2743200"/>
            <a:ext cx="365760" cy="457200"/>
          </a:xfrm>
          <a:prstGeom prst="rect">
            <a:avLst/>
          </a:prstGeom>
          <a:noFill/>
          <a:ln/>
        </p:spPr>
        <p:txBody>
          <a:bodyPr wrap="square" lIns="0" tIns="0" rIns="0" bIns="0" rtlCol="0" anchor="ctr"/>
          <a:lstStyle/>
          <a:p>
            <a:pPr algn="ctr" indent="0" marL="0">
              <a:buNone/>
            </a:pPr>
            <a:r>
              <a:rPr lang="en-US" sz="2000" dirty="0">
                <a:solidFill>
                  <a:srgbClr val="A1A1AA"/>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6035040" y="1965960"/>
            <a:ext cx="2377440" cy="2057400"/>
          </a:xfrm>
          <a:prstGeom prst="roundRect">
            <a:avLst>
              <a:gd name="adj" fmla="val 4444"/>
            </a:avLst>
          </a:prstGeom>
          <a:solidFill>
            <a:srgbClr val="141417"/>
          </a:solidFill>
          <a:ln w="19050">
            <a:solidFill>
              <a:srgbClr val="3DDC97"/>
            </a:solidFill>
            <a:prstDash val="solid"/>
          </a:ln>
        </p:spPr>
      </p:sp>
      <p:sp>
        <p:nvSpPr>
          <p:cNvPr id="17" name="Text 15"/>
          <p:cNvSpPr/>
          <p:nvPr/>
        </p:nvSpPr>
        <p:spPr>
          <a:xfrm>
            <a:off x="6263640" y="2148840"/>
            <a:ext cx="914400" cy="256032"/>
          </a:xfrm>
          <a:prstGeom prst="rect">
            <a:avLst/>
          </a:prstGeom>
          <a:noFill/>
          <a:ln/>
        </p:spPr>
        <p:txBody>
          <a:bodyPr wrap="square" lIns="0" tIns="0" rIns="0" bIns="0" rtlCol="0" anchor="ctr"/>
          <a:lstStyle/>
          <a:p>
            <a:pPr indent="0" marL="0">
              <a:buNone/>
            </a:pPr>
            <a:r>
              <a:rPr lang="en-US" sz="1000" dirty="0">
                <a:solidFill>
                  <a:srgbClr val="A1A1AA"/>
                </a:solidFill>
                <a:latin typeface="Consolas" pitchFamily="34" charset="0"/>
                <a:ea typeface="Consolas" pitchFamily="34" charset="-122"/>
                <a:cs typeface="Consolas" pitchFamily="34" charset="-120"/>
              </a:rPr>
              <a:t>03</a:t>
            </a:r>
            <a:endParaRPr lang="en-US" sz="1000" dirty="0"/>
          </a:p>
        </p:txBody>
      </p:sp>
      <p:sp>
        <p:nvSpPr>
          <p:cNvPr id="18" name="Text 16"/>
          <p:cNvSpPr/>
          <p:nvPr/>
        </p:nvSpPr>
        <p:spPr>
          <a:xfrm>
            <a:off x="6263640" y="2468880"/>
            <a:ext cx="1920240" cy="384048"/>
          </a:xfrm>
          <a:prstGeom prst="rect">
            <a:avLst/>
          </a:prstGeom>
          <a:noFill/>
          <a:ln/>
        </p:spPr>
        <p:txBody>
          <a:bodyPr wrap="square" lIns="0" tIns="0" rIns="0" bIns="0" rtlCol="0" anchor="ctr"/>
          <a:lstStyle/>
          <a:p>
            <a:pPr indent="0" marL="0">
              <a:buNone/>
            </a:pPr>
            <a:r>
              <a:rPr lang="en-US" sz="2000" b="1" dirty="0">
                <a:solidFill>
                  <a:srgbClr val="3DDC97"/>
                </a:solidFill>
                <a:latin typeface="Arial" pitchFamily="34" charset="0"/>
                <a:ea typeface="Arial" pitchFamily="34" charset="-122"/>
                <a:cs typeface="Arial" pitchFamily="34" charset="-120"/>
              </a:rPr>
              <a:t>Release</a:t>
            </a:r>
            <a:endParaRPr lang="en-US" sz="2000" dirty="0"/>
          </a:p>
        </p:txBody>
      </p:sp>
      <p:sp>
        <p:nvSpPr>
          <p:cNvPr id="19" name="Text 17"/>
          <p:cNvSpPr/>
          <p:nvPr/>
        </p:nvSpPr>
        <p:spPr>
          <a:xfrm>
            <a:off x="6263640" y="2926080"/>
            <a:ext cx="1965960" cy="960120"/>
          </a:xfrm>
          <a:prstGeom prst="rect">
            <a:avLst/>
          </a:prstGeom>
          <a:noFill/>
          <a:ln/>
        </p:spPr>
        <p:txBody>
          <a:bodyPr wrap="square" lIns="0" tIns="0" rIns="0" bIns="0" rtlCol="0" anchor="t"/>
          <a:lstStyle/>
          <a:p>
            <a:pPr indent="0" marL="0">
              <a:buNone/>
            </a:pPr>
            <a:r>
              <a:rPr lang="en-US" sz="1200" dirty="0">
                <a:solidFill>
                  <a:srgbClr val="A1A1AA"/>
                </a:solidFill>
                <a:latin typeface="Arial" pitchFamily="34" charset="0"/>
                <a:ea typeface="Arial" pitchFamily="34" charset="-122"/>
                <a:cs typeface="Arial" pitchFamily="34" charset="-120"/>
              </a:rPr>
              <a:t>Anyone can trigger it. USDC goes only to the payee.</a:t>
            </a:r>
            <a:endParaRPr lang="en-US" sz="1200" dirty="0"/>
          </a:p>
        </p:txBody>
      </p:sp>
      <p:sp>
        <p:nvSpPr>
          <p:cNvPr id="20" name="Text 18"/>
          <p:cNvSpPr/>
          <p:nvPr/>
        </p:nvSpPr>
        <p:spPr>
          <a:xfrm>
            <a:off x="548640" y="4206240"/>
            <a:ext cx="7680960" cy="274320"/>
          </a:xfrm>
          <a:prstGeom prst="rect">
            <a:avLst/>
          </a:prstGeom>
          <a:noFill/>
          <a:ln/>
        </p:spPr>
        <p:txBody>
          <a:bodyPr wrap="square" lIns="0" tIns="0" rIns="0" bIns="0" rtlCol="0" anchor="ctr"/>
          <a:lstStyle/>
          <a:p>
            <a:pPr indent="0" marL="0">
              <a:buNone/>
            </a:pPr>
            <a:r>
              <a:rPr lang="en-US" sz="1000" dirty="0">
                <a:solidFill>
                  <a:srgbClr val="71717A"/>
                </a:solidFill>
                <a:latin typeface="Consolas" pitchFamily="34" charset="0"/>
                <a:ea typeface="Consolas" pitchFamily="34" charset="-122"/>
                <a:cs typeface="Consolas" pitchFamily="34" charset="-120"/>
              </a:rPr>
              <a:t>record_sale  ·  cancel  ·  release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EARLY PAYOUT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A creator who can't wait sells the commission for cash today.</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06</a:t>
            </a:r>
            <a:endParaRPr lang="en-US" sz="1000" dirty="0"/>
          </a:p>
        </p:txBody>
      </p:sp>
      <p:sp>
        <p:nvSpPr>
          <p:cNvPr id="6" name="Text 4"/>
          <p:cNvSpPr/>
          <p:nvPr/>
        </p:nvSpPr>
        <p:spPr>
          <a:xfrm>
            <a:off x="548640" y="2240280"/>
            <a:ext cx="2103120" cy="384048"/>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Creator, paid today</a:t>
            </a:r>
            <a:endParaRPr lang="en-US" sz="1400" dirty="0"/>
          </a:p>
        </p:txBody>
      </p:sp>
      <p:sp>
        <p:nvSpPr>
          <p:cNvPr id="7" name="Shape 5"/>
          <p:cNvSpPr/>
          <p:nvPr/>
        </p:nvSpPr>
        <p:spPr>
          <a:xfrm>
            <a:off x="2697480" y="2267712"/>
            <a:ext cx="4572000" cy="329184"/>
          </a:xfrm>
          <a:prstGeom prst="roundRect">
            <a:avLst>
              <a:gd name="adj" fmla="val 13889"/>
            </a:avLst>
          </a:prstGeom>
          <a:solidFill>
            <a:srgbClr val="141417"/>
          </a:solidFill>
          <a:ln/>
        </p:spPr>
      </p:sp>
      <p:sp>
        <p:nvSpPr>
          <p:cNvPr id="8" name="Shape 6"/>
          <p:cNvSpPr/>
          <p:nvPr/>
        </p:nvSpPr>
        <p:spPr>
          <a:xfrm>
            <a:off x="2697480" y="2267712"/>
            <a:ext cx="4434840" cy="329184"/>
          </a:xfrm>
          <a:prstGeom prst="roundRect">
            <a:avLst>
              <a:gd name="adj" fmla="val 13889"/>
            </a:avLst>
          </a:prstGeom>
          <a:solidFill>
            <a:srgbClr val="3DDC97"/>
          </a:solidFill>
          <a:ln/>
        </p:spPr>
      </p:sp>
      <p:sp>
        <p:nvSpPr>
          <p:cNvPr id="9" name="Text 7"/>
          <p:cNvSpPr/>
          <p:nvPr/>
        </p:nvSpPr>
        <p:spPr>
          <a:xfrm>
            <a:off x="7406640" y="2240280"/>
            <a:ext cx="1280160" cy="384048"/>
          </a:xfrm>
          <a:prstGeom prst="rect">
            <a:avLst/>
          </a:prstGeom>
          <a:noFill/>
          <a:ln/>
        </p:spPr>
        <p:txBody>
          <a:bodyPr wrap="square" lIns="0" tIns="0" rIns="0" bIns="0" rtlCol="0" anchor="ctr"/>
          <a:lstStyle/>
          <a:p>
            <a:pPr indent="0" marL="0">
              <a:buNone/>
            </a:pPr>
            <a:r>
              <a:rPr lang="en-US" sz="1400" b="1" dirty="0">
                <a:solidFill>
                  <a:srgbClr val="F4F4F5"/>
                </a:solidFill>
                <a:latin typeface="Consolas" pitchFamily="34" charset="0"/>
                <a:ea typeface="Consolas" pitchFamily="34" charset="-122"/>
                <a:cs typeface="Consolas" pitchFamily="34" charset="-120"/>
              </a:rPr>
              <a:t>24.25 USDC</a:t>
            </a:r>
            <a:endParaRPr lang="en-US" sz="1400" dirty="0"/>
          </a:p>
        </p:txBody>
      </p:sp>
      <p:sp>
        <p:nvSpPr>
          <p:cNvPr id="10" name="Text 8"/>
          <p:cNvSpPr/>
          <p:nvPr/>
        </p:nvSpPr>
        <p:spPr>
          <a:xfrm>
            <a:off x="548640" y="2971800"/>
            <a:ext cx="2103120" cy="384048"/>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Buyer, paid at release</a:t>
            </a:r>
            <a:endParaRPr lang="en-US" sz="1400" dirty="0"/>
          </a:p>
        </p:txBody>
      </p:sp>
      <p:sp>
        <p:nvSpPr>
          <p:cNvPr id="11" name="Shape 9"/>
          <p:cNvSpPr/>
          <p:nvPr/>
        </p:nvSpPr>
        <p:spPr>
          <a:xfrm>
            <a:off x="2697480" y="2999232"/>
            <a:ext cx="4572000" cy="329184"/>
          </a:xfrm>
          <a:prstGeom prst="roundRect">
            <a:avLst>
              <a:gd name="adj" fmla="val 13889"/>
            </a:avLst>
          </a:prstGeom>
          <a:solidFill>
            <a:srgbClr val="141417"/>
          </a:solidFill>
          <a:ln/>
        </p:spPr>
      </p:sp>
      <p:sp>
        <p:nvSpPr>
          <p:cNvPr id="12" name="Shape 10"/>
          <p:cNvSpPr/>
          <p:nvPr/>
        </p:nvSpPr>
        <p:spPr>
          <a:xfrm>
            <a:off x="2697480" y="2999232"/>
            <a:ext cx="4572000" cy="329184"/>
          </a:xfrm>
          <a:prstGeom prst="roundRect">
            <a:avLst>
              <a:gd name="adj" fmla="val 13889"/>
            </a:avLst>
          </a:prstGeom>
          <a:solidFill>
            <a:srgbClr val="52525B"/>
          </a:solidFill>
          <a:ln/>
        </p:spPr>
      </p:sp>
      <p:sp>
        <p:nvSpPr>
          <p:cNvPr id="13" name="Text 11"/>
          <p:cNvSpPr/>
          <p:nvPr/>
        </p:nvSpPr>
        <p:spPr>
          <a:xfrm>
            <a:off x="7406640" y="2971800"/>
            <a:ext cx="1280160" cy="384048"/>
          </a:xfrm>
          <a:prstGeom prst="rect">
            <a:avLst/>
          </a:prstGeom>
          <a:noFill/>
          <a:ln/>
        </p:spPr>
        <p:txBody>
          <a:bodyPr wrap="square" lIns="0" tIns="0" rIns="0" bIns="0" rtlCol="0" anchor="ctr"/>
          <a:lstStyle/>
          <a:p>
            <a:pPr indent="0" marL="0">
              <a:buNone/>
            </a:pPr>
            <a:r>
              <a:rPr lang="en-US" sz="1400" b="1" dirty="0">
                <a:solidFill>
                  <a:srgbClr val="F4F4F5"/>
                </a:solidFill>
                <a:latin typeface="Consolas" pitchFamily="34" charset="0"/>
                <a:ea typeface="Consolas" pitchFamily="34" charset="-122"/>
                <a:cs typeface="Consolas" pitchFamily="34" charset="-120"/>
              </a:rPr>
              <a:t>25.00 USDC</a:t>
            </a:r>
            <a:endParaRPr lang="en-US" sz="1400" dirty="0"/>
          </a:p>
        </p:txBody>
      </p:sp>
      <p:sp>
        <p:nvSpPr>
          <p:cNvPr id="14" name="Text 12"/>
          <p:cNvSpPr/>
          <p:nvPr/>
        </p:nvSpPr>
        <p:spPr>
          <a:xfrm>
            <a:off x="2697480" y="3840480"/>
            <a:ext cx="5486400" cy="320040"/>
          </a:xfrm>
          <a:prstGeom prst="rect">
            <a:avLst/>
          </a:prstGeom>
          <a:noFill/>
          <a:ln/>
        </p:spPr>
        <p:txBody>
          <a:bodyPr wrap="square" lIns="0" tIns="0" rIns="0" bIns="0" rtlCol="0" anchor="ctr"/>
          <a:lstStyle/>
          <a:p>
            <a:pPr indent="0" marL="0">
              <a:buNone/>
            </a:pPr>
            <a:r>
              <a:rPr lang="en-US" sz="1200" dirty="0">
                <a:solidFill>
                  <a:srgbClr val="A1A1AA"/>
                </a:solidFill>
                <a:latin typeface="Arial" pitchFamily="34" charset="0"/>
                <a:ea typeface="Arial" pitchFamily="34" charset="-122"/>
                <a:cs typeface="Arial" pitchFamily="34" charset="-120"/>
              </a:rPr>
              <a:t>The buyer becomes the payee and carries the refund risk.</a:t>
            </a:r>
            <a:endParaRPr lang="en-US" sz="1200" dirty="0"/>
          </a:p>
        </p:txBody>
      </p:sp>
      <p:sp>
        <p:nvSpPr>
          <p:cNvPr id="15" name="Text 13"/>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Example: a 25.00 USDC commission sold at a 3% discount. Illustration, not outside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HOW IT WORKS</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One 9,296-byte program enforces the rules, and 26 tests attack them.</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5212080" cy="914400"/>
        </p:xfrm>
        <a:graphic>
          <a:graphicData uri="http://schemas.openxmlformats.org/drawingml/2006/table">
            <a:tbl>
              <a:tblPr/>
              <a:tblGrid>
                <a:gridCol w="2194560"/>
                <a:gridCol w="3017520"/>
              </a:tblGrid>
              <a:tr h="310896">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RULE</a:t>
                      </a:r>
                      <a:endParaRPr lang="en-US" sz="9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ON-CHAIN CHECK</a:t>
                      </a:r>
                      <a:endParaRPr lang="en-US" sz="9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475488">
                <a:tc>
                  <a:txBody>
                    <a:bodyPr/>
                    <a:lstStyle/>
                    <a:p>
                      <a:pPr indent="0" marL="0">
                        <a:buNone/>
                      </a:pPr>
                      <a:r>
                        <a:rPr lang="en-US" sz="1200" dirty="0">
                          <a:solidFill>
                            <a:srgbClr val="F4F4F5"/>
                          </a:solidFill>
                          <a:latin typeface="Arial" pitchFamily="34" charset="0"/>
                          <a:ea typeface="Arial" pitchFamily="34" charset="-122"/>
                          <a:cs typeface="Arial" pitchFamily="34" charset="-120"/>
                        </a:rPr>
                        <a:t>Owed money stays locked</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Withdrawals stop at the reserved amount</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475488">
                <a:tc>
                  <a:txBody>
                    <a:bodyPr/>
                    <a:lstStyle/>
                    <a:p>
                      <a:pPr indent="0" marL="0">
                        <a:buNone/>
                      </a:pPr>
                      <a:r>
                        <a:rPr lang="en-US" sz="1200" dirty="0">
                          <a:solidFill>
                            <a:srgbClr val="F4F4F5"/>
                          </a:solidFill>
                          <a:latin typeface="Arial" pitchFamily="34" charset="0"/>
                          <a:ea typeface="Arial" pitchFamily="34" charset="-122"/>
                          <a:cs typeface="Arial" pitchFamily="34" charset="-120"/>
                        </a:rPr>
                        <a:t>One order, one commission</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Address derived from the order hash</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475488">
                <a:tc>
                  <a:txBody>
                    <a:bodyPr/>
                    <a:lstStyle/>
                    <a:p>
                      <a:pPr indent="0" marL="0">
                        <a:buNone/>
                      </a:pPr>
                      <a:r>
                        <a:rPr lang="en-US" sz="1200" b="1" dirty="0">
                          <a:solidFill>
                            <a:srgbClr val="3DDC97"/>
                          </a:solidFill>
                          <a:latin typeface="Arial" pitchFamily="34" charset="0"/>
                          <a:ea typeface="Arial" pitchFamily="34" charset="-122"/>
                          <a:cs typeface="Arial" pitchFamily="34" charset="-120"/>
                        </a:rPr>
                        <a:t>Payouts can't be redirected</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b="1" dirty="0">
                          <a:solidFill>
                            <a:srgbClr val="3DDC97"/>
                          </a:solidFill>
                          <a:latin typeface="Arial" pitchFamily="34" charset="0"/>
                          <a:ea typeface="Arial" pitchFamily="34" charset="-122"/>
                          <a:cs typeface="Arial" pitchFamily="34" charset="-120"/>
                        </a:rPr>
                        <a:t>Destination must belong to the payee</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bl>
          </a:graphicData>
        </a:graphic>
      </p:graphicFrame>
      <p:sp>
        <p:nvSpPr>
          <p:cNvPr id="7" name="Shape 4"/>
          <p:cNvSpPr/>
          <p:nvPr/>
        </p:nvSpPr>
        <p:spPr>
          <a:xfrm>
            <a:off x="6172200" y="1828800"/>
            <a:ext cx="2423160" cy="731520"/>
          </a:xfrm>
          <a:prstGeom prst="roundRect">
            <a:avLst>
              <a:gd name="adj" fmla="val 12500"/>
            </a:avLst>
          </a:prstGeom>
          <a:solidFill>
            <a:srgbClr val="141417"/>
          </a:solidFill>
          <a:ln w="12700">
            <a:solidFill>
              <a:srgbClr val="27272A"/>
            </a:solidFill>
            <a:prstDash val="solid"/>
          </a:ln>
        </p:spPr>
      </p:sp>
      <p:sp>
        <p:nvSpPr>
          <p:cNvPr id="8" name="Text 5"/>
          <p:cNvSpPr/>
          <p:nvPr/>
        </p:nvSpPr>
        <p:spPr>
          <a:xfrm>
            <a:off x="6355080" y="1883664"/>
            <a:ext cx="2103120" cy="384048"/>
          </a:xfrm>
          <a:prstGeom prst="rect">
            <a:avLst/>
          </a:prstGeom>
          <a:noFill/>
          <a:ln/>
        </p:spPr>
        <p:txBody>
          <a:bodyPr wrap="square" lIns="0" tIns="0" rIns="0" bIns="0" rtlCol="0" anchor="ctr"/>
          <a:lstStyle/>
          <a:p>
            <a:pPr indent="0" marL="0">
              <a:buNone/>
            </a:pPr>
            <a:r>
              <a:rPr lang="en-US" sz="2200" b="1" dirty="0">
                <a:solidFill>
                  <a:srgbClr val="F4F4F5"/>
                </a:solidFill>
                <a:latin typeface="Arial" pitchFamily="34" charset="0"/>
                <a:ea typeface="Arial" pitchFamily="34" charset="-122"/>
                <a:cs typeface="Arial" pitchFamily="34" charset="-120"/>
              </a:rPr>
              <a:t>9,296</a:t>
            </a:r>
            <a:endParaRPr lang="en-US" sz="2200" dirty="0"/>
          </a:p>
        </p:txBody>
      </p:sp>
      <p:sp>
        <p:nvSpPr>
          <p:cNvPr id="9" name="Text 6"/>
          <p:cNvSpPr/>
          <p:nvPr/>
        </p:nvSpPr>
        <p:spPr>
          <a:xfrm>
            <a:off x="6355080" y="2249424"/>
            <a:ext cx="2148840" cy="256032"/>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bytes, deploy under 0.05 SOL</a:t>
            </a:r>
            <a:endParaRPr lang="en-US" sz="1000" dirty="0"/>
          </a:p>
        </p:txBody>
      </p:sp>
      <p:sp>
        <p:nvSpPr>
          <p:cNvPr id="10" name="Shape 7"/>
          <p:cNvSpPr/>
          <p:nvPr/>
        </p:nvSpPr>
        <p:spPr>
          <a:xfrm>
            <a:off x="6172200" y="2697480"/>
            <a:ext cx="2423160" cy="731520"/>
          </a:xfrm>
          <a:prstGeom prst="roundRect">
            <a:avLst>
              <a:gd name="adj" fmla="val 12500"/>
            </a:avLst>
          </a:prstGeom>
          <a:solidFill>
            <a:srgbClr val="141417"/>
          </a:solidFill>
          <a:ln w="12700">
            <a:solidFill>
              <a:srgbClr val="27272A"/>
            </a:solidFill>
            <a:prstDash val="solid"/>
          </a:ln>
        </p:spPr>
      </p:sp>
      <p:sp>
        <p:nvSpPr>
          <p:cNvPr id="11" name="Text 8"/>
          <p:cNvSpPr/>
          <p:nvPr/>
        </p:nvSpPr>
        <p:spPr>
          <a:xfrm>
            <a:off x="6355080" y="2752344"/>
            <a:ext cx="2103120" cy="384048"/>
          </a:xfrm>
          <a:prstGeom prst="rect">
            <a:avLst/>
          </a:prstGeom>
          <a:noFill/>
          <a:ln/>
        </p:spPr>
        <p:txBody>
          <a:bodyPr wrap="square" lIns="0" tIns="0" rIns="0" bIns="0" rtlCol="0" anchor="ctr"/>
          <a:lstStyle/>
          <a:p>
            <a:pPr indent="0" marL="0">
              <a:buNone/>
            </a:pPr>
            <a:r>
              <a:rPr lang="en-US" sz="2200" b="1" dirty="0">
                <a:solidFill>
                  <a:srgbClr val="F4F4F5"/>
                </a:solidFill>
                <a:latin typeface="Arial" pitchFamily="34" charset="0"/>
                <a:ea typeface="Arial" pitchFamily="34" charset="-122"/>
                <a:cs typeface="Arial" pitchFamily="34" charset="-120"/>
              </a:rPr>
              <a:t>6</a:t>
            </a:r>
            <a:endParaRPr lang="en-US" sz="2200" dirty="0"/>
          </a:p>
        </p:txBody>
      </p:sp>
      <p:sp>
        <p:nvSpPr>
          <p:cNvPr id="12" name="Text 9"/>
          <p:cNvSpPr/>
          <p:nvPr/>
        </p:nvSpPr>
        <p:spPr>
          <a:xfrm>
            <a:off x="6355080" y="3118104"/>
            <a:ext cx="2148840" cy="256032"/>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instructions</a:t>
            </a:r>
            <a:endParaRPr lang="en-US" sz="1000" dirty="0"/>
          </a:p>
        </p:txBody>
      </p:sp>
      <p:sp>
        <p:nvSpPr>
          <p:cNvPr id="13" name="Shape 10"/>
          <p:cNvSpPr/>
          <p:nvPr/>
        </p:nvSpPr>
        <p:spPr>
          <a:xfrm>
            <a:off x="6172200" y="3566160"/>
            <a:ext cx="2423160" cy="731520"/>
          </a:xfrm>
          <a:prstGeom prst="roundRect">
            <a:avLst>
              <a:gd name="adj" fmla="val 12500"/>
            </a:avLst>
          </a:prstGeom>
          <a:solidFill>
            <a:srgbClr val="141417"/>
          </a:solidFill>
          <a:ln w="12700">
            <a:solidFill>
              <a:srgbClr val="27272A"/>
            </a:solidFill>
            <a:prstDash val="solid"/>
          </a:ln>
        </p:spPr>
      </p:sp>
      <p:sp>
        <p:nvSpPr>
          <p:cNvPr id="14" name="Text 11"/>
          <p:cNvSpPr/>
          <p:nvPr/>
        </p:nvSpPr>
        <p:spPr>
          <a:xfrm>
            <a:off x="6355080" y="3621024"/>
            <a:ext cx="2103120" cy="384048"/>
          </a:xfrm>
          <a:prstGeom prst="rect">
            <a:avLst/>
          </a:prstGeom>
          <a:noFill/>
          <a:ln/>
        </p:spPr>
        <p:txBody>
          <a:bodyPr wrap="square" lIns="0" tIns="0" rIns="0" bIns="0" rtlCol="0" anchor="ctr"/>
          <a:lstStyle/>
          <a:p>
            <a:pPr indent="0" marL="0">
              <a:buNone/>
            </a:pPr>
            <a:r>
              <a:rPr lang="en-US" sz="2200" b="1" dirty="0">
                <a:solidFill>
                  <a:srgbClr val="F4F4F5"/>
                </a:solidFill>
                <a:latin typeface="Arial" pitchFamily="34" charset="0"/>
                <a:ea typeface="Arial" pitchFamily="34" charset="-122"/>
                <a:cs typeface="Arial" pitchFamily="34" charset="-120"/>
              </a:rPr>
              <a:t>26</a:t>
            </a:r>
            <a:endParaRPr lang="en-US" sz="2200" dirty="0"/>
          </a:p>
        </p:txBody>
      </p:sp>
      <p:sp>
        <p:nvSpPr>
          <p:cNvPr id="15" name="Text 12"/>
          <p:cNvSpPr/>
          <p:nvPr/>
        </p:nvSpPr>
        <p:spPr>
          <a:xfrm>
            <a:off x="6355080" y="3986784"/>
            <a:ext cx="2148840" cy="256032"/>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tests, most of them attacks</a:t>
            </a:r>
            <a:endParaRPr lang="en-US" sz="1000" dirty="0"/>
          </a:p>
        </p:txBody>
      </p:sp>
      <p:sp>
        <p:nvSpPr>
          <p:cNvPr id="16" name="Text 13"/>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program/ in github.com/bryankwandou/commish; base fee [S6]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WHO ELSE</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At least eight Solana affiliate projects entered Colosseum before us. None placed.</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8046720" cy="914400"/>
        </p:xfrm>
        <a:graphic>
          <a:graphicData uri="http://schemas.openxmlformats.org/drawingml/2006/table">
            <a:tbl>
              <a:tblPr/>
              <a:tblGrid>
                <a:gridCol w="1645920"/>
                <a:gridCol w="1737360"/>
                <a:gridCol w="3749040"/>
                <a:gridCol w="914400"/>
              </a:tblGrid>
              <a:tr h="274320">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PROJECT</a:t>
                      </a:r>
                      <a:endParaRPr lang="en-US" sz="9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HACKATHON</a:t>
                      </a:r>
                      <a:endParaRPr lang="en-US" sz="9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WHAT IT OFFERED</a:t>
                      </a:r>
                      <a:endParaRPr lang="en-US" sz="9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PLACED</a:t>
                      </a:r>
                      <a:endParaRPr lang="en-US" sz="9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SuperLink</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Radar 2024</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Revenue share via Blinks</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Earnify</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Radar 2024</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Web3 affiliate dashboard</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Sendit</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Radar 2024</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Marketplace with affiliates</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Redio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Cypherpunk 2025</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Instant affiliate payouts</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Coinfiliate</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Cypherpunk 2025</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USDC rewards to shoppers</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Three more</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2024-2025</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Blinks Deals, Traxeo, Reflink</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bl>
          </a:graphicData>
        </a:graphic>
      </p:graphicFrame>
      <p:sp>
        <p:nvSpPr>
          <p:cNvPr id="7" name="Text 4"/>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Colosseum Copilot API and Arena, 2026-09-27 [S7]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MARKET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US brands will spend $13.81 billion on affiliate marketing in 2026.</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09</a:t>
            </a:r>
            <a:endParaRPr lang="en-US" sz="1000" dirty="0"/>
          </a:p>
        </p:txBody>
      </p:sp>
      <p:sp>
        <p:nvSpPr>
          <p:cNvPr id="6" name="Text 4"/>
          <p:cNvSpPr/>
          <p:nvPr/>
        </p:nvSpPr>
        <p:spPr>
          <a:xfrm>
            <a:off x="548640" y="1691640"/>
            <a:ext cx="5486400" cy="1371600"/>
          </a:xfrm>
          <a:prstGeom prst="rect">
            <a:avLst/>
          </a:prstGeom>
          <a:noFill/>
          <a:ln/>
        </p:spPr>
        <p:txBody>
          <a:bodyPr wrap="square" lIns="0" tIns="0" rIns="0" bIns="0" rtlCol="0" anchor="ctr"/>
          <a:lstStyle/>
          <a:p>
            <a:pPr indent="0" marL="0">
              <a:buNone/>
            </a:pPr>
            <a:r>
              <a:rPr lang="en-US" sz="8400" b="1" dirty="0">
                <a:solidFill>
                  <a:srgbClr val="3DDC97"/>
                </a:solidFill>
                <a:latin typeface="Arial" pitchFamily="34" charset="0"/>
                <a:ea typeface="Arial" pitchFamily="34" charset="-122"/>
                <a:cs typeface="Arial" pitchFamily="34" charset="-120"/>
              </a:rPr>
              <a:t>$13.81B</a:t>
            </a:r>
            <a:endParaRPr lang="en-US" sz="8400" dirty="0"/>
          </a:p>
        </p:txBody>
      </p:sp>
      <p:sp>
        <p:nvSpPr>
          <p:cNvPr id="7" name="Shape 5"/>
          <p:cNvSpPr/>
          <p:nvPr/>
        </p:nvSpPr>
        <p:spPr>
          <a:xfrm>
            <a:off x="548640" y="3337560"/>
            <a:ext cx="1645920" cy="868680"/>
          </a:xfrm>
          <a:prstGeom prst="roundRect">
            <a:avLst>
              <a:gd name="adj" fmla="val 10526"/>
            </a:avLst>
          </a:prstGeom>
          <a:solidFill>
            <a:srgbClr val="141417"/>
          </a:solidFill>
          <a:ln w="12700">
            <a:solidFill>
              <a:srgbClr val="27272A"/>
            </a:solidFill>
            <a:prstDash val="solid"/>
          </a:ln>
        </p:spPr>
      </p:sp>
      <p:sp>
        <p:nvSpPr>
          <p:cNvPr id="8" name="Text 6"/>
          <p:cNvSpPr/>
          <p:nvPr/>
        </p:nvSpPr>
        <p:spPr>
          <a:xfrm>
            <a:off x="685800" y="3410712"/>
            <a:ext cx="1417320" cy="411480"/>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$13.81B</a:t>
            </a:r>
            <a:endParaRPr lang="en-US" sz="2000" dirty="0"/>
          </a:p>
        </p:txBody>
      </p:sp>
      <p:sp>
        <p:nvSpPr>
          <p:cNvPr id="9" name="Text 7"/>
          <p:cNvSpPr/>
          <p:nvPr/>
        </p:nvSpPr>
        <p:spPr>
          <a:xfrm>
            <a:off x="685800" y="3822192"/>
            <a:ext cx="1463040" cy="274320"/>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US affiliate spend</a:t>
            </a:r>
            <a:endParaRPr lang="en-US" sz="1000" dirty="0"/>
          </a:p>
        </p:txBody>
      </p:sp>
      <p:sp>
        <p:nvSpPr>
          <p:cNvPr id="10" name="Text 8"/>
          <p:cNvSpPr/>
          <p:nvPr/>
        </p:nvSpPr>
        <p:spPr>
          <a:xfrm>
            <a:off x="2194560" y="3566160"/>
            <a:ext cx="365760" cy="411480"/>
          </a:xfrm>
          <a:prstGeom prst="rect">
            <a:avLst/>
          </a:prstGeom>
          <a:noFill/>
          <a:ln/>
        </p:spPr>
        <p:txBody>
          <a:bodyPr wrap="square" lIns="0" tIns="0" rIns="0" bIns="0" rtlCol="0" anchor="ctr"/>
          <a:lstStyle/>
          <a:p>
            <a:pPr algn="ctr" indent="0" marL="0">
              <a:buNone/>
            </a:pPr>
            <a:r>
              <a:rPr lang="en-US" sz="1800" dirty="0">
                <a:solidFill>
                  <a:srgbClr val="A1A1AA"/>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2560320" y="3337560"/>
            <a:ext cx="1645920" cy="868680"/>
          </a:xfrm>
          <a:prstGeom prst="roundRect">
            <a:avLst>
              <a:gd name="adj" fmla="val 10526"/>
            </a:avLst>
          </a:prstGeom>
          <a:solidFill>
            <a:srgbClr val="141417"/>
          </a:solidFill>
          <a:ln w="12700">
            <a:solidFill>
              <a:srgbClr val="27272A"/>
            </a:solidFill>
            <a:prstDash val="solid"/>
          </a:ln>
        </p:spPr>
      </p:sp>
      <p:sp>
        <p:nvSpPr>
          <p:cNvPr id="12" name="Text 10"/>
          <p:cNvSpPr/>
          <p:nvPr/>
        </p:nvSpPr>
        <p:spPr>
          <a:xfrm>
            <a:off x="2697480" y="3410712"/>
            <a:ext cx="1417320" cy="411480"/>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1%</a:t>
            </a:r>
            <a:endParaRPr lang="en-US" sz="2000" dirty="0"/>
          </a:p>
        </p:txBody>
      </p:sp>
      <p:sp>
        <p:nvSpPr>
          <p:cNvPr id="13" name="Text 11"/>
          <p:cNvSpPr/>
          <p:nvPr/>
        </p:nvSpPr>
        <p:spPr>
          <a:xfrm>
            <a:off x="2697480" y="3822192"/>
            <a:ext cx="1463040" cy="274320"/>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settled on Commish</a:t>
            </a:r>
            <a:endParaRPr lang="en-US" sz="1000" dirty="0"/>
          </a:p>
        </p:txBody>
      </p:sp>
      <p:sp>
        <p:nvSpPr>
          <p:cNvPr id="14" name="Text 12"/>
          <p:cNvSpPr/>
          <p:nvPr/>
        </p:nvSpPr>
        <p:spPr>
          <a:xfrm>
            <a:off x="4206240" y="3566160"/>
            <a:ext cx="365760" cy="411480"/>
          </a:xfrm>
          <a:prstGeom prst="rect">
            <a:avLst/>
          </a:prstGeom>
          <a:noFill/>
          <a:ln/>
        </p:spPr>
        <p:txBody>
          <a:bodyPr wrap="square" lIns="0" tIns="0" rIns="0" bIns="0" rtlCol="0" anchor="ctr"/>
          <a:lstStyle/>
          <a:p>
            <a:pPr algn="ctr" indent="0" marL="0">
              <a:buNone/>
            </a:pPr>
            <a:r>
              <a:rPr lang="en-US" sz="1800" dirty="0">
                <a:solidFill>
                  <a:srgbClr val="A1A1AA"/>
                </a:solidFill>
                <a:latin typeface="Arial" pitchFamily="34" charset="0"/>
                <a:ea typeface="Arial" pitchFamily="34" charset="-122"/>
                <a:cs typeface="Arial" pitchFamily="34" charset="-120"/>
              </a:rPr>
              <a:t>×</a:t>
            </a:r>
            <a:endParaRPr lang="en-US" sz="1800" dirty="0"/>
          </a:p>
        </p:txBody>
      </p:sp>
      <p:sp>
        <p:nvSpPr>
          <p:cNvPr id="15" name="Shape 13"/>
          <p:cNvSpPr/>
          <p:nvPr/>
        </p:nvSpPr>
        <p:spPr>
          <a:xfrm>
            <a:off x="4572000" y="3337560"/>
            <a:ext cx="1645920" cy="868680"/>
          </a:xfrm>
          <a:prstGeom prst="roundRect">
            <a:avLst>
              <a:gd name="adj" fmla="val 10526"/>
            </a:avLst>
          </a:prstGeom>
          <a:solidFill>
            <a:srgbClr val="141417"/>
          </a:solidFill>
          <a:ln w="12700">
            <a:solidFill>
              <a:srgbClr val="27272A"/>
            </a:solidFill>
            <a:prstDash val="solid"/>
          </a:ln>
        </p:spPr>
      </p:sp>
      <p:sp>
        <p:nvSpPr>
          <p:cNvPr id="16" name="Text 14"/>
          <p:cNvSpPr/>
          <p:nvPr/>
        </p:nvSpPr>
        <p:spPr>
          <a:xfrm>
            <a:off x="4709160" y="3410712"/>
            <a:ext cx="1417320" cy="411480"/>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1%</a:t>
            </a:r>
            <a:endParaRPr lang="en-US" sz="2000" dirty="0"/>
          </a:p>
        </p:txBody>
      </p:sp>
      <p:sp>
        <p:nvSpPr>
          <p:cNvPr id="17" name="Text 15"/>
          <p:cNvSpPr/>
          <p:nvPr/>
        </p:nvSpPr>
        <p:spPr>
          <a:xfrm>
            <a:off x="4709160" y="3822192"/>
            <a:ext cx="1463040" cy="274320"/>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fee on each payout</a:t>
            </a:r>
            <a:endParaRPr lang="en-US" sz="1000" dirty="0"/>
          </a:p>
        </p:txBody>
      </p:sp>
      <p:sp>
        <p:nvSpPr>
          <p:cNvPr id="18" name="Text 16"/>
          <p:cNvSpPr/>
          <p:nvPr/>
        </p:nvSpPr>
        <p:spPr>
          <a:xfrm>
            <a:off x="6217920" y="3566160"/>
            <a:ext cx="365760" cy="411480"/>
          </a:xfrm>
          <a:prstGeom prst="rect">
            <a:avLst/>
          </a:prstGeom>
          <a:noFill/>
          <a:ln/>
        </p:spPr>
        <p:txBody>
          <a:bodyPr wrap="square" lIns="0" tIns="0" rIns="0" bIns="0" rtlCol="0" anchor="ctr"/>
          <a:lstStyle/>
          <a:p>
            <a:pPr algn="ctr" indent="0" marL="0">
              <a:buNone/>
            </a:pPr>
            <a:r>
              <a:rPr lang="en-US" sz="1800" dirty="0">
                <a:solidFill>
                  <a:srgbClr val="A1A1AA"/>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6583680" y="3337560"/>
            <a:ext cx="1645920" cy="868680"/>
          </a:xfrm>
          <a:prstGeom prst="roundRect">
            <a:avLst>
              <a:gd name="adj" fmla="val 10526"/>
            </a:avLst>
          </a:prstGeom>
          <a:solidFill>
            <a:srgbClr val="141417"/>
          </a:solidFill>
          <a:ln w="19050">
            <a:solidFill>
              <a:srgbClr val="3DDC97"/>
            </a:solidFill>
            <a:prstDash val="solid"/>
          </a:ln>
        </p:spPr>
      </p:sp>
      <p:sp>
        <p:nvSpPr>
          <p:cNvPr id="20" name="Text 18"/>
          <p:cNvSpPr/>
          <p:nvPr/>
        </p:nvSpPr>
        <p:spPr>
          <a:xfrm>
            <a:off x="6720840" y="3410712"/>
            <a:ext cx="1417320" cy="411480"/>
          </a:xfrm>
          <a:prstGeom prst="rect">
            <a:avLst/>
          </a:prstGeom>
          <a:noFill/>
          <a:ln/>
        </p:spPr>
        <p:txBody>
          <a:bodyPr wrap="square" lIns="0" tIns="0" rIns="0" bIns="0" rtlCol="0" anchor="ctr"/>
          <a:lstStyle/>
          <a:p>
            <a:pPr indent="0" marL="0">
              <a:buNone/>
            </a:pPr>
            <a:r>
              <a:rPr lang="en-US" sz="2000" b="1" dirty="0">
                <a:solidFill>
                  <a:srgbClr val="3DDC97"/>
                </a:solidFill>
                <a:latin typeface="Arial" pitchFamily="34" charset="0"/>
                <a:ea typeface="Arial" pitchFamily="34" charset="-122"/>
                <a:cs typeface="Arial" pitchFamily="34" charset="-120"/>
              </a:rPr>
              <a:t>$1.38M</a:t>
            </a:r>
            <a:endParaRPr lang="en-US" sz="2000" dirty="0"/>
          </a:p>
        </p:txBody>
      </p:sp>
      <p:sp>
        <p:nvSpPr>
          <p:cNvPr id="21" name="Text 19"/>
          <p:cNvSpPr/>
          <p:nvPr/>
        </p:nvSpPr>
        <p:spPr>
          <a:xfrm>
            <a:off x="6720840" y="3822192"/>
            <a:ext cx="1463040" cy="274320"/>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a year</a:t>
            </a:r>
            <a:endParaRPr lang="en-US" sz="1000" dirty="0"/>
          </a:p>
        </p:txBody>
      </p:sp>
      <p:sp>
        <p:nvSpPr>
          <p:cNvPr id="22" name="Text 20"/>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eMarketer forecast via Post Affiliate Pro [S3]. Share and fee are team plan, not outside data.</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TEAM</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Built by a creator who gets paid on other people's schedules.</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10</a:t>
            </a:r>
            <a:endParaRPr lang="en-US" sz="1000" dirty="0"/>
          </a:p>
        </p:txBody>
      </p:sp>
      <p:sp>
        <p:nvSpPr>
          <p:cNvPr id="6" name="Shape 4"/>
          <p:cNvSpPr/>
          <p:nvPr/>
        </p:nvSpPr>
        <p:spPr>
          <a:xfrm>
            <a:off x="548640" y="1874520"/>
            <a:ext cx="1005840" cy="1005840"/>
          </a:xfrm>
          <a:prstGeom prst="ellipse">
            <a:avLst/>
          </a:prstGeom>
          <a:solidFill>
            <a:srgbClr val="141417"/>
          </a:solidFill>
          <a:ln w="19050">
            <a:solidFill>
              <a:srgbClr val="3DDC97"/>
            </a:solidFill>
            <a:prstDash val="solid"/>
          </a:ln>
        </p:spPr>
      </p:sp>
      <p:sp>
        <p:nvSpPr>
          <p:cNvPr id="7" name="Text 5"/>
          <p:cNvSpPr/>
          <p:nvPr/>
        </p:nvSpPr>
        <p:spPr>
          <a:xfrm>
            <a:off x="548640" y="1874520"/>
            <a:ext cx="1005840" cy="1005840"/>
          </a:xfrm>
          <a:prstGeom prst="rect">
            <a:avLst/>
          </a:prstGeom>
          <a:noFill/>
          <a:ln/>
        </p:spPr>
        <p:txBody>
          <a:bodyPr wrap="square" lIns="0" tIns="0" rIns="0" bIns="0" rtlCol="0" anchor="ctr"/>
          <a:lstStyle/>
          <a:p>
            <a:pPr algn="ctr" indent="0" marL="0">
              <a:buNone/>
            </a:pPr>
            <a:r>
              <a:rPr lang="en-US" sz="2600" b="1" dirty="0">
                <a:solidFill>
                  <a:srgbClr val="3DDC97"/>
                </a:solidFill>
                <a:latin typeface="Arial" pitchFamily="34" charset="0"/>
                <a:ea typeface="Arial" pitchFamily="34" charset="-122"/>
                <a:cs typeface="Arial" pitchFamily="34" charset="-120"/>
              </a:rPr>
              <a:t>BK</a:t>
            </a:r>
            <a:endParaRPr lang="en-US" sz="2600" dirty="0"/>
          </a:p>
        </p:txBody>
      </p:sp>
      <p:sp>
        <p:nvSpPr>
          <p:cNvPr id="8" name="Text 6"/>
          <p:cNvSpPr/>
          <p:nvPr/>
        </p:nvSpPr>
        <p:spPr>
          <a:xfrm>
            <a:off x="1783080" y="2011680"/>
            <a:ext cx="4572000" cy="411480"/>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Bryan Kwandou</a:t>
            </a:r>
            <a:endParaRPr lang="en-US" sz="2000" dirty="0"/>
          </a:p>
        </p:txBody>
      </p:sp>
      <p:sp>
        <p:nvSpPr>
          <p:cNvPr id="9" name="Text 7"/>
          <p:cNvSpPr/>
          <p:nvPr/>
        </p:nvSpPr>
        <p:spPr>
          <a:xfrm>
            <a:off x="1783080" y="2423160"/>
            <a:ext cx="4572000" cy="320040"/>
          </a:xfrm>
          <a:prstGeom prst="rect">
            <a:avLst/>
          </a:prstGeom>
          <a:noFill/>
          <a:ln/>
        </p:spPr>
        <p:txBody>
          <a:bodyPr wrap="square" lIns="0" tIns="0" rIns="0" bIns="0" rtlCol="0" anchor="ctr"/>
          <a:lstStyle/>
          <a:p>
            <a:pPr indent="0" marL="0">
              <a:buNone/>
            </a:pPr>
            <a:r>
              <a:rPr lang="en-US" sz="1300" dirty="0">
                <a:solidFill>
                  <a:srgbClr val="A1A1AA"/>
                </a:solidFill>
                <a:latin typeface="Arial" pitchFamily="34" charset="0"/>
                <a:ea typeface="Arial" pitchFamily="34" charset="-122"/>
                <a:cs typeface="Arial" pitchFamily="34" charset="-120"/>
              </a:rPr>
              <a:t>Founder · Makassar, Indonesia</a:t>
            </a:r>
            <a:endParaRPr lang="en-US" sz="1300" dirty="0"/>
          </a:p>
        </p:txBody>
      </p:sp>
      <p:sp>
        <p:nvSpPr>
          <p:cNvPr id="10" name="Text 8"/>
          <p:cNvSpPr/>
          <p:nvPr/>
        </p:nvSpPr>
        <p:spPr>
          <a:xfrm>
            <a:off x="548640" y="3154680"/>
            <a:ext cx="914400" cy="329184"/>
          </a:xfrm>
          <a:prstGeom prst="rect">
            <a:avLst/>
          </a:prstGeom>
          <a:noFill/>
          <a:ln/>
        </p:spPr>
        <p:txBody>
          <a:bodyPr wrap="square" lIns="0" tIns="0" rIns="0" bIns="0" rtlCol="0" anchor="ctr"/>
          <a:lstStyle/>
          <a:p>
            <a:pPr indent="0" marL="0">
              <a:buNone/>
            </a:pPr>
            <a:r>
              <a:rPr lang="en-US" sz="1000" b="1" dirty="0">
                <a:solidFill>
                  <a:srgbClr val="3DDC97"/>
                </a:solidFill>
                <a:latin typeface="Consolas" pitchFamily="34" charset="0"/>
                <a:ea typeface="Consolas" pitchFamily="34" charset="-122"/>
                <a:cs typeface="Consolas" pitchFamily="34" charset="-120"/>
              </a:rPr>
              <a:t>CREATOR</a:t>
            </a:r>
            <a:endParaRPr lang="en-US" sz="1000" dirty="0"/>
          </a:p>
        </p:txBody>
      </p:sp>
      <p:sp>
        <p:nvSpPr>
          <p:cNvPr id="11" name="Text 9"/>
          <p:cNvSpPr/>
          <p:nvPr/>
        </p:nvSpPr>
        <p:spPr>
          <a:xfrm>
            <a:off x="1783080" y="3154680"/>
            <a:ext cx="6675120" cy="329184"/>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NFT art on Objkt since 2022 and Drip since 2024; Shutterstock, Upwork</a:t>
            </a:r>
            <a:endParaRPr lang="en-US" sz="1400" dirty="0"/>
          </a:p>
        </p:txBody>
      </p:sp>
      <p:sp>
        <p:nvSpPr>
          <p:cNvPr id="12" name="Text 10"/>
          <p:cNvSpPr/>
          <p:nvPr/>
        </p:nvSpPr>
        <p:spPr>
          <a:xfrm>
            <a:off x="548640" y="3611880"/>
            <a:ext cx="914400" cy="329184"/>
          </a:xfrm>
          <a:prstGeom prst="rect">
            <a:avLst/>
          </a:prstGeom>
          <a:noFill/>
          <a:ln/>
        </p:spPr>
        <p:txBody>
          <a:bodyPr wrap="square" lIns="0" tIns="0" rIns="0" bIns="0" rtlCol="0" anchor="ctr"/>
          <a:lstStyle/>
          <a:p>
            <a:pPr indent="0" marL="0">
              <a:buNone/>
            </a:pPr>
            <a:r>
              <a:rPr lang="en-US" sz="1000" b="1" dirty="0">
                <a:solidFill>
                  <a:srgbClr val="3DDC97"/>
                </a:solidFill>
                <a:latin typeface="Consolas" pitchFamily="34" charset="0"/>
                <a:ea typeface="Consolas" pitchFamily="34" charset="-122"/>
                <a:cs typeface="Consolas" pitchFamily="34" charset="-120"/>
              </a:rPr>
              <a:t>BUILDER</a:t>
            </a:r>
            <a:endParaRPr lang="en-US" sz="1000" dirty="0"/>
          </a:p>
        </p:txBody>
      </p:sp>
      <p:sp>
        <p:nvSpPr>
          <p:cNvPr id="13" name="Text 11"/>
          <p:cNvSpPr/>
          <p:nvPr/>
        </p:nvSpPr>
        <p:spPr>
          <a:xfrm>
            <a:off x="1783080" y="3611880"/>
            <a:ext cx="6675120" cy="329184"/>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Informatics, Atma Jaya Makassar; Superteam campus lead</a:t>
            </a:r>
            <a:endParaRPr lang="en-US" sz="1400" dirty="0"/>
          </a:p>
        </p:txBody>
      </p:sp>
      <p:sp>
        <p:nvSpPr>
          <p:cNvPr id="14" name="Text 12"/>
          <p:cNvSpPr/>
          <p:nvPr/>
        </p:nvSpPr>
        <p:spPr>
          <a:xfrm>
            <a:off x="548640" y="4069080"/>
            <a:ext cx="914400" cy="329184"/>
          </a:xfrm>
          <a:prstGeom prst="rect">
            <a:avLst/>
          </a:prstGeom>
          <a:noFill/>
          <a:ln/>
        </p:spPr>
        <p:txBody>
          <a:bodyPr wrap="square" lIns="0" tIns="0" rIns="0" bIns="0" rtlCol="0" anchor="ctr"/>
          <a:lstStyle/>
          <a:p>
            <a:pPr indent="0" marL="0">
              <a:buNone/>
            </a:pPr>
            <a:r>
              <a:rPr lang="en-US" sz="1000" b="1" dirty="0">
                <a:solidFill>
                  <a:srgbClr val="3DDC97"/>
                </a:solidFill>
                <a:latin typeface="Consolas" pitchFamily="34" charset="0"/>
                <a:ea typeface="Consolas" pitchFamily="34" charset="-122"/>
                <a:cs typeface="Consolas" pitchFamily="34" charset="-120"/>
              </a:rPr>
              <a:t>SHIPPED</a:t>
            </a:r>
            <a:endParaRPr lang="en-US" sz="1000" dirty="0"/>
          </a:p>
        </p:txBody>
      </p:sp>
      <p:sp>
        <p:nvSpPr>
          <p:cNvPr id="15" name="Text 13"/>
          <p:cNvSpPr/>
          <p:nvPr/>
        </p:nvSpPr>
        <p:spPr>
          <a:xfrm>
            <a:off x="1783080" y="4069080"/>
            <a:ext cx="6675120" cy="329184"/>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The program, the app and 26 tests: github.com/bryankwandou/commish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NEXT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Next: ten Solana brands run their creator payouts through Commish.</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11</a:t>
            </a:r>
            <a:endParaRPr lang="en-US" sz="1000" dirty="0"/>
          </a:p>
        </p:txBody>
      </p:sp>
      <p:sp>
        <p:nvSpPr>
          <p:cNvPr id="6" name="Shape 4"/>
          <p:cNvSpPr/>
          <p:nvPr/>
        </p:nvSpPr>
        <p:spPr>
          <a:xfrm>
            <a:off x="548640" y="2240280"/>
            <a:ext cx="8046720" cy="0"/>
          </a:xfrm>
          <a:prstGeom prst="line">
            <a:avLst/>
          </a:prstGeom>
          <a:noFill/>
          <a:ln w="25400">
            <a:solidFill>
              <a:srgbClr val="27272A"/>
            </a:solidFill>
            <a:prstDash val="solid"/>
          </a:ln>
        </p:spPr>
      </p:sp>
      <p:sp>
        <p:nvSpPr>
          <p:cNvPr id="7" name="Shape 5"/>
          <p:cNvSpPr/>
          <p:nvPr/>
        </p:nvSpPr>
        <p:spPr>
          <a:xfrm>
            <a:off x="548640" y="2139696"/>
            <a:ext cx="201168" cy="201168"/>
          </a:xfrm>
          <a:prstGeom prst="ellipse">
            <a:avLst/>
          </a:prstGeom>
          <a:solidFill>
            <a:srgbClr val="3DDC97"/>
          </a:solidFill>
          <a:ln w="19050">
            <a:solidFill>
              <a:srgbClr val="3DDC97"/>
            </a:solidFill>
            <a:prstDash val="solid"/>
          </a:ln>
        </p:spPr>
      </p:sp>
      <p:sp>
        <p:nvSpPr>
          <p:cNvPr id="8" name="Text 6"/>
          <p:cNvSpPr/>
          <p:nvPr/>
        </p:nvSpPr>
        <p:spPr>
          <a:xfrm>
            <a:off x="548640" y="2514600"/>
            <a:ext cx="1828800" cy="365760"/>
          </a:xfrm>
          <a:prstGeom prst="rect">
            <a:avLst/>
          </a:prstGeom>
          <a:noFill/>
          <a:ln/>
        </p:spPr>
        <p:txBody>
          <a:bodyPr wrap="square" lIns="0" tIns="0" rIns="0" bIns="0" rtlCol="0" anchor="ctr"/>
          <a:lstStyle/>
          <a:p>
            <a:pPr indent="0" marL="0">
              <a:buNone/>
            </a:pPr>
            <a:r>
              <a:rPr lang="en-US" sz="1700" b="1" dirty="0">
                <a:solidFill>
                  <a:srgbClr val="3DDC97"/>
                </a:solidFill>
                <a:latin typeface="Arial" pitchFamily="34" charset="0"/>
                <a:ea typeface="Arial" pitchFamily="34" charset="-122"/>
                <a:cs typeface="Arial" pitchFamily="34" charset="-120"/>
              </a:rPr>
              <a:t>Sep 2026</a:t>
            </a:r>
            <a:endParaRPr lang="en-US" sz="1700" dirty="0"/>
          </a:p>
        </p:txBody>
      </p:sp>
      <p:sp>
        <p:nvSpPr>
          <p:cNvPr id="9" name="Text 7"/>
          <p:cNvSpPr/>
          <p:nvPr/>
        </p:nvSpPr>
        <p:spPr>
          <a:xfrm>
            <a:off x="548640" y="2907792"/>
            <a:ext cx="1783080" cy="822960"/>
          </a:xfrm>
          <a:prstGeom prst="rect">
            <a:avLst/>
          </a:prstGeom>
          <a:noFill/>
          <a:ln/>
        </p:spPr>
        <p:txBody>
          <a:bodyPr wrap="square" lIns="0" tIns="0" rIns="0" bIns="0" rtlCol="0" anchor="t"/>
          <a:lstStyle/>
          <a:p>
            <a:pPr indent="0" marL="0">
              <a:buNone/>
            </a:pPr>
            <a:r>
              <a:rPr lang="en-US" sz="1100" dirty="0">
                <a:solidFill>
                  <a:srgbClr val="A1A1AA"/>
                </a:solidFill>
                <a:latin typeface="Arial" pitchFamily="34" charset="0"/>
                <a:ea typeface="Arial" pitchFamily="34" charset="-122"/>
                <a:cs typeface="Arial" pitchFamily="34" charset="-120"/>
              </a:rPr>
              <a:t>Program and app built, 26 tests pass</a:t>
            </a:r>
            <a:endParaRPr lang="en-US" sz="1100" dirty="0"/>
          </a:p>
        </p:txBody>
      </p:sp>
      <p:sp>
        <p:nvSpPr>
          <p:cNvPr id="10" name="Shape 8"/>
          <p:cNvSpPr/>
          <p:nvPr/>
        </p:nvSpPr>
        <p:spPr>
          <a:xfrm>
            <a:off x="2606040" y="2139696"/>
            <a:ext cx="201168" cy="201168"/>
          </a:xfrm>
          <a:prstGeom prst="ellipse">
            <a:avLst/>
          </a:prstGeom>
          <a:solidFill>
            <a:srgbClr val="0B0B0E"/>
          </a:solidFill>
          <a:ln w="19050">
            <a:solidFill>
              <a:srgbClr val="A1A1AA"/>
            </a:solidFill>
            <a:prstDash val="solid"/>
          </a:ln>
        </p:spPr>
      </p:sp>
      <p:sp>
        <p:nvSpPr>
          <p:cNvPr id="11" name="Text 9"/>
          <p:cNvSpPr/>
          <p:nvPr/>
        </p:nvSpPr>
        <p:spPr>
          <a:xfrm>
            <a:off x="2606040" y="2514600"/>
            <a:ext cx="1828800" cy="365760"/>
          </a:xfrm>
          <a:prstGeom prst="rect">
            <a:avLst/>
          </a:prstGeom>
          <a:noFill/>
          <a:ln/>
        </p:spPr>
        <p:txBody>
          <a:bodyPr wrap="square" lIns="0" tIns="0" rIns="0" bIns="0" rtlCol="0" anchor="ctr"/>
          <a:lstStyle/>
          <a:p>
            <a:pPr indent="0" marL="0">
              <a:buNone/>
            </a:pPr>
            <a:r>
              <a:rPr lang="en-US" sz="1700" b="1" dirty="0">
                <a:solidFill>
                  <a:srgbClr val="F4F4F5"/>
                </a:solidFill>
                <a:latin typeface="Arial" pitchFamily="34" charset="0"/>
                <a:ea typeface="Arial" pitchFamily="34" charset="-122"/>
                <a:cs typeface="Arial" pitchFamily="34" charset="-120"/>
              </a:rPr>
              <a:t>Oct 2026</a:t>
            </a:r>
            <a:endParaRPr lang="en-US" sz="1700" dirty="0"/>
          </a:p>
        </p:txBody>
      </p:sp>
      <p:sp>
        <p:nvSpPr>
          <p:cNvPr id="12" name="Text 10"/>
          <p:cNvSpPr/>
          <p:nvPr/>
        </p:nvSpPr>
        <p:spPr>
          <a:xfrm>
            <a:off x="2606040" y="2907792"/>
            <a:ext cx="1783080" cy="822960"/>
          </a:xfrm>
          <a:prstGeom prst="rect">
            <a:avLst/>
          </a:prstGeom>
          <a:noFill/>
          <a:ln/>
        </p:spPr>
        <p:txBody>
          <a:bodyPr wrap="square" lIns="0" tIns="0" rIns="0" bIns="0" rtlCol="0" anchor="t"/>
          <a:lstStyle/>
          <a:p>
            <a:pPr indent="0" marL="0">
              <a:buNone/>
            </a:pPr>
            <a:r>
              <a:rPr lang="en-US" sz="1100" dirty="0">
                <a:solidFill>
                  <a:srgbClr val="A1A1AA"/>
                </a:solidFill>
                <a:latin typeface="Arial" pitchFamily="34" charset="0"/>
                <a:ea typeface="Arial" pitchFamily="34" charset="-122"/>
                <a:cs typeface="Arial" pitchFamily="34" charset="-120"/>
              </a:rPr>
              <a:t>Mainnet deploy and the first live campaign</a:t>
            </a:r>
            <a:endParaRPr lang="en-US" sz="1100" dirty="0"/>
          </a:p>
        </p:txBody>
      </p:sp>
      <p:sp>
        <p:nvSpPr>
          <p:cNvPr id="13" name="Shape 11"/>
          <p:cNvSpPr/>
          <p:nvPr/>
        </p:nvSpPr>
        <p:spPr>
          <a:xfrm>
            <a:off x="4663440" y="2139696"/>
            <a:ext cx="201168" cy="201168"/>
          </a:xfrm>
          <a:prstGeom prst="ellipse">
            <a:avLst/>
          </a:prstGeom>
          <a:solidFill>
            <a:srgbClr val="0B0B0E"/>
          </a:solidFill>
          <a:ln w="19050">
            <a:solidFill>
              <a:srgbClr val="A1A1AA"/>
            </a:solidFill>
            <a:prstDash val="solid"/>
          </a:ln>
        </p:spPr>
      </p:sp>
      <p:sp>
        <p:nvSpPr>
          <p:cNvPr id="14" name="Text 12"/>
          <p:cNvSpPr/>
          <p:nvPr/>
        </p:nvSpPr>
        <p:spPr>
          <a:xfrm>
            <a:off x="4663440" y="2514600"/>
            <a:ext cx="1828800" cy="365760"/>
          </a:xfrm>
          <a:prstGeom prst="rect">
            <a:avLst/>
          </a:prstGeom>
          <a:noFill/>
          <a:ln/>
        </p:spPr>
        <p:txBody>
          <a:bodyPr wrap="square" lIns="0" tIns="0" rIns="0" bIns="0" rtlCol="0" anchor="ctr"/>
          <a:lstStyle/>
          <a:p>
            <a:pPr indent="0" marL="0">
              <a:buNone/>
            </a:pPr>
            <a:r>
              <a:rPr lang="en-US" sz="1700" b="1" dirty="0">
                <a:solidFill>
                  <a:srgbClr val="F4F4F5"/>
                </a:solidFill>
                <a:latin typeface="Arial" pitchFamily="34" charset="0"/>
                <a:ea typeface="Arial" pitchFamily="34" charset="-122"/>
                <a:cs typeface="Arial" pitchFamily="34" charset="-120"/>
              </a:rPr>
              <a:t>Q4 2026</a:t>
            </a:r>
            <a:endParaRPr lang="en-US" sz="1700" dirty="0"/>
          </a:p>
        </p:txBody>
      </p:sp>
      <p:sp>
        <p:nvSpPr>
          <p:cNvPr id="15" name="Text 13"/>
          <p:cNvSpPr/>
          <p:nvPr/>
        </p:nvSpPr>
        <p:spPr>
          <a:xfrm>
            <a:off x="4663440" y="2907792"/>
            <a:ext cx="1783080" cy="822960"/>
          </a:xfrm>
          <a:prstGeom prst="rect">
            <a:avLst/>
          </a:prstGeom>
          <a:noFill/>
          <a:ln/>
        </p:spPr>
        <p:txBody>
          <a:bodyPr wrap="square" lIns="0" tIns="0" rIns="0" bIns="0" rtlCol="0" anchor="t"/>
          <a:lstStyle/>
          <a:p>
            <a:pPr indent="0" marL="0">
              <a:buNone/>
            </a:pPr>
            <a:r>
              <a:rPr lang="en-US" sz="1100" dirty="0">
                <a:solidFill>
                  <a:srgbClr val="A1A1AA"/>
                </a:solidFill>
                <a:latin typeface="Arial" pitchFamily="34" charset="0"/>
                <a:ea typeface="Arial" pitchFamily="34" charset="-122"/>
                <a:cs typeface="Arial" pitchFamily="34" charset="-120"/>
              </a:rPr>
              <a:t>Ten pilots with Solana apps that already pay creators</a:t>
            </a:r>
            <a:endParaRPr lang="en-US" sz="1100" dirty="0"/>
          </a:p>
        </p:txBody>
      </p:sp>
      <p:sp>
        <p:nvSpPr>
          <p:cNvPr id="16" name="Shape 14"/>
          <p:cNvSpPr/>
          <p:nvPr/>
        </p:nvSpPr>
        <p:spPr>
          <a:xfrm>
            <a:off x="6720840" y="2139696"/>
            <a:ext cx="201168" cy="201168"/>
          </a:xfrm>
          <a:prstGeom prst="ellipse">
            <a:avLst/>
          </a:prstGeom>
          <a:solidFill>
            <a:srgbClr val="0B0B0E"/>
          </a:solidFill>
          <a:ln w="19050">
            <a:solidFill>
              <a:srgbClr val="A1A1AA"/>
            </a:solidFill>
            <a:prstDash val="solid"/>
          </a:ln>
        </p:spPr>
      </p:sp>
      <p:sp>
        <p:nvSpPr>
          <p:cNvPr id="17" name="Text 15"/>
          <p:cNvSpPr/>
          <p:nvPr/>
        </p:nvSpPr>
        <p:spPr>
          <a:xfrm>
            <a:off x="6720840" y="2514600"/>
            <a:ext cx="1828800" cy="365760"/>
          </a:xfrm>
          <a:prstGeom prst="rect">
            <a:avLst/>
          </a:prstGeom>
          <a:noFill/>
          <a:ln/>
        </p:spPr>
        <p:txBody>
          <a:bodyPr wrap="square" lIns="0" tIns="0" rIns="0" bIns="0" rtlCol="0" anchor="ctr"/>
          <a:lstStyle/>
          <a:p>
            <a:pPr indent="0" marL="0">
              <a:buNone/>
            </a:pPr>
            <a:r>
              <a:rPr lang="en-US" sz="1700" b="1" dirty="0">
                <a:solidFill>
                  <a:srgbClr val="F4F4F5"/>
                </a:solidFill>
                <a:latin typeface="Arial" pitchFamily="34" charset="0"/>
                <a:ea typeface="Arial" pitchFamily="34" charset="-122"/>
                <a:cs typeface="Arial" pitchFamily="34" charset="-120"/>
              </a:rPr>
              <a:t>2027</a:t>
            </a:r>
            <a:endParaRPr lang="en-US" sz="1700" dirty="0"/>
          </a:p>
        </p:txBody>
      </p:sp>
      <p:sp>
        <p:nvSpPr>
          <p:cNvPr id="18" name="Text 16"/>
          <p:cNvSpPr/>
          <p:nvPr/>
        </p:nvSpPr>
        <p:spPr>
          <a:xfrm>
            <a:off x="6720840" y="2907792"/>
            <a:ext cx="1783080" cy="822960"/>
          </a:xfrm>
          <a:prstGeom prst="rect">
            <a:avLst/>
          </a:prstGeom>
          <a:noFill/>
          <a:ln/>
        </p:spPr>
        <p:txBody>
          <a:bodyPr wrap="square" lIns="0" tIns="0" rIns="0" bIns="0" rtlCol="0" anchor="t"/>
          <a:lstStyle/>
          <a:p>
            <a:pPr indent="0" marL="0">
              <a:buNone/>
            </a:pPr>
            <a:r>
              <a:rPr lang="en-US" sz="1100" dirty="0">
                <a:solidFill>
                  <a:srgbClr val="A1A1AA"/>
                </a:solidFill>
                <a:latin typeface="Arial" pitchFamily="34" charset="0"/>
                <a:ea typeface="Arial" pitchFamily="34" charset="-122"/>
                <a:cs typeface="Arial" pitchFamily="34" charset="-120"/>
              </a:rPr>
              <a:t>Audit, then a Shopify integration through order webhooks</a:t>
            </a:r>
            <a:endParaRPr lang="en-US" sz="1100" dirty="0"/>
          </a:p>
        </p:txBody>
      </p:sp>
      <p:sp>
        <p:nvSpPr>
          <p:cNvPr id="19" name="Text 17"/>
          <p:cNvSpPr/>
          <p:nvPr/>
        </p:nvSpPr>
        <p:spPr>
          <a:xfrm>
            <a:off x="548640" y="4069080"/>
            <a:ext cx="4572000" cy="365760"/>
          </a:xfrm>
          <a:prstGeom prst="rect">
            <a:avLst/>
          </a:prstGeom>
          <a:noFill/>
          <a:ln/>
        </p:spPr>
        <p:txBody>
          <a:bodyPr wrap="square" lIns="0" tIns="0" rIns="0" bIns="0" rtlCol="0" anchor="ctr"/>
          <a:lstStyle/>
          <a:p>
            <a:pPr indent="0" marL="0">
              <a:buNone/>
            </a:pPr>
            <a:r>
              <a:rPr lang="en-US" sz="1600" b="1" dirty="0">
                <a:solidFill>
                  <a:srgbClr val="3DDC97"/>
                </a:solidFill>
                <a:latin typeface="Consolas" pitchFamily="34" charset="0"/>
                <a:ea typeface="Consolas" pitchFamily="34" charset="-122"/>
                <a:cs typeface="Consolas" pitchFamily="34" charset="-120"/>
              </a:rPr>
              <a:t>getcommish.vercel.app</a:t>
            </a:r>
            <a:endParaRPr lang="en-US" sz="1600" dirty="0"/>
          </a:p>
        </p:txBody>
      </p:sp>
      <p:sp>
        <p:nvSpPr>
          <p:cNvPr id="20" name="Text 18"/>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team plan, not outside data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Commish: pitch</dc:title>
  <dc:subject>PptxGenJS Presentation</dc:subject>
  <dc:creator>Bryan Kwandou</dc:creator>
  <cp:lastModifiedBy>Bryan Kwandou</cp:lastModifiedBy>
  <cp:revision>1</cp:revision>
  <dcterms:created xsi:type="dcterms:W3CDTF">2026-09-27T08:35:48Z</dcterms:created>
  <dcterms:modified xsi:type="dcterms:W3CDTF">2026-09-27T08:35:48Z</dcterms:modified>
</cp:coreProperties>
</file>